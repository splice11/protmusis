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Host notes: welcome everyone, explain the team draw (slips with names of Lithuanian rivers and lakes at the door).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Priskyrimas į komandas – lapelių traukimas įeinant, ant jų LT upių/ežerų pavadinimai.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https://www.theguardian.com/business/2016/may/04/500-euro-banknote-could-be-scrapped-crime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background: https://www.youtube.com/watch?v=N83Idy9IOmU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https://www.youtube.com/watch?v=N83Idy9IOmU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https://www.youtube.com/watch?v=DBAdOlQPbwg</a:t>
            </a:r>
          </a:p>
          <a:p>
            <a:r>
              <a:t>Pasitarkime, kurią dalį rodysime.</a:t>
            </a:r>
          </a:p>
          <a:p>
            <a:r>
              <a:t>[Svarstyta perkelti prie muzikinio/vaizdų turo.]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Lena Valaitis paminėti kaip faktą, ne kaip klausimą.</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Pačią istoriją ir konkrečius metus papasakoti žodžiu, skaidrėse rašyti lakoniškiau.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Politico: “Denmark no longer wants to be EU bacon factory”.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Alternatyva: rodyti pašto ženklą (kai ką pašalinus) ir klausti, kokia proga jis išleistas.</a:t>
            </a:r>
          </a:p>
          <a:p>
            <a:r>
              <a:t>Stamp: https://manoteises.lt/straipsnis/isleidziamas-pasto-zenklas-moteru-balsavimo-simtmeciui-lietuvoje-pamineti/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https://www.youtube.com/watch?v=YgvHcenDYcU</a:t>
            </a:r>
          </a:p>
          <a:p>
            <a:r>
              <a:t>Uždėti angliškus subtitrus klausimui. Pagalvoti, ar įdėsime frazę „early 2000s“.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Photos: https://www.themarysue.com/the-trimates-three-women-that-made-science-history/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Galimi papildomi klausimai: CBAM apie vinis (paformuluoti), the Schumann show apie institucijas (https://www.youtube.com/watch?v=D0fBh-0Eiy0).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Galima multiple choice, jei norime palengvinti. Galima pasunkinti ir paklausti, kokia buvo problema.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Jei norime su užuominomis – galime nurodyti konkrečią datą: birželio 14 d. Coreper I (arba dar vienas anksčiau buvęs).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 T. Venclovos, A. Štromo buvo žygio spiritus movens; 1985 m. taip pat vyko Baltijos tribunolas. Pavardžių skaidrėje neminėti. Laivo nuotrauka bus atsiųsta vėliau.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Announce the scores and the winning team.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5-Point Star 1"/>
          <p:cNvSpPr/>
          <p:nvPr/>
        </p:nvSpPr>
        <p:spPr>
          <a:xfrm>
            <a:off x="5958687" y="68579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6484467" y="826681"/>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6869364" y="121157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7010247" y="173735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6869364" y="226313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484467" y="2648036"/>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5958687" y="278891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5432907" y="2648036"/>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5048009" y="226313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4907127" y="173735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5048009" y="1211579"/>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432907" y="826681"/>
            <a:ext cx="274320" cy="27432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834640"/>
            <a:ext cx="9445752" cy="1188720"/>
          </a:xfrm>
          <a:prstGeom prst="rect">
            <a:avLst/>
          </a:prstGeom>
          <a:noFill/>
        </p:spPr>
        <p:txBody>
          <a:bodyPr wrap="square" anchor="t">
            <a:spAutoFit/>
          </a:bodyPr>
          <a:lstStyle/>
          <a:p>
            <a:pPr algn="ctr"/>
            <a:r>
              <a:rPr sz="6600" b="1" i="0">
                <a:solidFill>
                  <a:srgbClr val="FFFFFF"/>
                </a:solidFill>
                <a:latin typeface="Georgia"/>
              </a:rPr>
              <a:t>PROTMŪŠIS</a:t>
            </a:r>
          </a:p>
        </p:txBody>
      </p:sp>
      <p:sp>
        <p:nvSpPr>
          <p:cNvPr id="15" name="TextBox 14"/>
          <p:cNvSpPr txBox="1"/>
          <p:nvPr/>
        </p:nvSpPr>
        <p:spPr>
          <a:xfrm>
            <a:off x="1371600" y="3977639"/>
            <a:ext cx="9445752" cy="457200"/>
          </a:xfrm>
          <a:prstGeom prst="rect">
            <a:avLst/>
          </a:prstGeom>
          <a:noFill/>
        </p:spPr>
        <p:txBody>
          <a:bodyPr wrap="square" anchor="t">
            <a:spAutoFit/>
          </a:bodyPr>
          <a:lstStyle/>
          <a:p>
            <a:pPr algn="ctr"/>
            <a:r>
              <a:rPr sz="2200" b="1" i="0">
                <a:solidFill>
                  <a:srgbClr val="FFCC00"/>
                </a:solidFill>
                <a:latin typeface="Calibri"/>
              </a:rPr>
              <a:t>QUIZ NIGHT</a:t>
            </a:r>
          </a:p>
        </p:txBody>
      </p:sp>
      <p:sp>
        <p:nvSpPr>
          <p:cNvPr id="16" name="TextBox 15"/>
          <p:cNvSpPr txBox="1"/>
          <p:nvPr/>
        </p:nvSpPr>
        <p:spPr>
          <a:xfrm>
            <a:off x="1371600" y="4709160"/>
            <a:ext cx="9445752" cy="822960"/>
          </a:xfrm>
          <a:prstGeom prst="rect">
            <a:avLst/>
          </a:prstGeom>
          <a:noFill/>
        </p:spPr>
        <p:txBody>
          <a:bodyPr wrap="square" anchor="t">
            <a:spAutoFit/>
          </a:bodyPr>
          <a:lstStyle/>
          <a:p>
            <a:pPr algn="ctr">
              <a:lnSpc>
                <a:spcPct val="125000"/>
              </a:lnSpc>
            </a:pPr>
            <a:r>
              <a:rPr sz="1700" b="0" i="0">
                <a:solidFill>
                  <a:srgbClr val="C9D6E8"/>
                </a:solidFill>
                <a:latin typeface="Calibri"/>
              </a:rPr>
              <a:t>Permanent Representation of Lithuania to the European Union</a:t>
            </a:r>
          </a:p>
          <a:p>
            <a:pPr algn="ctr">
              <a:lnSpc>
                <a:spcPct val="125000"/>
              </a:lnSpc>
            </a:pPr>
            <a:r>
              <a:rPr sz="1700" b="0" i="0">
                <a:solidFill>
                  <a:srgbClr val="C9D6E8"/>
                </a:solidFill>
                <a:latin typeface="Calibri"/>
              </a:rPr>
              <a:t>Brussels  ·  16 June 2026</a:t>
            </a:r>
          </a:p>
        </p:txBody>
      </p:sp>
      <p:sp>
        <p:nvSpPr>
          <p:cNvPr id="17" name="Rectangle 1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23774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BEFORE WE START</a:t>
            </a:r>
          </a:p>
        </p:txBody>
      </p:sp>
      <p:sp>
        <p:nvSpPr>
          <p:cNvPr id="3" name="TextBox 2"/>
          <p:cNvSpPr txBox="1"/>
          <p:nvPr/>
        </p:nvSpPr>
        <p:spPr>
          <a:xfrm>
            <a:off x="502920" y="1143000"/>
            <a:ext cx="11155680" cy="822960"/>
          </a:xfrm>
          <a:prstGeom prst="rect">
            <a:avLst/>
          </a:prstGeom>
          <a:noFill/>
        </p:spPr>
        <p:txBody>
          <a:bodyPr wrap="square" anchor="t">
            <a:spAutoFit/>
          </a:bodyPr>
          <a:lstStyle/>
          <a:p>
            <a:pPr algn="l"/>
            <a:r>
              <a:rPr sz="3800" b="1" i="0">
                <a:solidFill>
                  <a:srgbClr val="FFFFFF"/>
                </a:solidFill>
                <a:latin typeface="Georgia"/>
              </a:rPr>
              <a:t>How tonight works</a:t>
            </a:r>
          </a:p>
        </p:txBody>
      </p:sp>
      <p:sp>
        <p:nvSpPr>
          <p:cNvPr id="4" name="Rectangle 3"/>
          <p:cNvSpPr/>
          <p:nvPr/>
        </p:nvSpPr>
        <p:spPr>
          <a:xfrm>
            <a:off x="502920" y="2313432"/>
            <a:ext cx="82296" cy="7132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40280"/>
            <a:ext cx="10607040" cy="914400"/>
          </a:xfrm>
          <a:prstGeom prst="rect">
            <a:avLst/>
          </a:prstGeom>
          <a:noFill/>
        </p:spPr>
        <p:txBody>
          <a:bodyPr wrap="square" anchor="t">
            <a:spAutoFit/>
          </a:bodyPr>
          <a:lstStyle/>
          <a:p>
            <a:pPr algn="l">
              <a:lnSpc>
                <a:spcPct val="110000"/>
              </a:lnSpc>
            </a:pPr>
            <a:r>
              <a:rPr sz="1900" b="1" i="0">
                <a:solidFill>
                  <a:srgbClr val="FFCC00"/>
                </a:solidFill>
                <a:latin typeface="Calibri"/>
              </a:rPr>
              <a:t>Teams   </a:t>
            </a:r>
            <a:r>
              <a:rPr sz="1900" b="0" i="0">
                <a:solidFill>
                  <a:srgbClr val="FFFFFF"/>
                </a:solidFill>
                <a:latin typeface="Calibri"/>
              </a:rPr>
              <a:t>Draw a slip at the door — the Lithuanian river or lake on it is your team.</a:t>
            </a:r>
          </a:p>
        </p:txBody>
      </p:sp>
      <p:sp>
        <p:nvSpPr>
          <p:cNvPr id="6" name="Rectangle 5"/>
          <p:cNvSpPr/>
          <p:nvPr/>
        </p:nvSpPr>
        <p:spPr>
          <a:xfrm>
            <a:off x="502920" y="3282696"/>
            <a:ext cx="82296" cy="7132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209544"/>
            <a:ext cx="10607040" cy="914400"/>
          </a:xfrm>
          <a:prstGeom prst="rect">
            <a:avLst/>
          </a:prstGeom>
          <a:noFill/>
        </p:spPr>
        <p:txBody>
          <a:bodyPr wrap="square" anchor="t">
            <a:spAutoFit/>
          </a:bodyPr>
          <a:lstStyle/>
          <a:p>
            <a:pPr algn="l">
              <a:lnSpc>
                <a:spcPct val="110000"/>
              </a:lnSpc>
            </a:pPr>
            <a:r>
              <a:rPr sz="1900" b="1" i="0">
                <a:solidFill>
                  <a:srgbClr val="FFCC00"/>
                </a:solidFill>
                <a:latin typeface="Calibri"/>
              </a:rPr>
              <a:t>Rounds   </a:t>
            </a:r>
            <a:r>
              <a:rPr sz="1900" b="0" i="0">
                <a:solidFill>
                  <a:srgbClr val="FFFFFF"/>
                </a:solidFill>
                <a:latin typeface="Calibri"/>
              </a:rPr>
              <a:t>Three rounds plus a Brussels-bubble bonus round. One point per question unless marked otherwise.</a:t>
            </a:r>
          </a:p>
        </p:txBody>
      </p:sp>
      <p:sp>
        <p:nvSpPr>
          <p:cNvPr id="8" name="Rectangle 7"/>
          <p:cNvSpPr/>
          <p:nvPr/>
        </p:nvSpPr>
        <p:spPr>
          <a:xfrm>
            <a:off x="502920" y="4251960"/>
            <a:ext cx="82296" cy="7132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178808"/>
            <a:ext cx="10607040" cy="914400"/>
          </a:xfrm>
          <a:prstGeom prst="rect">
            <a:avLst/>
          </a:prstGeom>
          <a:noFill/>
        </p:spPr>
        <p:txBody>
          <a:bodyPr wrap="square" anchor="t">
            <a:spAutoFit/>
          </a:bodyPr>
          <a:lstStyle/>
          <a:p>
            <a:pPr algn="l">
              <a:lnSpc>
                <a:spcPct val="110000"/>
              </a:lnSpc>
            </a:pPr>
            <a:r>
              <a:rPr sz="1900" b="1" i="0">
                <a:solidFill>
                  <a:srgbClr val="FFCC00"/>
                </a:solidFill>
                <a:latin typeface="Calibri"/>
              </a:rPr>
              <a:t>Answers   </a:t>
            </a:r>
            <a:r>
              <a:rPr sz="1900" b="0" i="0">
                <a:solidFill>
                  <a:srgbClr val="FFFFFF"/>
                </a:solidFill>
                <a:latin typeface="Calibri"/>
              </a:rPr>
              <a:t>Write your answers down; we reveal and score after each round.</a:t>
            </a:r>
          </a:p>
        </p:txBody>
      </p:sp>
      <p:sp>
        <p:nvSpPr>
          <p:cNvPr id="10" name="Rectangle 9"/>
          <p:cNvSpPr/>
          <p:nvPr/>
        </p:nvSpPr>
        <p:spPr>
          <a:xfrm>
            <a:off x="502920" y="5221224"/>
            <a:ext cx="82296" cy="7132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148072"/>
            <a:ext cx="10607040" cy="914400"/>
          </a:xfrm>
          <a:prstGeom prst="rect">
            <a:avLst/>
          </a:prstGeom>
          <a:noFill/>
        </p:spPr>
        <p:txBody>
          <a:bodyPr wrap="square" anchor="t">
            <a:spAutoFit/>
          </a:bodyPr>
          <a:lstStyle/>
          <a:p>
            <a:pPr algn="l">
              <a:lnSpc>
                <a:spcPct val="110000"/>
              </a:lnSpc>
            </a:pPr>
            <a:r>
              <a:rPr sz="1900" b="1" i="0">
                <a:solidFill>
                  <a:srgbClr val="FFCC00"/>
                </a:solidFill>
                <a:latin typeface="Calibri"/>
              </a:rPr>
              <a:t>Fair play   </a:t>
            </a:r>
            <a:r>
              <a:rPr sz="1900" b="0" i="0">
                <a:solidFill>
                  <a:srgbClr val="FFFFFF"/>
                </a:solidFill>
                <a:latin typeface="Calibri"/>
              </a:rPr>
              <a:t>No phones — diplomatic immunity does not cover googling.</a:t>
            </a:r>
          </a:p>
        </p:txBody>
      </p:sp>
      <p:sp>
        <p:nvSpPr>
          <p:cNvPr id="12" name="Rectangle 11"/>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5-Point Star 1"/>
          <p:cNvSpPr/>
          <p:nvPr/>
        </p:nvSpPr>
        <p:spPr>
          <a:xfrm>
            <a:off x="6004407" y="68580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639302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6677516"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678164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6677516"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39302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6004407" y="224028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561578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5331297"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522716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5331297"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61578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560320"/>
            <a:ext cx="9445752" cy="548640"/>
          </a:xfrm>
          <a:prstGeom prst="rect">
            <a:avLst/>
          </a:prstGeom>
          <a:noFill/>
        </p:spPr>
        <p:txBody>
          <a:bodyPr wrap="square" anchor="t">
            <a:spAutoFit/>
          </a:bodyPr>
          <a:lstStyle/>
          <a:p>
            <a:pPr algn="ctr"/>
            <a:r>
              <a:rPr sz="2000" b="1" i="0">
                <a:solidFill>
                  <a:srgbClr val="FFCC00"/>
                </a:solidFill>
                <a:latin typeface="Calibri"/>
              </a:rPr>
              <a:t>ROUND 1</a:t>
            </a:r>
          </a:p>
        </p:txBody>
      </p:sp>
      <p:sp>
        <p:nvSpPr>
          <p:cNvPr id="15" name="TextBox 14"/>
          <p:cNvSpPr txBox="1"/>
          <p:nvPr/>
        </p:nvSpPr>
        <p:spPr>
          <a:xfrm>
            <a:off x="731520" y="3063240"/>
            <a:ext cx="10725912" cy="1097280"/>
          </a:xfrm>
          <a:prstGeom prst="rect">
            <a:avLst/>
          </a:prstGeom>
          <a:noFill/>
        </p:spPr>
        <p:txBody>
          <a:bodyPr wrap="square" anchor="t">
            <a:spAutoFit/>
          </a:bodyPr>
          <a:lstStyle/>
          <a:p>
            <a:pPr algn="ctr"/>
            <a:r>
              <a:rPr sz="4800" b="1" i="0">
                <a:solidFill>
                  <a:srgbClr val="FFFFFF"/>
                </a:solidFill>
                <a:latin typeface="Georgia"/>
              </a:rPr>
              <a:t>Europe &amp; Fun Facts</a:t>
            </a:r>
          </a:p>
        </p:txBody>
      </p:sp>
      <p:sp>
        <p:nvSpPr>
          <p:cNvPr id="16" name="TextBox 15"/>
          <p:cNvSpPr txBox="1"/>
          <p:nvPr/>
        </p:nvSpPr>
        <p:spPr>
          <a:xfrm>
            <a:off x="1371600" y="4297680"/>
            <a:ext cx="9445752" cy="548640"/>
          </a:xfrm>
          <a:prstGeom prst="rect">
            <a:avLst/>
          </a:prstGeom>
          <a:noFill/>
        </p:spPr>
        <p:txBody>
          <a:bodyPr wrap="square" anchor="t">
            <a:spAutoFit/>
          </a:bodyPr>
          <a:lstStyle/>
          <a:p>
            <a:pPr algn="ctr"/>
            <a:r>
              <a:rPr sz="1700" b="0" i="0">
                <a:solidFill>
                  <a:srgbClr val="C9D6E8"/>
                </a:solidFill>
                <a:latin typeface="Calibri"/>
              </a:rPr>
              <a:t>Multiple choice · 6 questions · 1 point each</a:t>
            </a:r>
          </a:p>
        </p:txBody>
      </p:sp>
      <p:sp>
        <p:nvSpPr>
          <p:cNvPr id="17" name="Rectangle 1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1</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Which European island changes sovereignty every six months?</a:t>
            </a:r>
          </a:p>
        </p:txBody>
      </p:sp>
      <p:sp>
        <p:nvSpPr>
          <p:cNvPr id="5" name="TextBox 4"/>
          <p:cNvSpPr txBox="1"/>
          <p:nvPr/>
        </p:nvSpPr>
        <p:spPr>
          <a:xfrm>
            <a:off x="731520" y="4251960"/>
            <a:ext cx="10881360" cy="457200"/>
          </a:xfrm>
          <a:prstGeom prst="rect">
            <a:avLst/>
          </a:prstGeom>
          <a:noFill/>
        </p:spPr>
        <p:txBody>
          <a:bodyPr wrap="square" anchor="t">
            <a:spAutoFit/>
          </a:bodyPr>
          <a:lstStyle/>
          <a:p>
            <a:pPr algn="l"/>
            <a:r>
              <a:rPr sz="2000" b="1" i="0">
                <a:solidFill>
                  <a:srgbClr val="FFCC00"/>
                </a:solidFill>
                <a:latin typeface="Calibri"/>
              </a:rPr>
              <a:t>A)  </a:t>
            </a:r>
            <a:r>
              <a:rPr sz="2000" b="0" i="0">
                <a:solidFill>
                  <a:srgbClr val="FFFFFF"/>
                </a:solidFill>
                <a:latin typeface="Calibri"/>
              </a:rPr>
              <a:t>Heligoland</a:t>
            </a:r>
          </a:p>
        </p:txBody>
      </p:sp>
      <p:sp>
        <p:nvSpPr>
          <p:cNvPr id="6" name="TextBox 5"/>
          <p:cNvSpPr txBox="1"/>
          <p:nvPr/>
        </p:nvSpPr>
        <p:spPr>
          <a:xfrm>
            <a:off x="731520" y="4727448"/>
            <a:ext cx="10881360" cy="457200"/>
          </a:xfrm>
          <a:prstGeom prst="rect">
            <a:avLst/>
          </a:prstGeom>
          <a:noFill/>
        </p:spPr>
        <p:txBody>
          <a:bodyPr wrap="square" anchor="t">
            <a:spAutoFit/>
          </a:bodyPr>
          <a:lstStyle/>
          <a:p>
            <a:pPr algn="l"/>
            <a:r>
              <a:rPr sz="2000" b="1" i="0">
                <a:solidFill>
                  <a:srgbClr val="FFCC00"/>
                </a:solidFill>
                <a:latin typeface="Calibri"/>
              </a:rPr>
              <a:t>B)  </a:t>
            </a:r>
            <a:r>
              <a:rPr sz="2000" b="0" i="0">
                <a:solidFill>
                  <a:srgbClr val="FFFFFF"/>
                </a:solidFill>
                <a:latin typeface="Calibri"/>
              </a:rPr>
              <a:t>Pheasant Island</a:t>
            </a:r>
          </a:p>
        </p:txBody>
      </p:sp>
      <p:sp>
        <p:nvSpPr>
          <p:cNvPr id="7" name="TextBox 6"/>
          <p:cNvSpPr txBox="1"/>
          <p:nvPr/>
        </p:nvSpPr>
        <p:spPr>
          <a:xfrm>
            <a:off x="731520" y="5202936"/>
            <a:ext cx="10881360" cy="457200"/>
          </a:xfrm>
          <a:prstGeom prst="rect">
            <a:avLst/>
          </a:prstGeom>
          <a:noFill/>
        </p:spPr>
        <p:txBody>
          <a:bodyPr wrap="square" anchor="t">
            <a:spAutoFit/>
          </a:bodyPr>
          <a:lstStyle/>
          <a:p>
            <a:pPr algn="l"/>
            <a:r>
              <a:rPr sz="2000" b="1" i="0">
                <a:solidFill>
                  <a:srgbClr val="FFCC00"/>
                </a:solidFill>
                <a:latin typeface="Calibri"/>
              </a:rPr>
              <a:t>C)  </a:t>
            </a:r>
            <a:r>
              <a:rPr sz="2000" b="0" i="0">
                <a:solidFill>
                  <a:srgbClr val="FFFFFF"/>
                </a:solidFill>
                <a:latin typeface="Calibri"/>
              </a:rPr>
              <a:t>Jersey</a:t>
            </a:r>
          </a:p>
        </p:txBody>
      </p:sp>
      <p:sp>
        <p:nvSpPr>
          <p:cNvPr id="8" name="TextBox 7"/>
          <p:cNvSpPr txBox="1"/>
          <p:nvPr/>
        </p:nvSpPr>
        <p:spPr>
          <a:xfrm>
            <a:off x="731520" y="5678423"/>
            <a:ext cx="10881360" cy="457200"/>
          </a:xfrm>
          <a:prstGeom prst="rect">
            <a:avLst/>
          </a:prstGeom>
          <a:noFill/>
        </p:spPr>
        <p:txBody>
          <a:bodyPr wrap="square" anchor="t">
            <a:spAutoFit/>
          </a:bodyPr>
          <a:lstStyle/>
          <a:p>
            <a:pPr algn="l"/>
            <a:r>
              <a:rPr sz="2000" b="1" i="0">
                <a:solidFill>
                  <a:srgbClr val="FFCC00"/>
                </a:solidFill>
                <a:latin typeface="Calibri"/>
              </a:rPr>
              <a:t>D)  </a:t>
            </a:r>
            <a:r>
              <a:rPr sz="2000" b="0" i="0">
                <a:solidFill>
                  <a:srgbClr val="FFFFFF"/>
                </a:solidFill>
                <a:latin typeface="Calibri"/>
              </a:rPr>
              <a:t>Bornholm</a:t>
            </a:r>
          </a:p>
        </p:txBody>
      </p:sp>
      <p:sp>
        <p:nvSpPr>
          <p:cNvPr id="9" name="Rectangle 8"/>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1</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B)  Pheasant Island</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Under the 1659 Treaty of the Pyrenees, France and Spain share this tiny uninhabited island in the Bidasoa river. Administration alternates between the two countries every six months — the world's oldest condominium.</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Pheasant Island (Île des Faisans / Isla de los Faisanes) — aerial view</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2</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Which EU symbol was publicly unveiled about 40 years ago?</a:t>
            </a:r>
          </a:p>
        </p:txBody>
      </p:sp>
      <p:sp>
        <p:nvSpPr>
          <p:cNvPr id="5" name="TextBox 4"/>
          <p:cNvSpPr txBox="1"/>
          <p:nvPr/>
        </p:nvSpPr>
        <p:spPr>
          <a:xfrm>
            <a:off x="731520" y="4251960"/>
            <a:ext cx="10881360" cy="457200"/>
          </a:xfrm>
          <a:prstGeom prst="rect">
            <a:avLst/>
          </a:prstGeom>
          <a:noFill/>
        </p:spPr>
        <p:txBody>
          <a:bodyPr wrap="square" anchor="t">
            <a:spAutoFit/>
          </a:bodyPr>
          <a:lstStyle/>
          <a:p>
            <a:pPr algn="l"/>
            <a:r>
              <a:rPr sz="2000" b="1" i="0">
                <a:solidFill>
                  <a:srgbClr val="FFCC00"/>
                </a:solidFill>
                <a:latin typeface="Calibri"/>
              </a:rPr>
              <a:t>A)  </a:t>
            </a:r>
            <a:r>
              <a:rPr sz="2000" b="0" i="0">
                <a:solidFill>
                  <a:srgbClr val="FFFFFF"/>
                </a:solidFill>
                <a:latin typeface="Calibri"/>
              </a:rPr>
              <a:t>Euro coins</a:t>
            </a:r>
          </a:p>
        </p:txBody>
      </p:sp>
      <p:sp>
        <p:nvSpPr>
          <p:cNvPr id="6" name="TextBox 5"/>
          <p:cNvSpPr txBox="1"/>
          <p:nvPr/>
        </p:nvSpPr>
        <p:spPr>
          <a:xfrm>
            <a:off x="731520" y="4727448"/>
            <a:ext cx="10881360" cy="457200"/>
          </a:xfrm>
          <a:prstGeom prst="rect">
            <a:avLst/>
          </a:prstGeom>
          <a:noFill/>
        </p:spPr>
        <p:txBody>
          <a:bodyPr wrap="square" anchor="t">
            <a:spAutoFit/>
          </a:bodyPr>
          <a:lstStyle/>
          <a:p>
            <a:pPr algn="l"/>
            <a:r>
              <a:rPr sz="2000" b="1" i="0">
                <a:solidFill>
                  <a:srgbClr val="FFCC00"/>
                </a:solidFill>
                <a:latin typeface="Calibri"/>
              </a:rPr>
              <a:t>B)  </a:t>
            </a:r>
            <a:r>
              <a:rPr sz="2000" b="0" i="0">
                <a:solidFill>
                  <a:srgbClr val="FFFFFF"/>
                </a:solidFill>
                <a:latin typeface="Calibri"/>
              </a:rPr>
              <a:t>European flag</a:t>
            </a:r>
          </a:p>
        </p:txBody>
      </p:sp>
      <p:sp>
        <p:nvSpPr>
          <p:cNvPr id="7" name="TextBox 6"/>
          <p:cNvSpPr txBox="1"/>
          <p:nvPr/>
        </p:nvSpPr>
        <p:spPr>
          <a:xfrm>
            <a:off x="731520" y="5202936"/>
            <a:ext cx="10881360" cy="457200"/>
          </a:xfrm>
          <a:prstGeom prst="rect">
            <a:avLst/>
          </a:prstGeom>
          <a:noFill/>
        </p:spPr>
        <p:txBody>
          <a:bodyPr wrap="square" anchor="t">
            <a:spAutoFit/>
          </a:bodyPr>
          <a:lstStyle/>
          <a:p>
            <a:pPr algn="l"/>
            <a:r>
              <a:rPr sz="2000" b="1" i="0">
                <a:solidFill>
                  <a:srgbClr val="FFCC00"/>
                </a:solidFill>
                <a:latin typeface="Calibri"/>
              </a:rPr>
              <a:t>C)  </a:t>
            </a:r>
            <a:r>
              <a:rPr sz="2000" b="0" i="0">
                <a:solidFill>
                  <a:srgbClr val="FFFFFF"/>
                </a:solidFill>
                <a:latin typeface="Calibri"/>
              </a:rPr>
              <a:t>European anthem</a:t>
            </a:r>
          </a:p>
        </p:txBody>
      </p:sp>
      <p:sp>
        <p:nvSpPr>
          <p:cNvPr id="8" name="TextBox 7"/>
          <p:cNvSpPr txBox="1"/>
          <p:nvPr/>
        </p:nvSpPr>
        <p:spPr>
          <a:xfrm>
            <a:off x="731520" y="5678423"/>
            <a:ext cx="10881360" cy="457200"/>
          </a:xfrm>
          <a:prstGeom prst="rect">
            <a:avLst/>
          </a:prstGeom>
          <a:noFill/>
        </p:spPr>
        <p:txBody>
          <a:bodyPr wrap="square" anchor="t">
            <a:spAutoFit/>
          </a:bodyPr>
          <a:lstStyle/>
          <a:p>
            <a:pPr algn="l"/>
            <a:r>
              <a:rPr sz="2000" b="1" i="0">
                <a:solidFill>
                  <a:srgbClr val="FFCC00"/>
                </a:solidFill>
                <a:latin typeface="Calibri"/>
              </a:rPr>
              <a:t>D)  </a:t>
            </a:r>
            <a:r>
              <a:rPr sz="2000" b="0" i="0">
                <a:solidFill>
                  <a:srgbClr val="FFFFFF"/>
                </a:solidFill>
                <a:latin typeface="Calibri"/>
              </a:rPr>
              <a:t>Schengen passport</a:t>
            </a:r>
          </a:p>
        </p:txBody>
      </p:sp>
      <p:sp>
        <p:nvSpPr>
          <p:cNvPr id="9" name="Rectangle 8"/>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2</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B)  European flag</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In May 1986 the European flag was raised for the first time outside the Berlaymont building — twelve gold stars in a circle, a symbol of unity, unchanged ever since.</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1986 flag-raising ceremony at the Berlaymont</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3</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What major international award did the European Union receive in 2012?</a:t>
            </a:r>
          </a:p>
        </p:txBody>
      </p:sp>
      <p:sp>
        <p:nvSpPr>
          <p:cNvPr id="5" name="TextBox 4"/>
          <p:cNvSpPr txBox="1"/>
          <p:nvPr/>
        </p:nvSpPr>
        <p:spPr>
          <a:xfrm>
            <a:off x="731520" y="4251960"/>
            <a:ext cx="10881360" cy="457200"/>
          </a:xfrm>
          <a:prstGeom prst="rect">
            <a:avLst/>
          </a:prstGeom>
          <a:noFill/>
        </p:spPr>
        <p:txBody>
          <a:bodyPr wrap="square" anchor="t">
            <a:spAutoFit/>
          </a:bodyPr>
          <a:lstStyle/>
          <a:p>
            <a:pPr algn="l"/>
            <a:r>
              <a:rPr sz="2000" b="1" i="0">
                <a:solidFill>
                  <a:srgbClr val="FFCC00"/>
                </a:solidFill>
                <a:latin typeface="Calibri"/>
              </a:rPr>
              <a:t>A)  </a:t>
            </a:r>
            <a:r>
              <a:rPr sz="2000" b="0" i="0">
                <a:solidFill>
                  <a:srgbClr val="FFFFFF"/>
                </a:solidFill>
                <a:latin typeface="Calibri"/>
              </a:rPr>
              <a:t>Sakharov Prize</a:t>
            </a:r>
          </a:p>
        </p:txBody>
      </p:sp>
      <p:sp>
        <p:nvSpPr>
          <p:cNvPr id="6" name="TextBox 5"/>
          <p:cNvSpPr txBox="1"/>
          <p:nvPr/>
        </p:nvSpPr>
        <p:spPr>
          <a:xfrm>
            <a:off x="731520" y="4727448"/>
            <a:ext cx="10881360" cy="457200"/>
          </a:xfrm>
          <a:prstGeom prst="rect">
            <a:avLst/>
          </a:prstGeom>
          <a:noFill/>
        </p:spPr>
        <p:txBody>
          <a:bodyPr wrap="square" anchor="t">
            <a:spAutoFit/>
          </a:bodyPr>
          <a:lstStyle/>
          <a:p>
            <a:pPr algn="l"/>
            <a:r>
              <a:rPr sz="2000" b="1" i="0">
                <a:solidFill>
                  <a:srgbClr val="FFCC00"/>
                </a:solidFill>
                <a:latin typeface="Calibri"/>
              </a:rPr>
              <a:t>B)  </a:t>
            </a:r>
            <a:r>
              <a:rPr sz="2000" b="0" i="0">
                <a:solidFill>
                  <a:srgbClr val="FFFFFF"/>
                </a:solidFill>
                <a:latin typeface="Calibri"/>
              </a:rPr>
              <a:t>Nobel Peace Prize</a:t>
            </a:r>
          </a:p>
        </p:txBody>
      </p:sp>
      <p:sp>
        <p:nvSpPr>
          <p:cNvPr id="7" name="TextBox 6"/>
          <p:cNvSpPr txBox="1"/>
          <p:nvPr/>
        </p:nvSpPr>
        <p:spPr>
          <a:xfrm>
            <a:off x="731520" y="5202936"/>
            <a:ext cx="10881360" cy="457200"/>
          </a:xfrm>
          <a:prstGeom prst="rect">
            <a:avLst/>
          </a:prstGeom>
          <a:noFill/>
        </p:spPr>
        <p:txBody>
          <a:bodyPr wrap="square" anchor="t">
            <a:spAutoFit/>
          </a:bodyPr>
          <a:lstStyle/>
          <a:p>
            <a:pPr algn="l"/>
            <a:r>
              <a:rPr sz="2000" b="1" i="0">
                <a:solidFill>
                  <a:srgbClr val="FFCC00"/>
                </a:solidFill>
                <a:latin typeface="Calibri"/>
              </a:rPr>
              <a:t>C)  </a:t>
            </a:r>
            <a:r>
              <a:rPr sz="2000" b="0" i="0">
                <a:solidFill>
                  <a:srgbClr val="FFFFFF"/>
                </a:solidFill>
                <a:latin typeface="Calibri"/>
              </a:rPr>
              <a:t>Charlemagne Prize</a:t>
            </a:r>
          </a:p>
        </p:txBody>
      </p:sp>
      <p:sp>
        <p:nvSpPr>
          <p:cNvPr id="8" name="TextBox 7"/>
          <p:cNvSpPr txBox="1"/>
          <p:nvPr/>
        </p:nvSpPr>
        <p:spPr>
          <a:xfrm>
            <a:off x="731520" y="5678423"/>
            <a:ext cx="10881360" cy="457200"/>
          </a:xfrm>
          <a:prstGeom prst="rect">
            <a:avLst/>
          </a:prstGeom>
          <a:noFill/>
        </p:spPr>
        <p:txBody>
          <a:bodyPr wrap="square" anchor="t">
            <a:spAutoFit/>
          </a:bodyPr>
          <a:lstStyle/>
          <a:p>
            <a:pPr algn="l"/>
            <a:r>
              <a:rPr sz="2000" b="1" i="0">
                <a:solidFill>
                  <a:srgbClr val="FFCC00"/>
                </a:solidFill>
                <a:latin typeface="Calibri"/>
              </a:rPr>
              <a:t>D)  </a:t>
            </a:r>
            <a:r>
              <a:rPr sz="2000" b="0" i="0">
                <a:solidFill>
                  <a:srgbClr val="FFFFFF"/>
                </a:solidFill>
                <a:latin typeface="Calibri"/>
              </a:rPr>
              <a:t>Right Livelihood Award</a:t>
            </a:r>
          </a:p>
        </p:txBody>
      </p:sp>
      <p:sp>
        <p:nvSpPr>
          <p:cNvPr id="9" name="Rectangle 8"/>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3</a:t>
            </a:r>
          </a:p>
        </p:txBody>
      </p:sp>
      <p:sp>
        <p:nvSpPr>
          <p:cNvPr id="4" name="TextBox 3"/>
          <p:cNvSpPr txBox="1"/>
          <p:nvPr/>
        </p:nvSpPr>
        <p:spPr>
          <a:xfrm>
            <a:off x="502920" y="1554480"/>
            <a:ext cx="11155680" cy="1463040"/>
          </a:xfrm>
          <a:prstGeom prst="rect">
            <a:avLst/>
          </a:prstGeom>
          <a:noFill/>
        </p:spPr>
        <p:txBody>
          <a:bodyPr wrap="square" anchor="t">
            <a:spAutoFit/>
          </a:bodyPr>
          <a:lstStyle/>
          <a:p>
            <a:pPr algn="l">
              <a:lnSpc>
                <a:spcPct val="105000"/>
              </a:lnSpc>
            </a:pPr>
            <a:r>
              <a:rPr sz="4000" b="1" i="0">
                <a:solidFill>
                  <a:srgbClr val="FFCC00"/>
                </a:solidFill>
                <a:latin typeface="Georgia"/>
              </a:rPr>
              <a:t>B)  Nobel Peace Prize</a:t>
            </a:r>
          </a:p>
        </p:txBody>
      </p:sp>
      <p:sp>
        <p:nvSpPr>
          <p:cNvPr id="5" name="TextBox 4"/>
          <p:cNvSpPr txBox="1"/>
          <p:nvPr/>
        </p:nvSpPr>
        <p:spPr>
          <a:xfrm>
            <a:off x="502920" y="3566160"/>
            <a:ext cx="111556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Awarded to the EU in 2012 for over six decades of advancing peace, reconciliation, democracy and human rights in Europe.</a:t>
            </a:r>
          </a:p>
        </p:txBody>
      </p:sp>
      <p:sp>
        <p:nvSpPr>
          <p:cNvPr id="6" name="Rectangle 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4</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Which euro banknote was nicknamed “Bin Laden”?</a:t>
            </a:r>
          </a:p>
        </p:txBody>
      </p:sp>
      <p:sp>
        <p:nvSpPr>
          <p:cNvPr id="5" name="TextBox 4"/>
          <p:cNvSpPr txBox="1"/>
          <p:nvPr/>
        </p:nvSpPr>
        <p:spPr>
          <a:xfrm>
            <a:off x="731520" y="4251960"/>
            <a:ext cx="10881360" cy="457200"/>
          </a:xfrm>
          <a:prstGeom prst="rect">
            <a:avLst/>
          </a:prstGeom>
          <a:noFill/>
        </p:spPr>
        <p:txBody>
          <a:bodyPr wrap="square" anchor="t">
            <a:spAutoFit/>
          </a:bodyPr>
          <a:lstStyle/>
          <a:p>
            <a:pPr algn="l"/>
            <a:r>
              <a:rPr sz="2000" b="1" i="0">
                <a:solidFill>
                  <a:srgbClr val="FFCC00"/>
                </a:solidFill>
                <a:latin typeface="Calibri"/>
              </a:rPr>
              <a:t>A)  </a:t>
            </a:r>
            <a:r>
              <a:rPr sz="2000" b="0" i="0">
                <a:solidFill>
                  <a:srgbClr val="FFFFFF"/>
                </a:solidFill>
                <a:latin typeface="Calibri"/>
              </a:rPr>
              <a:t>€50</a:t>
            </a:r>
          </a:p>
        </p:txBody>
      </p:sp>
      <p:sp>
        <p:nvSpPr>
          <p:cNvPr id="6" name="TextBox 5"/>
          <p:cNvSpPr txBox="1"/>
          <p:nvPr/>
        </p:nvSpPr>
        <p:spPr>
          <a:xfrm>
            <a:off x="731520" y="4727448"/>
            <a:ext cx="10881360" cy="457200"/>
          </a:xfrm>
          <a:prstGeom prst="rect">
            <a:avLst/>
          </a:prstGeom>
          <a:noFill/>
        </p:spPr>
        <p:txBody>
          <a:bodyPr wrap="square" anchor="t">
            <a:spAutoFit/>
          </a:bodyPr>
          <a:lstStyle/>
          <a:p>
            <a:pPr algn="l"/>
            <a:r>
              <a:rPr sz="2000" b="1" i="0">
                <a:solidFill>
                  <a:srgbClr val="FFCC00"/>
                </a:solidFill>
                <a:latin typeface="Calibri"/>
              </a:rPr>
              <a:t>B)  </a:t>
            </a:r>
            <a:r>
              <a:rPr sz="2000" b="0" i="0">
                <a:solidFill>
                  <a:srgbClr val="FFFFFF"/>
                </a:solidFill>
                <a:latin typeface="Calibri"/>
              </a:rPr>
              <a:t>€100</a:t>
            </a:r>
          </a:p>
        </p:txBody>
      </p:sp>
      <p:sp>
        <p:nvSpPr>
          <p:cNvPr id="7" name="TextBox 6"/>
          <p:cNvSpPr txBox="1"/>
          <p:nvPr/>
        </p:nvSpPr>
        <p:spPr>
          <a:xfrm>
            <a:off x="731520" y="5202936"/>
            <a:ext cx="10881360" cy="457200"/>
          </a:xfrm>
          <a:prstGeom prst="rect">
            <a:avLst/>
          </a:prstGeom>
          <a:noFill/>
        </p:spPr>
        <p:txBody>
          <a:bodyPr wrap="square" anchor="t">
            <a:spAutoFit/>
          </a:bodyPr>
          <a:lstStyle/>
          <a:p>
            <a:pPr algn="l"/>
            <a:r>
              <a:rPr sz="2000" b="1" i="0">
                <a:solidFill>
                  <a:srgbClr val="FFCC00"/>
                </a:solidFill>
                <a:latin typeface="Calibri"/>
              </a:rPr>
              <a:t>C)  </a:t>
            </a:r>
            <a:r>
              <a:rPr sz="2000" b="0" i="0">
                <a:solidFill>
                  <a:srgbClr val="FFFFFF"/>
                </a:solidFill>
                <a:latin typeface="Calibri"/>
              </a:rPr>
              <a:t>€200</a:t>
            </a:r>
          </a:p>
        </p:txBody>
      </p:sp>
      <p:sp>
        <p:nvSpPr>
          <p:cNvPr id="8" name="TextBox 7"/>
          <p:cNvSpPr txBox="1"/>
          <p:nvPr/>
        </p:nvSpPr>
        <p:spPr>
          <a:xfrm>
            <a:off x="731520" y="5678423"/>
            <a:ext cx="10881360" cy="457200"/>
          </a:xfrm>
          <a:prstGeom prst="rect">
            <a:avLst/>
          </a:prstGeom>
          <a:noFill/>
        </p:spPr>
        <p:txBody>
          <a:bodyPr wrap="square" anchor="t">
            <a:spAutoFit/>
          </a:bodyPr>
          <a:lstStyle/>
          <a:p>
            <a:pPr algn="l"/>
            <a:r>
              <a:rPr sz="2000" b="1" i="0">
                <a:solidFill>
                  <a:srgbClr val="FFCC00"/>
                </a:solidFill>
                <a:latin typeface="Calibri"/>
              </a:rPr>
              <a:t>D)  </a:t>
            </a:r>
            <a:r>
              <a:rPr sz="2000" b="0" i="0">
                <a:solidFill>
                  <a:srgbClr val="FFFFFF"/>
                </a:solidFill>
                <a:latin typeface="Calibri"/>
              </a:rPr>
              <a:t>€500</a:t>
            </a:r>
          </a:p>
        </p:txBody>
      </p:sp>
      <p:sp>
        <p:nvSpPr>
          <p:cNvPr id="9" name="Rectangle 8"/>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4</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D)  €500</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The ECB stopped issuing the €500 note in 2019 over its popularity with money launderers — and because, like its namesake, everyone knew what it looked like but almost no one had ever seen one.</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The €500 banknote</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5</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In 1984, former Nigerian minister Umaru Dikko was kidnapped in London. His captors planned to smuggle him out of the UK in a diplomatic crate, relying on the Vienna Convention rule that diplomatic bags cannot be opened or detained.
What went wrong?</a:t>
            </a:r>
          </a:p>
        </p:txBody>
      </p:sp>
      <p:sp>
        <p:nvSpPr>
          <p:cNvPr id="5" name="TextBox 4"/>
          <p:cNvSpPr txBox="1"/>
          <p:nvPr/>
        </p:nvSpPr>
        <p:spPr>
          <a:xfrm>
            <a:off x="731520" y="4251960"/>
            <a:ext cx="10881360" cy="457200"/>
          </a:xfrm>
          <a:prstGeom prst="rect">
            <a:avLst/>
          </a:prstGeom>
          <a:noFill/>
        </p:spPr>
        <p:txBody>
          <a:bodyPr wrap="square" anchor="t">
            <a:spAutoFit/>
          </a:bodyPr>
          <a:lstStyle/>
          <a:p>
            <a:pPr algn="l"/>
            <a:r>
              <a:rPr sz="2000" b="1" i="0">
                <a:solidFill>
                  <a:srgbClr val="FFCC00"/>
                </a:solidFill>
                <a:latin typeface="Calibri"/>
              </a:rPr>
              <a:t>A)  </a:t>
            </a:r>
            <a:r>
              <a:rPr sz="2000" b="0" i="0">
                <a:solidFill>
                  <a:srgbClr val="FFFFFF"/>
                </a:solidFill>
                <a:latin typeface="Calibri"/>
              </a:rPr>
              <a:t>The crate was improperly labelled as diplomatic baggage</a:t>
            </a:r>
          </a:p>
        </p:txBody>
      </p:sp>
      <p:sp>
        <p:nvSpPr>
          <p:cNvPr id="6" name="TextBox 5"/>
          <p:cNvSpPr txBox="1"/>
          <p:nvPr/>
        </p:nvSpPr>
        <p:spPr>
          <a:xfrm>
            <a:off x="731520" y="4727448"/>
            <a:ext cx="10881360" cy="457200"/>
          </a:xfrm>
          <a:prstGeom prst="rect">
            <a:avLst/>
          </a:prstGeom>
          <a:noFill/>
        </p:spPr>
        <p:txBody>
          <a:bodyPr wrap="square" anchor="t">
            <a:spAutoFit/>
          </a:bodyPr>
          <a:lstStyle/>
          <a:p>
            <a:pPr algn="l"/>
            <a:r>
              <a:rPr sz="2000" b="1" i="0">
                <a:solidFill>
                  <a:srgbClr val="FFCC00"/>
                </a:solidFill>
                <a:latin typeface="Calibri"/>
              </a:rPr>
              <a:t>B)  </a:t>
            </a:r>
            <a:r>
              <a:rPr sz="2000" b="0" i="0">
                <a:solidFill>
                  <a:srgbClr val="FFFFFF"/>
                </a:solidFill>
                <a:latin typeface="Calibri"/>
              </a:rPr>
              <a:t>Dikko did not fit inside the crate</a:t>
            </a:r>
          </a:p>
        </p:txBody>
      </p:sp>
      <p:sp>
        <p:nvSpPr>
          <p:cNvPr id="7" name="TextBox 6"/>
          <p:cNvSpPr txBox="1"/>
          <p:nvPr/>
        </p:nvSpPr>
        <p:spPr>
          <a:xfrm>
            <a:off x="731520" y="5202936"/>
            <a:ext cx="10881360" cy="457200"/>
          </a:xfrm>
          <a:prstGeom prst="rect">
            <a:avLst/>
          </a:prstGeom>
          <a:noFill/>
        </p:spPr>
        <p:txBody>
          <a:bodyPr wrap="square" anchor="t">
            <a:spAutoFit/>
          </a:bodyPr>
          <a:lstStyle/>
          <a:p>
            <a:pPr algn="l"/>
            <a:r>
              <a:rPr sz="2000" b="1" i="0">
                <a:solidFill>
                  <a:srgbClr val="FFCC00"/>
                </a:solidFill>
                <a:latin typeface="Calibri"/>
              </a:rPr>
              <a:t>C)  </a:t>
            </a:r>
            <a:r>
              <a:rPr sz="2000" b="0" i="0">
                <a:solidFill>
                  <a:srgbClr val="FFFFFF"/>
                </a:solidFill>
                <a:latin typeface="Calibri"/>
              </a:rPr>
              <a:t>The aircraft meant to transport him never arrived</a:t>
            </a:r>
          </a:p>
        </p:txBody>
      </p:sp>
      <p:sp>
        <p:nvSpPr>
          <p:cNvPr id="8" name="Rectangle 7"/>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5</a:t>
            </a:r>
          </a:p>
        </p:txBody>
      </p:sp>
      <p:sp>
        <p:nvSpPr>
          <p:cNvPr id="4" name="TextBox 3"/>
          <p:cNvSpPr txBox="1"/>
          <p:nvPr/>
        </p:nvSpPr>
        <p:spPr>
          <a:xfrm>
            <a:off x="502920" y="1554480"/>
            <a:ext cx="11155680" cy="1463040"/>
          </a:xfrm>
          <a:prstGeom prst="rect">
            <a:avLst/>
          </a:prstGeom>
          <a:noFill/>
        </p:spPr>
        <p:txBody>
          <a:bodyPr wrap="square" anchor="t">
            <a:spAutoFit/>
          </a:bodyPr>
          <a:lstStyle/>
          <a:p>
            <a:pPr algn="l">
              <a:lnSpc>
                <a:spcPct val="105000"/>
              </a:lnSpc>
            </a:pPr>
            <a:r>
              <a:rPr sz="4000" b="1" i="0">
                <a:solidFill>
                  <a:srgbClr val="FFCC00"/>
                </a:solidFill>
                <a:latin typeface="Georgia"/>
              </a:rPr>
              <a:t>A)  The crate was improperly
labelled</a:t>
            </a:r>
          </a:p>
        </p:txBody>
      </p:sp>
      <p:sp>
        <p:nvSpPr>
          <p:cNvPr id="5" name="TextBox 4"/>
          <p:cNvSpPr txBox="1"/>
          <p:nvPr/>
        </p:nvSpPr>
        <p:spPr>
          <a:xfrm>
            <a:off x="502920" y="3566160"/>
            <a:ext cx="111556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With no official diplomatic markings, customs officers at Stansted were entitled to open the crate — and found Dikko unconscious, accompanied by an anaesthetist.</a:t>
            </a:r>
          </a:p>
        </p:txBody>
      </p:sp>
      <p:sp>
        <p:nvSpPr>
          <p:cNvPr id="6" name="Rectangle 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6</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One of the inventors of modern blue jeans was born in present-day Latvia. He developed a way to make work trousers much more durable and partnered with Levi Strauss to patent the idea.
What simple innovation made the trousers famous?</a:t>
            </a:r>
          </a:p>
        </p:txBody>
      </p:sp>
      <p:sp>
        <p:nvSpPr>
          <p:cNvPr id="5" name="TextBox 4"/>
          <p:cNvSpPr txBox="1"/>
          <p:nvPr/>
        </p:nvSpPr>
        <p:spPr>
          <a:xfrm>
            <a:off x="731520" y="4251960"/>
            <a:ext cx="10881360" cy="457200"/>
          </a:xfrm>
          <a:prstGeom prst="rect">
            <a:avLst/>
          </a:prstGeom>
          <a:noFill/>
        </p:spPr>
        <p:txBody>
          <a:bodyPr wrap="square" anchor="t">
            <a:spAutoFit/>
          </a:bodyPr>
          <a:lstStyle/>
          <a:p>
            <a:pPr algn="l"/>
            <a:r>
              <a:rPr sz="2000" b="1" i="0">
                <a:solidFill>
                  <a:srgbClr val="FFCC00"/>
                </a:solidFill>
                <a:latin typeface="Calibri"/>
              </a:rPr>
              <a:t>A)  </a:t>
            </a:r>
            <a:r>
              <a:rPr sz="2000" b="0" i="0">
                <a:solidFill>
                  <a:srgbClr val="FFFFFF"/>
                </a:solidFill>
                <a:latin typeface="Calibri"/>
              </a:rPr>
              <a:t>A zipper</a:t>
            </a:r>
          </a:p>
        </p:txBody>
      </p:sp>
      <p:sp>
        <p:nvSpPr>
          <p:cNvPr id="6" name="TextBox 5"/>
          <p:cNvSpPr txBox="1"/>
          <p:nvPr/>
        </p:nvSpPr>
        <p:spPr>
          <a:xfrm>
            <a:off x="731520" y="4727448"/>
            <a:ext cx="10881360" cy="457200"/>
          </a:xfrm>
          <a:prstGeom prst="rect">
            <a:avLst/>
          </a:prstGeom>
          <a:noFill/>
        </p:spPr>
        <p:txBody>
          <a:bodyPr wrap="square" anchor="t">
            <a:spAutoFit/>
          </a:bodyPr>
          <a:lstStyle/>
          <a:p>
            <a:pPr algn="l"/>
            <a:r>
              <a:rPr sz="2000" b="1" i="0">
                <a:solidFill>
                  <a:srgbClr val="FFCC00"/>
                </a:solidFill>
                <a:latin typeface="Calibri"/>
              </a:rPr>
              <a:t>B)  </a:t>
            </a:r>
            <a:r>
              <a:rPr sz="2000" b="0" i="0">
                <a:solidFill>
                  <a:srgbClr val="FFFFFF"/>
                </a:solidFill>
                <a:latin typeface="Calibri"/>
              </a:rPr>
              <a:t>Metal rivets</a:t>
            </a:r>
          </a:p>
        </p:txBody>
      </p:sp>
      <p:sp>
        <p:nvSpPr>
          <p:cNvPr id="7" name="TextBox 6"/>
          <p:cNvSpPr txBox="1"/>
          <p:nvPr/>
        </p:nvSpPr>
        <p:spPr>
          <a:xfrm>
            <a:off x="731520" y="5202936"/>
            <a:ext cx="10881360" cy="457200"/>
          </a:xfrm>
          <a:prstGeom prst="rect">
            <a:avLst/>
          </a:prstGeom>
          <a:noFill/>
        </p:spPr>
        <p:txBody>
          <a:bodyPr wrap="square" anchor="t">
            <a:spAutoFit/>
          </a:bodyPr>
          <a:lstStyle/>
          <a:p>
            <a:pPr algn="l"/>
            <a:r>
              <a:rPr sz="2000" b="1" i="0">
                <a:solidFill>
                  <a:srgbClr val="FFCC00"/>
                </a:solidFill>
                <a:latin typeface="Calibri"/>
              </a:rPr>
              <a:t>C)  </a:t>
            </a:r>
            <a:r>
              <a:rPr sz="2000" b="0" i="0">
                <a:solidFill>
                  <a:srgbClr val="FFFFFF"/>
                </a:solidFill>
                <a:latin typeface="Calibri"/>
              </a:rPr>
              <a:t>Waterproof fabric</a:t>
            </a:r>
          </a:p>
        </p:txBody>
      </p:sp>
      <p:sp>
        <p:nvSpPr>
          <p:cNvPr id="8" name="TextBox 7"/>
          <p:cNvSpPr txBox="1"/>
          <p:nvPr/>
        </p:nvSpPr>
        <p:spPr>
          <a:xfrm>
            <a:off x="731520" y="5678423"/>
            <a:ext cx="10881360" cy="457200"/>
          </a:xfrm>
          <a:prstGeom prst="rect">
            <a:avLst/>
          </a:prstGeom>
          <a:noFill/>
        </p:spPr>
        <p:txBody>
          <a:bodyPr wrap="square" anchor="t">
            <a:spAutoFit/>
          </a:bodyPr>
          <a:lstStyle/>
          <a:p>
            <a:pPr algn="l"/>
            <a:r>
              <a:rPr sz="2000" b="1" i="0">
                <a:solidFill>
                  <a:srgbClr val="FFCC00"/>
                </a:solidFill>
                <a:latin typeface="Calibri"/>
              </a:rPr>
              <a:t>D)  </a:t>
            </a:r>
            <a:r>
              <a:rPr sz="2000" b="0" i="0">
                <a:solidFill>
                  <a:srgbClr val="FFFFFF"/>
                </a:solidFill>
                <a:latin typeface="Calibri"/>
              </a:rPr>
              <a:t>Belt loops</a:t>
            </a:r>
          </a:p>
        </p:txBody>
      </p:sp>
      <p:sp>
        <p:nvSpPr>
          <p:cNvPr id="9" name="Rectangle 8"/>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1 · EUROPE &amp; FUN FACTS</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6</a:t>
            </a:r>
          </a:p>
        </p:txBody>
      </p:sp>
      <p:sp>
        <p:nvSpPr>
          <p:cNvPr id="4" name="TextBox 3"/>
          <p:cNvSpPr txBox="1"/>
          <p:nvPr/>
        </p:nvSpPr>
        <p:spPr>
          <a:xfrm>
            <a:off x="502920" y="1554480"/>
            <a:ext cx="11155680" cy="1463040"/>
          </a:xfrm>
          <a:prstGeom prst="rect">
            <a:avLst/>
          </a:prstGeom>
          <a:noFill/>
        </p:spPr>
        <p:txBody>
          <a:bodyPr wrap="square" anchor="t">
            <a:spAutoFit/>
          </a:bodyPr>
          <a:lstStyle/>
          <a:p>
            <a:pPr algn="l">
              <a:lnSpc>
                <a:spcPct val="105000"/>
              </a:lnSpc>
            </a:pPr>
            <a:r>
              <a:rPr sz="4000" b="1" i="0">
                <a:solidFill>
                  <a:srgbClr val="FFCC00"/>
                </a:solidFill>
                <a:latin typeface="Georgia"/>
              </a:rPr>
              <a:t>B)  Metal rivets</a:t>
            </a:r>
          </a:p>
        </p:txBody>
      </p:sp>
      <p:sp>
        <p:nvSpPr>
          <p:cNvPr id="5" name="TextBox 4"/>
          <p:cNvSpPr txBox="1"/>
          <p:nvPr/>
        </p:nvSpPr>
        <p:spPr>
          <a:xfrm>
            <a:off x="502920" y="3566160"/>
            <a:ext cx="111556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Jacob Davis, a tailor born in Riga in 1831, reinforced the stress points of work trousers with copper rivets. He and Levi Strauss patented the idea in 1873 — and blue jeans were born.</a:t>
            </a:r>
          </a:p>
        </p:txBody>
      </p:sp>
      <p:sp>
        <p:nvSpPr>
          <p:cNvPr id="6" name="Rectangle 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5-Point Star 1"/>
          <p:cNvSpPr/>
          <p:nvPr/>
        </p:nvSpPr>
        <p:spPr>
          <a:xfrm>
            <a:off x="6004407" y="68580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639302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6677516"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678164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6677516"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39302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6004407" y="224028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561578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5331297"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522716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5331297"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61578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560320"/>
            <a:ext cx="9445752" cy="548640"/>
          </a:xfrm>
          <a:prstGeom prst="rect">
            <a:avLst/>
          </a:prstGeom>
          <a:noFill/>
        </p:spPr>
        <p:txBody>
          <a:bodyPr wrap="square" anchor="t">
            <a:spAutoFit/>
          </a:bodyPr>
          <a:lstStyle/>
          <a:p>
            <a:pPr algn="ctr"/>
            <a:r>
              <a:rPr sz="2000" b="1" i="0">
                <a:solidFill>
                  <a:srgbClr val="FFCC00"/>
                </a:solidFill>
                <a:latin typeface="Calibri"/>
              </a:rPr>
              <a:t>ROUND 2</a:t>
            </a:r>
          </a:p>
        </p:txBody>
      </p:sp>
      <p:sp>
        <p:nvSpPr>
          <p:cNvPr id="15" name="TextBox 14"/>
          <p:cNvSpPr txBox="1"/>
          <p:nvPr/>
        </p:nvSpPr>
        <p:spPr>
          <a:xfrm>
            <a:off x="731520" y="3063240"/>
            <a:ext cx="10725912" cy="1097280"/>
          </a:xfrm>
          <a:prstGeom prst="rect">
            <a:avLst/>
          </a:prstGeom>
          <a:noFill/>
        </p:spPr>
        <p:txBody>
          <a:bodyPr wrap="square" anchor="t">
            <a:spAutoFit/>
          </a:bodyPr>
          <a:lstStyle/>
          <a:p>
            <a:pPr algn="ctr"/>
            <a:r>
              <a:rPr sz="4800" b="1" i="0">
                <a:solidFill>
                  <a:srgbClr val="FFFFFF"/>
                </a:solidFill>
                <a:latin typeface="Georgia"/>
              </a:rPr>
              <a:t>Lithuania</a:t>
            </a:r>
          </a:p>
        </p:txBody>
      </p:sp>
      <p:sp>
        <p:nvSpPr>
          <p:cNvPr id="16" name="TextBox 15"/>
          <p:cNvSpPr txBox="1"/>
          <p:nvPr/>
        </p:nvSpPr>
        <p:spPr>
          <a:xfrm>
            <a:off x="1371600" y="4297680"/>
            <a:ext cx="9445752" cy="548640"/>
          </a:xfrm>
          <a:prstGeom prst="rect">
            <a:avLst/>
          </a:prstGeom>
          <a:noFill/>
        </p:spPr>
        <p:txBody>
          <a:bodyPr wrap="square" anchor="t">
            <a:spAutoFit/>
          </a:bodyPr>
          <a:lstStyle/>
          <a:p>
            <a:pPr algn="ctr"/>
            <a:r>
              <a:rPr sz="1700" b="0" i="0">
                <a:solidFill>
                  <a:srgbClr val="C9D6E8"/>
                </a:solidFill>
                <a:latin typeface="Calibri"/>
              </a:rPr>
              <a:t>8 questions · 1 point each</a:t>
            </a:r>
          </a:p>
        </p:txBody>
      </p:sp>
      <p:sp>
        <p:nvSpPr>
          <p:cNvPr id="17" name="Rectangle 1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1</a:t>
            </a:r>
          </a:p>
        </p:txBody>
      </p:sp>
      <p:sp>
        <p:nvSpPr>
          <p:cNvPr id="4" name="TextBox 3"/>
          <p:cNvSpPr txBox="1"/>
          <p:nvPr/>
        </p:nvSpPr>
        <p:spPr>
          <a:xfrm>
            <a:off x="502920" y="1325880"/>
            <a:ext cx="7040880" cy="2834640"/>
          </a:xfrm>
          <a:prstGeom prst="rect">
            <a:avLst/>
          </a:prstGeom>
          <a:noFill/>
        </p:spPr>
        <p:txBody>
          <a:bodyPr wrap="square" anchor="t">
            <a:spAutoFit/>
          </a:bodyPr>
          <a:lstStyle/>
          <a:p>
            <a:pPr algn="l">
              <a:lnSpc>
                <a:spcPct val="115000"/>
              </a:lnSpc>
            </a:pPr>
            <a:r>
              <a:rPr sz="2400" b="0" i="0">
                <a:solidFill>
                  <a:srgbClr val="FFFFFF"/>
                </a:solidFill>
                <a:latin typeface="Calibri"/>
              </a:rPr>
              <a:t>Every year Lithuania plans to win Eurovision — although officially we never have.
In 2006, however, Lithuania tried a different strategy: entering a song that simply declared victory before the contest was even over.
What was the title of the song?</a:t>
            </a:r>
          </a:p>
        </p:txBody>
      </p:sp>
      <p:sp>
        <p:nvSpPr>
          <p:cNvPr id="5" name="Rounded Rectangle 4"/>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VIDEO TO ADD</a:t>
            </a:r>
          </a:p>
          <a:p>
            <a:pPr algn="ctr"/>
            <a:r>
              <a:rPr sz="1300" b="0">
                <a:solidFill>
                  <a:srgbClr val="C9D6E8"/>
                </a:solidFill>
                <a:latin typeface="Calibri"/>
              </a:rPr>
              <a:t>Song excerpt — LT United, Eurovision 2006 (choose which part to show)</a:t>
            </a:r>
          </a:p>
        </p:txBody>
      </p:sp>
      <p:sp>
        <p:nvSpPr>
          <p:cNvPr id="6" name="Rectangle 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1</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“We Are The Winners”</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Honourable mention: Lithuanian-German singer Lena Valaitis took second place at Eurovision 1981 — proof that we keep looking for that victory by all possible means.</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LT United on the Eurovision 2006 stage / Lena Valaitis, 1981</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2</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Two Lithuanian mountaineers carried a symbolic national object to the summit of Mount Everest and scattered it from the world's highest peak.
What was it?</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2</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Amber</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Vladas Vitkauskas (1995) and Saulius Vilius (2003) both carried Baltic amber to the top of the world and scattered it from the summit.</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The climbers and Baltic amber</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3</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When Lithuanians learn about the interwar period, one statistic is proudly repeated in schools: in 1938, Lithuania ranked second in Europe in butter and bacon production — despite being one of the poorest countries on the continent.
Which country ranked first?</a:t>
            </a:r>
          </a:p>
        </p:txBody>
      </p:sp>
      <p:sp>
        <p:nvSpPr>
          <p:cNvPr id="5" name="TextBox 4"/>
          <p:cNvSpPr txBox="1"/>
          <p:nvPr/>
        </p:nvSpPr>
        <p:spPr>
          <a:xfrm>
            <a:off x="502920" y="5715000"/>
            <a:ext cx="11155680" cy="457200"/>
          </a:xfrm>
          <a:prstGeom prst="rect">
            <a:avLst/>
          </a:prstGeom>
          <a:noFill/>
        </p:spPr>
        <p:txBody>
          <a:bodyPr wrap="square" anchor="t">
            <a:spAutoFit/>
          </a:bodyPr>
          <a:lstStyle/>
          <a:p>
            <a:pPr algn="l"/>
            <a:r>
              <a:rPr sz="1500" b="1" i="0">
                <a:solidFill>
                  <a:srgbClr val="FFCC00"/>
                </a:solidFill>
                <a:latin typeface="Calibri"/>
              </a:rPr>
              <a:t>Hint:  </a:t>
            </a:r>
            <a:r>
              <a:rPr sz="1500" b="0" i="1">
                <a:solidFill>
                  <a:srgbClr val="C9D6E8"/>
                </a:solidFill>
                <a:latin typeface="Calibri"/>
              </a:rPr>
              <a:t>Think of a recent Council Presidency.</a:t>
            </a:r>
          </a:p>
        </p:txBody>
      </p:sp>
      <p:sp>
        <p:nvSpPr>
          <p:cNvPr id="6" name="Rectangle 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3</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Denmark</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A statistic still celebrated in Lithuanian classrooms. Denmark, for its part, no longer wants to be the EU's bacon factory (Politico).</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Interwar statistics — or simply butter and bacon</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4</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Across Europe people celebrate Midsummer with bonfires. In Lithuania, one tradition involves searching for a mythical flower that supposedly blooms only on that night.
Which flower?</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4</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The fern flower</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According to tradition, the fern blooms only on Midsummer night (Joninės) — whoever finds it gains happiness and wisdom. Botanists remain unconvinced.</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Fern flower (paparčio žiedas)</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5</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1918 was a big year for Lithuania — also for democracy.
Lithuanian women gained something that many women in Western Europe had to wait decades for.
What was it?</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5</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Voting rights</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Lithuanian women gained the vote on 2 November 1918, when the provisional constitution enshrined equal suffrage — ahead of much of Western Europe. A commemorative stamp marked the centenary.</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Centenary postage stamp — women's suffrage in Lithuania</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6</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A 16th-century Lithuanian nobleman travelled through Egypt and bought several unusual souvenirs. During a storm at sea, terrified sailors blamed the bad weather on them and threw them overboard.
What were the souvenirs?</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6</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Egyptian mummies</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Mikalojus Kristupas Radvila Našlaitėlis brought two mummies back from his pilgrimage. When storms battered the ship, the crew blamed the cargo — and overboard they went. His travel diary became a European bestseller.</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Radvila Našlaitėlis portrait · book illustration · the mummies</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7</a:t>
            </a:r>
          </a:p>
        </p:txBody>
      </p:sp>
      <p:sp>
        <p:nvSpPr>
          <p:cNvPr id="4" name="TextBox 3"/>
          <p:cNvSpPr txBox="1"/>
          <p:nvPr/>
        </p:nvSpPr>
        <p:spPr>
          <a:xfrm>
            <a:off x="502920" y="1325880"/>
            <a:ext cx="7040880" cy="2834640"/>
          </a:xfrm>
          <a:prstGeom prst="rect">
            <a:avLst/>
          </a:prstGeom>
          <a:noFill/>
        </p:spPr>
        <p:txBody>
          <a:bodyPr wrap="square" anchor="t">
            <a:spAutoFit/>
          </a:bodyPr>
          <a:lstStyle/>
          <a:p>
            <a:pPr algn="l">
              <a:lnSpc>
                <a:spcPct val="115000"/>
              </a:lnSpc>
            </a:pPr>
            <a:r>
              <a:rPr sz="2400" b="0" i="0">
                <a:solidFill>
                  <a:srgbClr val="FFFFFF"/>
                </a:solidFill>
                <a:latin typeface="Calibri"/>
              </a:rPr>
              <a:t>In a humorous Lithuanian promotional video from the early 2000s, traditional dishes such as cepelinai are discussed with the idea that they might one day become popular across Europe as street food.
The video reflects a moment when Lithuania was preparing for a major change. What event was approaching?</a:t>
            </a:r>
          </a:p>
        </p:txBody>
      </p:sp>
      <p:sp>
        <p:nvSpPr>
          <p:cNvPr id="5" name="Rounded Rectangle 4"/>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VIDEO TO ADD</a:t>
            </a:r>
          </a:p>
          <a:p>
            <a:pPr algn="ctr"/>
            <a:r>
              <a:rPr sz="1300" b="0">
                <a:solidFill>
                  <a:srgbClr val="C9D6E8"/>
                </a:solidFill>
                <a:latin typeface="Calibri"/>
              </a:rPr>
              <a:t>Promo video excerpt — add English subtitles</a:t>
            </a:r>
          </a:p>
        </p:txBody>
      </p:sp>
      <p:sp>
        <p:nvSpPr>
          <p:cNvPr id="6" name="Rectangle 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7</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Joining the European Union</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Lithuania joined the EU on 1 May 2004, in the largest enlargement in the Union's history — ten countries at once. The cepelinai street-food revolution is still pending.</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Map of the 2004 enlargement — the EU grows</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8</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Pink is strongly associated with Lithuania because of a traditional summer dish.
Which dish?</a:t>
            </a:r>
          </a:p>
        </p:txBody>
      </p:sp>
      <p:sp>
        <p:nvSpPr>
          <p:cNvPr id="5" name="TextBox 4"/>
          <p:cNvSpPr txBox="1"/>
          <p:nvPr/>
        </p:nvSpPr>
        <p:spPr>
          <a:xfrm>
            <a:off x="731520" y="4251960"/>
            <a:ext cx="10881360" cy="457200"/>
          </a:xfrm>
          <a:prstGeom prst="rect">
            <a:avLst/>
          </a:prstGeom>
          <a:noFill/>
        </p:spPr>
        <p:txBody>
          <a:bodyPr wrap="square" anchor="t">
            <a:spAutoFit/>
          </a:bodyPr>
          <a:lstStyle/>
          <a:p>
            <a:pPr algn="l"/>
            <a:r>
              <a:rPr sz="2000" b="1" i="0">
                <a:solidFill>
                  <a:srgbClr val="FFCC00"/>
                </a:solidFill>
                <a:latin typeface="Calibri"/>
              </a:rPr>
              <a:t>A)  </a:t>
            </a:r>
            <a:r>
              <a:rPr sz="2000" b="0" i="0">
                <a:solidFill>
                  <a:srgbClr val="FFFFFF"/>
                </a:solidFill>
                <a:latin typeface="Calibri"/>
              </a:rPr>
              <a:t>Cepelinai</a:t>
            </a:r>
          </a:p>
        </p:txBody>
      </p:sp>
      <p:sp>
        <p:nvSpPr>
          <p:cNvPr id="6" name="TextBox 5"/>
          <p:cNvSpPr txBox="1"/>
          <p:nvPr/>
        </p:nvSpPr>
        <p:spPr>
          <a:xfrm>
            <a:off x="731520" y="4727448"/>
            <a:ext cx="10881360" cy="457200"/>
          </a:xfrm>
          <a:prstGeom prst="rect">
            <a:avLst/>
          </a:prstGeom>
          <a:noFill/>
        </p:spPr>
        <p:txBody>
          <a:bodyPr wrap="square" anchor="t">
            <a:spAutoFit/>
          </a:bodyPr>
          <a:lstStyle/>
          <a:p>
            <a:pPr algn="l"/>
            <a:r>
              <a:rPr sz="2000" b="1" i="0">
                <a:solidFill>
                  <a:srgbClr val="FFCC00"/>
                </a:solidFill>
                <a:latin typeface="Calibri"/>
              </a:rPr>
              <a:t>B)  </a:t>
            </a:r>
            <a:r>
              <a:rPr sz="2000" b="0" i="0">
                <a:solidFill>
                  <a:srgbClr val="FFFFFF"/>
                </a:solidFill>
                <a:latin typeface="Calibri"/>
              </a:rPr>
              <a:t>Šakotis</a:t>
            </a:r>
          </a:p>
        </p:txBody>
      </p:sp>
      <p:sp>
        <p:nvSpPr>
          <p:cNvPr id="7" name="TextBox 6"/>
          <p:cNvSpPr txBox="1"/>
          <p:nvPr/>
        </p:nvSpPr>
        <p:spPr>
          <a:xfrm>
            <a:off x="731520" y="5202936"/>
            <a:ext cx="10881360" cy="457200"/>
          </a:xfrm>
          <a:prstGeom prst="rect">
            <a:avLst/>
          </a:prstGeom>
          <a:noFill/>
        </p:spPr>
        <p:txBody>
          <a:bodyPr wrap="square" anchor="t">
            <a:spAutoFit/>
          </a:bodyPr>
          <a:lstStyle/>
          <a:p>
            <a:pPr algn="l"/>
            <a:r>
              <a:rPr sz="2000" b="1" i="0">
                <a:solidFill>
                  <a:srgbClr val="FFCC00"/>
                </a:solidFill>
                <a:latin typeface="Calibri"/>
              </a:rPr>
              <a:t>C)  </a:t>
            </a:r>
            <a:r>
              <a:rPr sz="2000" b="0" i="0">
                <a:solidFill>
                  <a:srgbClr val="FFFFFF"/>
                </a:solidFill>
                <a:latin typeface="Calibri"/>
              </a:rPr>
              <a:t>Šaltibarščiai</a:t>
            </a:r>
          </a:p>
        </p:txBody>
      </p:sp>
      <p:sp>
        <p:nvSpPr>
          <p:cNvPr id="8" name="TextBox 7"/>
          <p:cNvSpPr txBox="1"/>
          <p:nvPr/>
        </p:nvSpPr>
        <p:spPr>
          <a:xfrm>
            <a:off x="731520" y="5678423"/>
            <a:ext cx="10881360" cy="457200"/>
          </a:xfrm>
          <a:prstGeom prst="rect">
            <a:avLst/>
          </a:prstGeom>
          <a:noFill/>
        </p:spPr>
        <p:txBody>
          <a:bodyPr wrap="square" anchor="t">
            <a:spAutoFit/>
          </a:bodyPr>
          <a:lstStyle/>
          <a:p>
            <a:pPr algn="l"/>
            <a:r>
              <a:rPr sz="2000" b="1" i="0">
                <a:solidFill>
                  <a:srgbClr val="FFCC00"/>
                </a:solidFill>
                <a:latin typeface="Calibri"/>
              </a:rPr>
              <a:t>D)  </a:t>
            </a:r>
            <a:r>
              <a:rPr sz="2000" b="0" i="0">
                <a:solidFill>
                  <a:srgbClr val="FFFFFF"/>
                </a:solidFill>
                <a:latin typeface="Calibri"/>
              </a:rPr>
              <a:t>Kibinai</a:t>
            </a:r>
          </a:p>
        </p:txBody>
      </p:sp>
      <p:sp>
        <p:nvSpPr>
          <p:cNvPr id="9" name="Rectangle 8"/>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2 · LITHUANIA</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8</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C)  Šaltibarščiai</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The electric-pink cold beet soup is Lithuania's unofficial summer flag — best served with hot potatoes and a sunny terrace.</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Šaltibarščiai in full pink glory</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5-Point Star 1"/>
          <p:cNvSpPr/>
          <p:nvPr/>
        </p:nvSpPr>
        <p:spPr>
          <a:xfrm>
            <a:off x="6004407" y="68580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639302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6677516"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678164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6677516"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39302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6004407" y="224028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561578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5331297"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522716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5331297"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61578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560320"/>
            <a:ext cx="9445752" cy="548640"/>
          </a:xfrm>
          <a:prstGeom prst="rect">
            <a:avLst/>
          </a:prstGeom>
          <a:noFill/>
        </p:spPr>
        <p:txBody>
          <a:bodyPr wrap="square" anchor="t">
            <a:spAutoFit/>
          </a:bodyPr>
          <a:lstStyle/>
          <a:p>
            <a:pPr algn="ctr"/>
            <a:r>
              <a:rPr sz="2000" b="1" i="0">
                <a:solidFill>
                  <a:srgbClr val="FFCC00"/>
                </a:solidFill>
                <a:latin typeface="Calibri"/>
              </a:rPr>
              <a:t>ROUND 3</a:t>
            </a:r>
          </a:p>
        </p:txBody>
      </p:sp>
      <p:sp>
        <p:nvSpPr>
          <p:cNvPr id="15" name="TextBox 14"/>
          <p:cNvSpPr txBox="1"/>
          <p:nvPr/>
        </p:nvSpPr>
        <p:spPr>
          <a:xfrm>
            <a:off x="731520" y="3063240"/>
            <a:ext cx="10725912" cy="1097280"/>
          </a:xfrm>
          <a:prstGeom prst="rect">
            <a:avLst/>
          </a:prstGeom>
          <a:noFill/>
        </p:spPr>
        <p:txBody>
          <a:bodyPr wrap="square" anchor="t">
            <a:spAutoFit/>
          </a:bodyPr>
          <a:lstStyle/>
          <a:p>
            <a:pPr algn="ctr"/>
            <a:r>
              <a:rPr sz="4800" b="1" i="0">
                <a:solidFill>
                  <a:srgbClr val="FFFFFF"/>
                </a:solidFill>
                <a:latin typeface="Georgia"/>
              </a:rPr>
              <a:t>Environment &amp; Nature</a:t>
            </a:r>
          </a:p>
        </p:txBody>
      </p:sp>
      <p:sp>
        <p:nvSpPr>
          <p:cNvPr id="16" name="TextBox 15"/>
          <p:cNvSpPr txBox="1"/>
          <p:nvPr/>
        </p:nvSpPr>
        <p:spPr>
          <a:xfrm>
            <a:off x="1371600" y="4297680"/>
            <a:ext cx="9445752" cy="548640"/>
          </a:xfrm>
          <a:prstGeom prst="rect">
            <a:avLst/>
          </a:prstGeom>
          <a:noFill/>
        </p:spPr>
        <p:txBody>
          <a:bodyPr wrap="square" anchor="t">
            <a:spAutoFit/>
          </a:bodyPr>
          <a:lstStyle/>
          <a:p>
            <a:pPr algn="ctr"/>
            <a:r>
              <a:rPr sz="1700" b="0" i="0">
                <a:solidFill>
                  <a:srgbClr val="C9D6E8"/>
                </a:solidFill>
                <a:latin typeface="Calibri"/>
              </a:rPr>
              <a:t>4 questions · 1 point each</a:t>
            </a:r>
          </a:p>
        </p:txBody>
      </p:sp>
      <p:sp>
        <p:nvSpPr>
          <p:cNvPr id="17" name="Rectangle 1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1</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In 2013 Metallica became the first band to perform on all seven continents. During their Antarctic concert, the audience used 120 of what?</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1</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Headphones</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To comply with Antarctic environmental rules, the band played without amplifiers — the audience of about 120 listened through headphones. The concert was fittingly called “Freeze 'Em All”.</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Metallica's Antarctic concert (photo or video)</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2</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Three famous scientists — Birutė Galdikas, Dian Fossey and Jane Goodall — devoted their careers to studying these animals in the wild. Collectively, they became known as the “Trimates”.
What group of animals are these?</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2</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Great apes</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Goodall (chimpanzees), Fossey (gorillas) and Galdikas (orangutans) were recruited by Louis Leakey — hence also “Leakey's Angels”. Galdikas, of Lithuanian descent, still works in Borneo. “Orangutan” means “person of the forest”.</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The three scientists</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3</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Which EU law unexpectedly entered the headlines after the deaths of four US soldiers, whose vehicle sank in a military training area near the Lithuanian–Belarusian border?</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3</a:t>
            </a:r>
          </a:p>
        </p:txBody>
      </p:sp>
      <p:sp>
        <p:nvSpPr>
          <p:cNvPr id="4" name="TextBox 3"/>
          <p:cNvSpPr txBox="1"/>
          <p:nvPr/>
        </p:nvSpPr>
        <p:spPr>
          <a:xfrm>
            <a:off x="502920" y="1554480"/>
            <a:ext cx="11155680" cy="1463040"/>
          </a:xfrm>
          <a:prstGeom prst="rect">
            <a:avLst/>
          </a:prstGeom>
          <a:noFill/>
        </p:spPr>
        <p:txBody>
          <a:bodyPr wrap="square" anchor="t">
            <a:spAutoFit/>
          </a:bodyPr>
          <a:lstStyle/>
          <a:p>
            <a:pPr algn="l">
              <a:lnSpc>
                <a:spcPct val="105000"/>
              </a:lnSpc>
            </a:pPr>
            <a:r>
              <a:rPr sz="4000" b="1" i="0">
                <a:solidFill>
                  <a:srgbClr val="FFCC00"/>
                </a:solidFill>
                <a:latin typeface="Georgia"/>
              </a:rPr>
              <a:t>The Nature Restoration Law</a:t>
            </a:r>
          </a:p>
        </p:txBody>
      </p:sp>
      <p:sp>
        <p:nvSpPr>
          <p:cNvPr id="5" name="TextBox 4"/>
          <p:cNvSpPr txBox="1"/>
          <p:nvPr/>
        </p:nvSpPr>
        <p:spPr>
          <a:xfrm>
            <a:off x="502920" y="3566160"/>
            <a:ext cx="111556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Commentary on the 2025 tragedy near Pabradė linked the swampy terrain to wetlands restored under EU environmental policy — putting the Nature Restoration Law unexpectedly in the news.</a:t>
            </a:r>
          </a:p>
        </p:txBody>
      </p:sp>
      <p:sp>
        <p:nvSpPr>
          <p:cNvPr id="6" name="Rectangle 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4</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This animal is often called an “ecosystem engineer” because it creates wetlands that benefit countless other species.
What animal is it?</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ROUND 3 · ENVIRONMENT &amp; NATURE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4</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The beaver</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Beaver dams create wetlands that store water, filter pollution and host countless species. Lithuania's beaver population has grown from near extinction to one of the densest in Europe.</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Beaver — plus population statistics if available</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5-Point Star 1"/>
          <p:cNvSpPr/>
          <p:nvPr/>
        </p:nvSpPr>
        <p:spPr>
          <a:xfrm>
            <a:off x="6004407" y="68580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639302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6677516"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678164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6677516"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39302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6004407" y="224028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5615787" y="2136149"/>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5331297" y="185166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5227167" y="146304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5331297" y="107442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615787" y="789930"/>
            <a:ext cx="182880" cy="182880"/>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560320"/>
            <a:ext cx="9445752" cy="548640"/>
          </a:xfrm>
          <a:prstGeom prst="rect">
            <a:avLst/>
          </a:prstGeom>
          <a:noFill/>
        </p:spPr>
        <p:txBody>
          <a:bodyPr wrap="square" anchor="t">
            <a:spAutoFit/>
          </a:bodyPr>
          <a:lstStyle/>
          <a:p>
            <a:pPr algn="ctr"/>
            <a:r>
              <a:rPr sz="2000" b="1" i="0">
                <a:solidFill>
                  <a:srgbClr val="FFCC00"/>
                </a:solidFill>
                <a:latin typeface="Calibri"/>
              </a:rPr>
              <a:t>BONUS ROUND</a:t>
            </a:r>
          </a:p>
        </p:txBody>
      </p:sp>
      <p:sp>
        <p:nvSpPr>
          <p:cNvPr id="15" name="TextBox 14"/>
          <p:cNvSpPr txBox="1"/>
          <p:nvPr/>
        </p:nvSpPr>
        <p:spPr>
          <a:xfrm>
            <a:off x="731520" y="3063240"/>
            <a:ext cx="10725912" cy="1097280"/>
          </a:xfrm>
          <a:prstGeom prst="rect">
            <a:avLst/>
          </a:prstGeom>
          <a:noFill/>
        </p:spPr>
        <p:txBody>
          <a:bodyPr wrap="square" anchor="t">
            <a:spAutoFit/>
          </a:bodyPr>
          <a:lstStyle/>
          <a:p>
            <a:pPr algn="ctr"/>
            <a:r>
              <a:rPr sz="4800" b="1" i="0">
                <a:solidFill>
                  <a:srgbClr val="FFFFFF"/>
                </a:solidFill>
                <a:latin typeface="Georgia"/>
              </a:rPr>
              <a:t>The Brussels Bubble</a:t>
            </a:r>
          </a:p>
        </p:txBody>
      </p:sp>
      <p:sp>
        <p:nvSpPr>
          <p:cNvPr id="16" name="TextBox 15"/>
          <p:cNvSpPr txBox="1"/>
          <p:nvPr/>
        </p:nvSpPr>
        <p:spPr>
          <a:xfrm>
            <a:off x="1371600" y="4297680"/>
            <a:ext cx="9445752" cy="548640"/>
          </a:xfrm>
          <a:prstGeom prst="rect">
            <a:avLst/>
          </a:prstGeom>
          <a:noFill/>
        </p:spPr>
        <p:txBody>
          <a:bodyPr wrap="square" anchor="t">
            <a:spAutoFit/>
          </a:bodyPr>
          <a:lstStyle/>
          <a:p>
            <a:pPr algn="ctr"/>
            <a:r>
              <a:rPr sz="1700" b="0" i="0">
                <a:solidFill>
                  <a:srgbClr val="C9D6E8"/>
                </a:solidFill>
                <a:latin typeface="Calibri"/>
              </a:rPr>
              <a:t>Insider questions · for those who were in the room</a:t>
            </a:r>
          </a:p>
        </p:txBody>
      </p:sp>
      <p:sp>
        <p:nvSpPr>
          <p:cNvPr id="17" name="Rectangle 1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BONUS · THE BRUSSELS BUBBLE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1  ·  1 pt</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During negotiations on which file did Violeta Dragu (Romania) say:
“I have never seen Lithuania being so active during the negotiations”?</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BONUS · THE BRUSSELS BUBBLE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1</a:t>
            </a:r>
          </a:p>
        </p:txBody>
      </p:sp>
      <p:sp>
        <p:nvSpPr>
          <p:cNvPr id="4" name="TextBox 3"/>
          <p:cNvSpPr txBox="1"/>
          <p:nvPr/>
        </p:nvSpPr>
        <p:spPr>
          <a:xfrm>
            <a:off x="502920" y="1554480"/>
            <a:ext cx="11155680" cy="1463040"/>
          </a:xfrm>
          <a:prstGeom prst="rect">
            <a:avLst/>
          </a:prstGeom>
          <a:noFill/>
        </p:spPr>
        <p:txBody>
          <a:bodyPr wrap="square" anchor="t">
            <a:spAutoFit/>
          </a:bodyPr>
          <a:lstStyle/>
          <a:p>
            <a:pPr algn="l">
              <a:lnSpc>
                <a:spcPct val="105000"/>
              </a:lnSpc>
            </a:pPr>
            <a:r>
              <a:rPr sz="4000" b="1" i="0">
                <a:solidFill>
                  <a:srgbClr val="FFCC00"/>
                </a:solidFill>
                <a:latin typeface="Georgia"/>
              </a:rPr>
              <a:t>The Waste Framework
Directive</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BONUS · THE BRUSSELS BUBBLE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2  ·  2 pts</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During a Coreper I meeting, the Council was split on a legislative file, with both sides carefully counting votes.
The Deputy Permanent Representative of Lithuania intervened and said… what?
And which file was being discussed?</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BONUS · THE BRUSSELS BUBBLE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2</a:t>
            </a:r>
          </a:p>
        </p:txBody>
      </p:sp>
      <p:sp>
        <p:nvSpPr>
          <p:cNvPr id="4" name="TextBox 3"/>
          <p:cNvSpPr txBox="1"/>
          <p:nvPr/>
        </p:nvSpPr>
        <p:spPr>
          <a:xfrm>
            <a:off x="502920" y="1554480"/>
            <a:ext cx="11155680" cy="1463040"/>
          </a:xfrm>
          <a:prstGeom prst="rect">
            <a:avLst/>
          </a:prstGeom>
          <a:noFill/>
        </p:spPr>
        <p:txBody>
          <a:bodyPr wrap="square" anchor="t">
            <a:spAutoFit/>
          </a:bodyPr>
          <a:lstStyle/>
          <a:p>
            <a:pPr algn="l">
              <a:lnSpc>
                <a:spcPct val="105000"/>
              </a:lnSpc>
            </a:pPr>
            <a:r>
              <a:rPr sz="4000" b="1" i="0">
                <a:solidFill>
                  <a:srgbClr val="FFCC00"/>
                </a:solidFill>
                <a:latin typeface="Georgia"/>
              </a:rPr>
              <a:t>“Scrutiny reservation” —
on the Nature Restoration Law</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BONUS · THE BRUSSELS BUBBLE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QUESTION 3  ·  1 pt</a:t>
            </a:r>
          </a:p>
        </p:txBody>
      </p:sp>
      <p:sp>
        <p:nvSpPr>
          <p:cNvPr id="4" name="TextBox 3"/>
          <p:cNvSpPr txBox="1"/>
          <p:nvPr/>
        </p:nvSpPr>
        <p:spPr>
          <a:xfrm>
            <a:off x="502920" y="1325880"/>
            <a:ext cx="11155680" cy="2834640"/>
          </a:xfrm>
          <a:prstGeom prst="rect">
            <a:avLst/>
          </a:prstGeom>
          <a:noFill/>
        </p:spPr>
        <p:txBody>
          <a:bodyPr wrap="square" anchor="t">
            <a:spAutoFit/>
          </a:bodyPr>
          <a:lstStyle/>
          <a:p>
            <a:pPr algn="l">
              <a:lnSpc>
                <a:spcPct val="115000"/>
              </a:lnSpc>
            </a:pPr>
            <a:r>
              <a:rPr sz="2400" b="0" i="0">
                <a:solidFill>
                  <a:srgbClr val="FFFFFF"/>
                </a:solidFill>
                <a:latin typeface="Calibri"/>
              </a:rPr>
              <a:t>1985: Lithuanian, Latvian and Estonian dissidents organised the Peace and Freedom Cruise aboard the ship Baltic Star — sailing from Stockholm along the edge of Soviet territorial waters, past Neringa, Königsberg, Palanga and Liepāja, and ending with a widely reported demonstration in Helsinki.
The Soviet Union tried to derail the voyage. What did it do?</a:t>
            </a:r>
          </a:p>
        </p:txBody>
      </p:sp>
      <p:sp>
        <p:nvSpPr>
          <p:cNvPr id="5" name="Rectangle 4"/>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Rounded Rectangle 1"/>
          <p:cNvSpPr/>
          <p:nvPr/>
        </p:nvSpPr>
        <p:spPr>
          <a:xfrm>
            <a:off x="502920" y="457200"/>
            <a:ext cx="4206240" cy="384048"/>
          </a:xfrm>
          <a:prstGeom prst="roundRect">
            <a:avLst>
              <a:gd name="adj" fmla="val 50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300" b="1">
                <a:solidFill>
                  <a:srgbClr val="0B2240"/>
                </a:solidFill>
                <a:latin typeface="Calibri"/>
              </a:rPr>
              <a:t>BONUS · THE BRUSSELS BUBBLE</a:t>
            </a:r>
          </a:p>
        </p:txBody>
      </p:sp>
      <p:sp>
        <p:nvSpPr>
          <p:cNvPr id="3" name="TextBox 2"/>
          <p:cNvSpPr txBox="1"/>
          <p:nvPr/>
        </p:nvSpPr>
        <p:spPr>
          <a:xfrm>
            <a:off x="8229600" y="384048"/>
            <a:ext cx="3456432" cy="548640"/>
          </a:xfrm>
          <a:prstGeom prst="rect">
            <a:avLst/>
          </a:prstGeom>
          <a:noFill/>
        </p:spPr>
        <p:txBody>
          <a:bodyPr wrap="square" anchor="t">
            <a:spAutoFit/>
          </a:bodyPr>
          <a:lstStyle/>
          <a:p>
            <a:pPr algn="r"/>
            <a:r>
              <a:rPr sz="1600" b="1" i="0">
                <a:solidFill>
                  <a:srgbClr val="FFCC00"/>
                </a:solidFill>
                <a:latin typeface="Calibri"/>
              </a:rPr>
              <a:t>ANSWER 3</a:t>
            </a:r>
          </a:p>
        </p:txBody>
      </p:sp>
      <p:sp>
        <p:nvSpPr>
          <p:cNvPr id="4" name="TextBox 3"/>
          <p:cNvSpPr txBox="1"/>
          <p:nvPr/>
        </p:nvSpPr>
        <p:spPr>
          <a:xfrm>
            <a:off x="502920" y="1554480"/>
            <a:ext cx="7040880" cy="1463040"/>
          </a:xfrm>
          <a:prstGeom prst="rect">
            <a:avLst/>
          </a:prstGeom>
          <a:noFill/>
        </p:spPr>
        <p:txBody>
          <a:bodyPr wrap="square" anchor="t">
            <a:spAutoFit/>
          </a:bodyPr>
          <a:lstStyle/>
          <a:p>
            <a:pPr algn="l">
              <a:lnSpc>
                <a:spcPct val="105000"/>
              </a:lnSpc>
            </a:pPr>
            <a:r>
              <a:rPr sz="4000" b="1" i="0">
                <a:solidFill>
                  <a:srgbClr val="FFCC00"/>
                </a:solidFill>
                <a:latin typeface="Georgia"/>
              </a:rPr>
              <a:t>A rumour that a bomb was on board</a:t>
            </a:r>
          </a:p>
        </p:txBody>
      </p:sp>
      <p:sp>
        <p:nvSpPr>
          <p:cNvPr id="5" name="TextBox 4"/>
          <p:cNvSpPr txBox="1"/>
          <p:nvPr/>
        </p:nvSpPr>
        <p:spPr>
          <a:xfrm>
            <a:off x="502920" y="3566160"/>
            <a:ext cx="7040880" cy="2377440"/>
          </a:xfrm>
          <a:prstGeom prst="rect">
            <a:avLst/>
          </a:prstGeom>
          <a:noFill/>
        </p:spPr>
        <p:txBody>
          <a:bodyPr wrap="square" anchor="t">
            <a:spAutoFit/>
          </a:bodyPr>
          <a:lstStyle/>
          <a:p>
            <a:pPr algn="l">
              <a:lnSpc>
                <a:spcPct val="120000"/>
              </a:lnSpc>
              <a:spcAft>
                <a:spcPts val="600"/>
              </a:spcAft>
            </a:pPr>
            <a:r>
              <a:rPr sz="1700" b="1" i="0">
                <a:solidFill>
                  <a:srgbClr val="FFCC00"/>
                </a:solidFill>
                <a:latin typeface="Calibri"/>
              </a:rPr>
              <a:t>Did you know?  </a:t>
            </a:r>
          </a:p>
          <a:p>
            <a:pPr algn="l">
              <a:lnSpc>
                <a:spcPct val="120000"/>
              </a:lnSpc>
              <a:spcAft>
                <a:spcPts val="600"/>
              </a:spcAft>
            </a:pPr>
            <a:r>
              <a:rPr sz="1700" b="0" i="0">
                <a:solidFill>
                  <a:srgbClr val="C9D6E8"/>
                </a:solidFill>
                <a:latin typeface="Calibri"/>
              </a:rPr>
              <a:t>The rumour failed: the cruise went ahead, and the Helsinki demonstration was reported across Scandinavian and wider European press — a loud reminder that the Baltic states had not been forgotten.</a:t>
            </a:r>
          </a:p>
        </p:txBody>
      </p:sp>
      <p:sp>
        <p:nvSpPr>
          <p:cNvPr id="6" name="Rounded Rectangle 5"/>
          <p:cNvSpPr/>
          <p:nvPr/>
        </p:nvSpPr>
        <p:spPr>
          <a:xfrm>
            <a:off x="7863840" y="1325880"/>
            <a:ext cx="3794760" cy="4206240"/>
          </a:xfrm>
          <a:prstGeom prst="roundRect">
            <a:avLst>
              <a:gd name="adj" fmla="val 6000"/>
            </a:avLst>
          </a:prstGeom>
          <a:solidFill>
            <a:srgbClr val="14325C"/>
          </a:solidFill>
          <a:ln w="15875">
            <a:solidFill>
              <a:srgbClr val="FFCC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400" b="1">
                <a:solidFill>
                  <a:srgbClr val="FFCC00"/>
                </a:solidFill>
                <a:latin typeface="Calibri"/>
              </a:rPr>
              <a:t>📷  PHOTO TO ADD</a:t>
            </a:r>
          </a:p>
          <a:p>
            <a:pPr algn="ctr"/>
            <a:r>
              <a:rPr sz="1300" b="0">
                <a:solidFill>
                  <a:srgbClr val="C9D6E8"/>
                </a:solidFill>
                <a:latin typeface="Calibri"/>
              </a:rPr>
              <a:t>The ship Baltic Star (photo to be sent)</a:t>
            </a:r>
          </a:p>
        </p:txBody>
      </p:sp>
      <p:sp>
        <p:nvSpPr>
          <p:cNvPr id="7" name="Rectangle 6"/>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B2240"/>
        </a:solidFill>
        <a:effectLst/>
      </p:bgPr>
    </p:bg>
    <p:spTree>
      <p:nvGrpSpPr>
        <p:cNvPr id="1" name=""/>
        <p:cNvGrpSpPr/>
        <p:nvPr/>
      </p:nvGrpSpPr>
      <p:grpSpPr/>
      <p:sp>
        <p:nvSpPr>
          <p:cNvPr id="2" name="5-Point Star 1"/>
          <p:cNvSpPr/>
          <p:nvPr/>
        </p:nvSpPr>
        <p:spPr>
          <a:xfrm>
            <a:off x="5986119" y="8046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6443319" y="927178"/>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5-Point Star 3"/>
          <p:cNvSpPr/>
          <p:nvPr/>
        </p:nvSpPr>
        <p:spPr>
          <a:xfrm>
            <a:off x="6778012" y="12618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5-Point Star 4"/>
          <p:cNvSpPr/>
          <p:nvPr/>
        </p:nvSpPr>
        <p:spPr>
          <a:xfrm>
            <a:off x="6900519" y="17190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5-Point Star 5"/>
          <p:cNvSpPr/>
          <p:nvPr/>
        </p:nvSpPr>
        <p:spPr>
          <a:xfrm>
            <a:off x="6778012" y="21762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5-Point Star 6"/>
          <p:cNvSpPr/>
          <p:nvPr/>
        </p:nvSpPr>
        <p:spPr>
          <a:xfrm>
            <a:off x="6443319" y="2510965"/>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5-Point Star 7"/>
          <p:cNvSpPr/>
          <p:nvPr/>
        </p:nvSpPr>
        <p:spPr>
          <a:xfrm>
            <a:off x="5986119" y="26334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5-Point Star 8"/>
          <p:cNvSpPr/>
          <p:nvPr/>
        </p:nvSpPr>
        <p:spPr>
          <a:xfrm>
            <a:off x="5528919" y="2510965"/>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5-Point Star 9"/>
          <p:cNvSpPr/>
          <p:nvPr/>
        </p:nvSpPr>
        <p:spPr>
          <a:xfrm>
            <a:off x="5194225" y="21762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5-Point Star 10"/>
          <p:cNvSpPr/>
          <p:nvPr/>
        </p:nvSpPr>
        <p:spPr>
          <a:xfrm>
            <a:off x="5071719" y="17190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5-Point Star 11"/>
          <p:cNvSpPr/>
          <p:nvPr/>
        </p:nvSpPr>
        <p:spPr>
          <a:xfrm>
            <a:off x="5194225" y="1261872"/>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5-Point Star 12"/>
          <p:cNvSpPr/>
          <p:nvPr/>
        </p:nvSpPr>
        <p:spPr>
          <a:xfrm>
            <a:off x="5528919" y="927178"/>
            <a:ext cx="219456" cy="219456"/>
          </a:xfrm>
          <a:prstGeom prst="star5">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2834640"/>
            <a:ext cx="9445752" cy="1097280"/>
          </a:xfrm>
          <a:prstGeom prst="rect">
            <a:avLst/>
          </a:prstGeom>
          <a:noFill/>
        </p:spPr>
        <p:txBody>
          <a:bodyPr wrap="square" anchor="t">
            <a:spAutoFit/>
          </a:bodyPr>
          <a:lstStyle/>
          <a:p>
            <a:pPr algn="ctr"/>
            <a:r>
              <a:rPr sz="6000" b="1" i="0">
                <a:solidFill>
                  <a:srgbClr val="FFFFFF"/>
                </a:solidFill>
                <a:latin typeface="Georgia"/>
              </a:rPr>
              <a:t>AČIŪ!</a:t>
            </a:r>
          </a:p>
        </p:txBody>
      </p:sp>
      <p:sp>
        <p:nvSpPr>
          <p:cNvPr id="15" name="TextBox 14"/>
          <p:cNvSpPr txBox="1"/>
          <p:nvPr/>
        </p:nvSpPr>
        <p:spPr>
          <a:xfrm>
            <a:off x="1371600" y="3977639"/>
            <a:ext cx="9445752" cy="548640"/>
          </a:xfrm>
          <a:prstGeom prst="rect">
            <a:avLst/>
          </a:prstGeom>
          <a:noFill/>
        </p:spPr>
        <p:txBody>
          <a:bodyPr wrap="square" anchor="t">
            <a:spAutoFit/>
          </a:bodyPr>
          <a:lstStyle/>
          <a:p>
            <a:pPr algn="ctr"/>
            <a:r>
              <a:rPr sz="2000" b="0" i="0">
                <a:solidFill>
                  <a:srgbClr val="FFCC00"/>
                </a:solidFill>
                <a:latin typeface="Calibri"/>
              </a:rPr>
              <a:t>Thank you for playing — time to count the points.</a:t>
            </a:r>
          </a:p>
        </p:txBody>
      </p:sp>
      <p:sp>
        <p:nvSpPr>
          <p:cNvPr id="16" name="Rectangle 15"/>
          <p:cNvSpPr/>
          <p:nvPr/>
        </p:nvSpPr>
        <p:spPr>
          <a:xfrm>
            <a:off x="0" y="6793992"/>
            <a:ext cx="4063898" cy="64008"/>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63898" y="6793992"/>
            <a:ext cx="4063898" cy="64008"/>
          </a:xfrm>
          <a:prstGeom prst="rect">
            <a:avLst/>
          </a:prstGeom>
          <a:solidFill>
            <a:srgbClr val="006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7796" y="6793992"/>
            <a:ext cx="4063898" cy="64008"/>
          </a:xfrm>
          <a:prstGeom prst="rect">
            <a:avLst/>
          </a:prstGeom>
          <a:solidFill>
            <a:srgbClr val="C127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6382512"/>
            <a:ext cx="11155680" cy="320040"/>
          </a:xfrm>
          <a:prstGeom prst="rect">
            <a:avLst/>
          </a:prstGeom>
          <a:noFill/>
        </p:spPr>
        <p:txBody>
          <a:bodyPr wrap="square" anchor="t">
            <a:spAutoFit/>
          </a:bodyPr>
          <a:lstStyle/>
          <a:p>
            <a:pPr algn="l"/>
            <a:r>
              <a:rPr sz="1050" b="0" i="0">
                <a:solidFill>
                  <a:srgbClr val="C9D6E8"/>
                </a:solidFill>
                <a:latin typeface="Calibri"/>
              </a:rPr>
              <a:t>PROTMŪŠIS  ·  16 June 2026  ·  Permanent Representation of Lithuania to the EU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