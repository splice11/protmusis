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 notes: welcome everyone and explain the team draw — slips with names of Lithuanian rivers and lakes at the door.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assignment: everyone draws a slip when entering — the slips carry names of Lithuanian rivers and lakes.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https://www.theguardian.com/business/2016/may/04/500-euro-banknote-could-be-scrapped-crime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video: https://www.youtube.com/watch?v=N83Idy9IOmU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https://www.youtube.com/watch?v=N83Idy9IOmU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https://www.youtube.com/watch?v=DBAdOlQPbwg — decide which part of the clip to show. Option: move this question to a music/visual round.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Lena Valaitis as a fun fact, not a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full story and the exact years out loud; keep the slide short.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Politico: “Denmark no longer wants to be EU bacon factory”.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Alternative version: show the centenary stamp (with some details removed) and ask what occasion it marks. Stamp: https://manoteises.lt/straipsnis/isleidziamas-pasto-zenklas-moteru-balsavimo-simtmeciui-lietuvoje-pamineti/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https://www.youtube.com/watch?v=YgvHcenDYcU — add English subtitles to the clip. Consider whether to keep “early 2000s” in the wording.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 idea: https://www.themarysue.com/the-trimates-three-women-that-made-science-history/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Possible extra questions: the CBAM question about nails (still needs wording — a funny one); The Schumann Show about the institutions: https://www.youtube.com/watch?v=D0fBh-0Eiy0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be made multiple choice to make it easier — or harder, by also asking what the problem was.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hint: give the exact date — the 14 June Coreper I (or the earlier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per Tomas Venclova, Aleksandras Štromas was the cruise's spiritus movens; the Baltic Tribunal also took place in 1985. Keep names off the slide. Ship photo to be added later.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the points and announce the winning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6.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29"/>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9BA3B2"/>
                </a:solidFill>
                <a:latin typeface="Calibri"/>
              </a:rPr>
              <a:t>Quiz Night · 16 June 2026 · Permanent Representation of Lithuania to the EU</a:t>
            </a:r>
          </a:p>
        </p:txBody>
      </p:sp>
      <p:sp>
        <p:nvSpPr>
          <p:cNvPr id="3" name="Oval 2"/>
          <p:cNvSpPr/>
          <p:nvPr/>
        </p:nvSpPr>
        <p:spPr>
          <a:xfrm>
            <a:off x="3558387" y="1165860"/>
            <a:ext cx="1325880" cy="132588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rain.png"/>
          <p:cNvPicPr>
            <a:picLocks noChangeAspect="1"/>
          </p:cNvPicPr>
          <p:nvPr/>
        </p:nvPicPr>
        <p:blipFill>
          <a:blip r:embed="rId3"/>
          <a:stretch>
            <a:fillRect/>
          </a:stretch>
        </p:blipFill>
        <p:spPr>
          <a:xfrm>
            <a:off x="3744010" y="1351483"/>
            <a:ext cx="954633" cy="954633"/>
          </a:xfrm>
          <a:prstGeom prst="rect">
            <a:avLst/>
          </a:prstGeom>
        </p:spPr>
      </p:pic>
      <p:sp>
        <p:nvSpPr>
          <p:cNvPr id="5" name="Oval 4"/>
          <p:cNvSpPr/>
          <p:nvPr/>
        </p:nvSpPr>
        <p:spPr>
          <a:xfrm>
            <a:off x="5432907" y="1165860"/>
            <a:ext cx="1325880" cy="132588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ulb.png"/>
          <p:cNvPicPr>
            <a:picLocks noChangeAspect="1"/>
          </p:cNvPicPr>
          <p:nvPr/>
        </p:nvPicPr>
        <p:blipFill>
          <a:blip r:embed="rId4"/>
          <a:stretch>
            <a:fillRect/>
          </a:stretch>
        </p:blipFill>
        <p:spPr>
          <a:xfrm>
            <a:off x="5618530" y="1351483"/>
            <a:ext cx="954633" cy="954633"/>
          </a:xfrm>
          <a:prstGeom prst="rect">
            <a:avLst/>
          </a:prstGeom>
        </p:spPr>
      </p:pic>
      <p:sp>
        <p:nvSpPr>
          <p:cNvPr id="7" name="Oval 6"/>
          <p:cNvSpPr/>
          <p:nvPr/>
        </p:nvSpPr>
        <p:spPr>
          <a:xfrm>
            <a:off x="7307427" y="1165860"/>
            <a:ext cx="1325880" cy="132588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ophy.png"/>
          <p:cNvPicPr>
            <a:picLocks noChangeAspect="1"/>
          </p:cNvPicPr>
          <p:nvPr/>
        </p:nvPicPr>
        <p:blipFill>
          <a:blip r:embed="rId5"/>
          <a:stretch>
            <a:fillRect/>
          </a:stretch>
        </p:blipFill>
        <p:spPr>
          <a:xfrm>
            <a:off x="7493050" y="1351483"/>
            <a:ext cx="954633" cy="954633"/>
          </a:xfrm>
          <a:prstGeom prst="rect">
            <a:avLst/>
          </a:prstGeom>
        </p:spPr>
      </p:pic>
      <p:sp>
        <p:nvSpPr>
          <p:cNvPr id="9" name="TextBox 8"/>
          <p:cNvSpPr txBox="1"/>
          <p:nvPr/>
        </p:nvSpPr>
        <p:spPr>
          <a:xfrm>
            <a:off x="1371600" y="2926080"/>
            <a:ext cx="9445752" cy="1097280"/>
          </a:xfrm>
          <a:prstGeom prst="rect">
            <a:avLst/>
          </a:prstGeom>
          <a:noFill/>
        </p:spPr>
        <p:txBody>
          <a:bodyPr wrap="square" anchor="t" lIns="0" rIns="0" tIns="0" bIns="0">
            <a:spAutoFit/>
          </a:bodyPr>
          <a:lstStyle/>
          <a:p>
            <a:pPr algn="ctr"/>
            <a:r>
              <a:rPr sz="6400" b="1" i="0">
                <a:solidFill>
                  <a:srgbClr val="FFFFFF"/>
                </a:solidFill>
                <a:latin typeface="Calibri"/>
              </a:rPr>
              <a:t>QUIZ NIGHT</a:t>
            </a:r>
          </a:p>
        </p:txBody>
      </p:sp>
      <p:sp>
        <p:nvSpPr>
          <p:cNvPr id="10" name="TextBox 9"/>
          <p:cNvSpPr txBox="1"/>
          <p:nvPr/>
        </p:nvSpPr>
        <p:spPr>
          <a:xfrm>
            <a:off x="1371600" y="4114800"/>
            <a:ext cx="9445752" cy="457200"/>
          </a:xfrm>
          <a:prstGeom prst="rect">
            <a:avLst/>
          </a:prstGeom>
          <a:noFill/>
        </p:spPr>
        <p:txBody>
          <a:bodyPr wrap="square" anchor="t" lIns="0" rIns="0" tIns="0" bIns="0">
            <a:spAutoFit/>
          </a:bodyPr>
          <a:lstStyle/>
          <a:p>
            <a:pPr algn="ctr"/>
            <a:r>
              <a:rPr sz="1800" b="1" i="0">
                <a:solidFill>
                  <a:srgbClr val="E8A33D"/>
                </a:solidFill>
                <a:latin typeface="Calibri"/>
              </a:rPr>
              <a:t>Permanent Representation of Lithuania to the European Union</a:t>
            </a:r>
          </a:p>
        </p:txBody>
      </p:sp>
      <p:sp>
        <p:nvSpPr>
          <p:cNvPr id="11" name="TextBox 10"/>
          <p:cNvSpPr txBox="1"/>
          <p:nvPr/>
        </p:nvSpPr>
        <p:spPr>
          <a:xfrm>
            <a:off x="1371600" y="4663440"/>
            <a:ext cx="9445752" cy="365760"/>
          </a:xfrm>
          <a:prstGeom prst="rect">
            <a:avLst/>
          </a:prstGeom>
          <a:noFill/>
        </p:spPr>
        <p:txBody>
          <a:bodyPr wrap="square" anchor="t" lIns="0" rIns="0" tIns="0" bIns="0">
            <a:spAutoFit/>
          </a:bodyPr>
          <a:lstStyle/>
          <a:p>
            <a:pPr algn="ctr"/>
            <a:r>
              <a:rPr sz="1500" b="0" i="0">
                <a:solidFill>
                  <a:srgbClr val="9BA3B2"/>
                </a:solidFill>
                <a:latin typeface="Calibri"/>
              </a:rPr>
              <a:t>Brussels · 16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48640"/>
            <a:ext cx="10972800" cy="731520"/>
          </a:xfrm>
          <a:prstGeom prst="rect">
            <a:avLst/>
          </a:prstGeom>
          <a:noFill/>
        </p:spPr>
        <p:txBody>
          <a:bodyPr wrap="square" anchor="t" lIns="0" rIns="0" tIns="0" bIns="0">
            <a:spAutoFit/>
          </a:bodyPr>
          <a:lstStyle/>
          <a:p>
            <a:pPr algn="l"/>
            <a:r>
              <a:rPr sz="4000" b="1" i="0">
                <a:solidFill>
                  <a:srgbClr val="1B1F29"/>
                </a:solidFill>
                <a:latin typeface="Calibri"/>
              </a:rPr>
              <a:t>How tonight works</a:t>
            </a:r>
          </a:p>
        </p:txBody>
      </p:sp>
      <p:sp>
        <p:nvSpPr>
          <p:cNvPr id="4" name="Rounded Rectangle 3"/>
          <p:cNvSpPr/>
          <p:nvPr/>
        </p:nvSpPr>
        <p:spPr>
          <a:xfrm>
            <a:off x="640080" y="1737360"/>
            <a:ext cx="5212080" cy="1874519"/>
          </a:xfrm>
          <a:prstGeom prst="roundRect">
            <a:avLst>
              <a:gd name="adj" fmla="val 9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82980" y="2144268"/>
            <a:ext cx="1051560" cy="105156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ams.png"/>
          <p:cNvPicPr>
            <a:picLocks noChangeAspect="1"/>
          </p:cNvPicPr>
          <p:nvPr/>
        </p:nvPicPr>
        <p:blipFill>
          <a:blip r:embed="rId3"/>
          <a:stretch>
            <a:fillRect/>
          </a:stretch>
        </p:blipFill>
        <p:spPr>
          <a:xfrm>
            <a:off x="1130198" y="2291486"/>
            <a:ext cx="757123" cy="757123"/>
          </a:xfrm>
          <a:prstGeom prst="rect">
            <a:avLst/>
          </a:prstGeom>
        </p:spPr>
      </p:pic>
      <p:sp>
        <p:nvSpPr>
          <p:cNvPr id="7" name="TextBox 6"/>
          <p:cNvSpPr txBox="1"/>
          <p:nvPr/>
        </p:nvSpPr>
        <p:spPr>
          <a:xfrm>
            <a:off x="2286000" y="2103120"/>
            <a:ext cx="3383280" cy="365760"/>
          </a:xfrm>
          <a:prstGeom prst="rect">
            <a:avLst/>
          </a:prstGeom>
          <a:noFill/>
        </p:spPr>
        <p:txBody>
          <a:bodyPr wrap="square" anchor="t" lIns="0" rIns="0" tIns="0" bIns="0">
            <a:spAutoFit/>
          </a:bodyPr>
          <a:lstStyle/>
          <a:p>
            <a:pPr algn="l"/>
            <a:r>
              <a:rPr sz="1900" b="1" i="0">
                <a:solidFill>
                  <a:srgbClr val="1B1F29"/>
                </a:solidFill>
                <a:latin typeface="Calibri"/>
              </a:rPr>
              <a:t>Teams</a:t>
            </a:r>
          </a:p>
        </p:txBody>
      </p:sp>
      <p:sp>
        <p:nvSpPr>
          <p:cNvPr id="8" name="TextBox 7"/>
          <p:cNvSpPr txBox="1"/>
          <p:nvPr/>
        </p:nvSpPr>
        <p:spPr>
          <a:xfrm>
            <a:off x="2286000" y="2514600"/>
            <a:ext cx="3383280" cy="960120"/>
          </a:xfrm>
          <a:prstGeom prst="rect">
            <a:avLst/>
          </a:prstGeom>
          <a:noFill/>
        </p:spPr>
        <p:txBody>
          <a:bodyPr wrap="square" anchor="t" lIns="0" rIns="0" tIns="0" bIns="0">
            <a:spAutoFit/>
          </a:bodyPr>
          <a:lstStyle/>
          <a:p>
            <a:pPr algn="l">
              <a:lnSpc>
                <a:spcPct val="110000"/>
              </a:lnSpc>
            </a:pPr>
            <a:r>
              <a:rPr sz="1450" b="0" i="0">
                <a:solidFill>
                  <a:srgbClr val="6E7582"/>
                </a:solidFill>
                <a:latin typeface="Calibri"/>
              </a:rPr>
              <a:t>Draw a slip at the door — the river or lake on it is your team.</a:t>
            </a:r>
          </a:p>
        </p:txBody>
      </p:sp>
      <p:sp>
        <p:nvSpPr>
          <p:cNvPr id="9" name="Rounded Rectangle 8"/>
          <p:cNvSpPr/>
          <p:nvPr/>
        </p:nvSpPr>
        <p:spPr>
          <a:xfrm>
            <a:off x="6355080" y="1737360"/>
            <a:ext cx="5212080" cy="1874519"/>
          </a:xfrm>
          <a:prstGeom prst="roundRect">
            <a:avLst>
              <a:gd name="adj" fmla="val 9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697980" y="2144268"/>
            <a:ext cx="1051560" cy="105156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arget.png"/>
          <p:cNvPicPr>
            <a:picLocks noChangeAspect="1"/>
          </p:cNvPicPr>
          <p:nvPr/>
        </p:nvPicPr>
        <p:blipFill>
          <a:blip r:embed="rId4"/>
          <a:stretch>
            <a:fillRect/>
          </a:stretch>
        </p:blipFill>
        <p:spPr>
          <a:xfrm>
            <a:off x="6845198" y="2291486"/>
            <a:ext cx="757123" cy="757123"/>
          </a:xfrm>
          <a:prstGeom prst="rect">
            <a:avLst/>
          </a:prstGeom>
        </p:spPr>
      </p:pic>
      <p:sp>
        <p:nvSpPr>
          <p:cNvPr id="12" name="TextBox 11"/>
          <p:cNvSpPr txBox="1"/>
          <p:nvPr/>
        </p:nvSpPr>
        <p:spPr>
          <a:xfrm>
            <a:off x="8001000" y="2103120"/>
            <a:ext cx="3383280" cy="365760"/>
          </a:xfrm>
          <a:prstGeom prst="rect">
            <a:avLst/>
          </a:prstGeom>
          <a:noFill/>
        </p:spPr>
        <p:txBody>
          <a:bodyPr wrap="square" anchor="t" lIns="0" rIns="0" tIns="0" bIns="0">
            <a:spAutoFit/>
          </a:bodyPr>
          <a:lstStyle/>
          <a:p>
            <a:pPr algn="l"/>
            <a:r>
              <a:rPr sz="1900" b="1" i="0">
                <a:solidFill>
                  <a:srgbClr val="1B1F29"/>
                </a:solidFill>
                <a:latin typeface="Calibri"/>
              </a:rPr>
              <a:t>Rounds</a:t>
            </a:r>
          </a:p>
        </p:txBody>
      </p:sp>
      <p:sp>
        <p:nvSpPr>
          <p:cNvPr id="13" name="TextBox 12"/>
          <p:cNvSpPr txBox="1"/>
          <p:nvPr/>
        </p:nvSpPr>
        <p:spPr>
          <a:xfrm>
            <a:off x="8001000" y="2514600"/>
            <a:ext cx="3383280" cy="960120"/>
          </a:xfrm>
          <a:prstGeom prst="rect">
            <a:avLst/>
          </a:prstGeom>
          <a:noFill/>
        </p:spPr>
        <p:txBody>
          <a:bodyPr wrap="square" anchor="t" lIns="0" rIns="0" tIns="0" bIns="0">
            <a:spAutoFit/>
          </a:bodyPr>
          <a:lstStyle/>
          <a:p>
            <a:pPr algn="l">
              <a:lnSpc>
                <a:spcPct val="110000"/>
              </a:lnSpc>
            </a:pPr>
            <a:r>
              <a:rPr sz="1450" b="0" i="0">
                <a:solidFill>
                  <a:srgbClr val="6E7582"/>
                </a:solidFill>
                <a:latin typeface="Calibri"/>
              </a:rPr>
              <a:t>Three rounds plus a bonus round. One point per question unless marked otherwise.</a:t>
            </a:r>
          </a:p>
        </p:txBody>
      </p:sp>
      <p:sp>
        <p:nvSpPr>
          <p:cNvPr id="14" name="Rounded Rectangle 13"/>
          <p:cNvSpPr/>
          <p:nvPr/>
        </p:nvSpPr>
        <p:spPr>
          <a:xfrm>
            <a:off x="640080" y="3977639"/>
            <a:ext cx="5212080" cy="1874519"/>
          </a:xfrm>
          <a:prstGeom prst="roundRect">
            <a:avLst>
              <a:gd name="adj" fmla="val 9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82980" y="4384547"/>
            <a:ext cx="1051560" cy="105156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emo.png"/>
          <p:cNvPicPr>
            <a:picLocks noChangeAspect="1"/>
          </p:cNvPicPr>
          <p:nvPr/>
        </p:nvPicPr>
        <p:blipFill>
          <a:blip r:embed="rId5"/>
          <a:stretch>
            <a:fillRect/>
          </a:stretch>
        </p:blipFill>
        <p:spPr>
          <a:xfrm>
            <a:off x="1130198" y="4531765"/>
            <a:ext cx="757123" cy="757123"/>
          </a:xfrm>
          <a:prstGeom prst="rect">
            <a:avLst/>
          </a:prstGeom>
        </p:spPr>
      </p:pic>
      <p:sp>
        <p:nvSpPr>
          <p:cNvPr id="17" name="TextBox 16"/>
          <p:cNvSpPr txBox="1"/>
          <p:nvPr/>
        </p:nvSpPr>
        <p:spPr>
          <a:xfrm>
            <a:off x="2286000" y="4343400"/>
            <a:ext cx="3383280" cy="365760"/>
          </a:xfrm>
          <a:prstGeom prst="rect">
            <a:avLst/>
          </a:prstGeom>
          <a:noFill/>
        </p:spPr>
        <p:txBody>
          <a:bodyPr wrap="square" anchor="t" lIns="0" rIns="0" tIns="0" bIns="0">
            <a:spAutoFit/>
          </a:bodyPr>
          <a:lstStyle/>
          <a:p>
            <a:pPr algn="l"/>
            <a:r>
              <a:rPr sz="1900" b="1" i="0">
                <a:solidFill>
                  <a:srgbClr val="1B1F29"/>
                </a:solidFill>
                <a:latin typeface="Calibri"/>
              </a:rPr>
              <a:t>Answers</a:t>
            </a:r>
          </a:p>
        </p:txBody>
      </p:sp>
      <p:sp>
        <p:nvSpPr>
          <p:cNvPr id="18" name="TextBox 17"/>
          <p:cNvSpPr txBox="1"/>
          <p:nvPr/>
        </p:nvSpPr>
        <p:spPr>
          <a:xfrm>
            <a:off x="2286000" y="4754879"/>
            <a:ext cx="3383280" cy="960120"/>
          </a:xfrm>
          <a:prstGeom prst="rect">
            <a:avLst/>
          </a:prstGeom>
          <a:noFill/>
        </p:spPr>
        <p:txBody>
          <a:bodyPr wrap="square" anchor="t" lIns="0" rIns="0" tIns="0" bIns="0">
            <a:spAutoFit/>
          </a:bodyPr>
          <a:lstStyle/>
          <a:p>
            <a:pPr algn="l">
              <a:lnSpc>
                <a:spcPct val="110000"/>
              </a:lnSpc>
            </a:pPr>
            <a:r>
              <a:rPr sz="1450" b="0" i="0">
                <a:solidFill>
                  <a:srgbClr val="6E7582"/>
                </a:solidFill>
                <a:latin typeface="Calibri"/>
              </a:rPr>
              <a:t>Write your answers down — we reveal and score after each round.</a:t>
            </a:r>
          </a:p>
        </p:txBody>
      </p:sp>
      <p:sp>
        <p:nvSpPr>
          <p:cNvPr id="19" name="Rounded Rectangle 18"/>
          <p:cNvSpPr/>
          <p:nvPr/>
        </p:nvSpPr>
        <p:spPr>
          <a:xfrm>
            <a:off x="6355080" y="3977639"/>
            <a:ext cx="5212080" cy="1874519"/>
          </a:xfrm>
          <a:prstGeom prst="roundRect">
            <a:avLst>
              <a:gd name="adj" fmla="val 9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697980" y="4384547"/>
            <a:ext cx="1051560" cy="105156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no_phone.png"/>
          <p:cNvPicPr>
            <a:picLocks noChangeAspect="1"/>
          </p:cNvPicPr>
          <p:nvPr/>
        </p:nvPicPr>
        <p:blipFill>
          <a:blip r:embed="rId6"/>
          <a:stretch>
            <a:fillRect/>
          </a:stretch>
        </p:blipFill>
        <p:spPr>
          <a:xfrm>
            <a:off x="6845198" y="4531765"/>
            <a:ext cx="757123" cy="757123"/>
          </a:xfrm>
          <a:prstGeom prst="rect">
            <a:avLst/>
          </a:prstGeom>
        </p:spPr>
      </p:pic>
      <p:sp>
        <p:nvSpPr>
          <p:cNvPr id="22" name="TextBox 21"/>
          <p:cNvSpPr txBox="1"/>
          <p:nvPr/>
        </p:nvSpPr>
        <p:spPr>
          <a:xfrm>
            <a:off x="8001000" y="4343400"/>
            <a:ext cx="3383280" cy="365760"/>
          </a:xfrm>
          <a:prstGeom prst="rect">
            <a:avLst/>
          </a:prstGeom>
          <a:noFill/>
        </p:spPr>
        <p:txBody>
          <a:bodyPr wrap="square" anchor="t" lIns="0" rIns="0" tIns="0" bIns="0">
            <a:spAutoFit/>
          </a:bodyPr>
          <a:lstStyle/>
          <a:p>
            <a:pPr algn="l"/>
            <a:r>
              <a:rPr sz="1900" b="1" i="0">
                <a:solidFill>
                  <a:srgbClr val="1B1F29"/>
                </a:solidFill>
                <a:latin typeface="Calibri"/>
              </a:rPr>
              <a:t>Fair play</a:t>
            </a:r>
          </a:p>
        </p:txBody>
      </p:sp>
      <p:sp>
        <p:nvSpPr>
          <p:cNvPr id="23" name="TextBox 22"/>
          <p:cNvSpPr txBox="1"/>
          <p:nvPr/>
        </p:nvSpPr>
        <p:spPr>
          <a:xfrm>
            <a:off x="8001000" y="4754879"/>
            <a:ext cx="3383280" cy="960120"/>
          </a:xfrm>
          <a:prstGeom prst="rect">
            <a:avLst/>
          </a:prstGeom>
          <a:noFill/>
        </p:spPr>
        <p:txBody>
          <a:bodyPr wrap="square" anchor="t" lIns="0" rIns="0" tIns="0" bIns="0">
            <a:spAutoFit/>
          </a:bodyPr>
          <a:lstStyle/>
          <a:p>
            <a:pPr algn="l">
              <a:lnSpc>
                <a:spcPct val="110000"/>
              </a:lnSpc>
            </a:pPr>
            <a:r>
              <a:rPr sz="1450" b="0" i="0">
                <a:solidFill>
                  <a:srgbClr val="6E7582"/>
                </a:solidFill>
                <a:latin typeface="Calibri"/>
              </a:rPr>
              <a:t>No phones. Diplomatic immunity does not cover googling.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29"/>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9BA3B2"/>
                </a:solidFill>
                <a:latin typeface="Calibri"/>
              </a:rPr>
              <a:t>Quiz Night · 16 June 2026 · Permanent Representation of Lithuania to the EU</a:t>
            </a:r>
          </a:p>
        </p:txBody>
      </p:sp>
      <p:sp>
        <p:nvSpPr>
          <p:cNvPr id="3" name="TextBox 2"/>
          <p:cNvSpPr txBox="1"/>
          <p:nvPr/>
        </p:nvSpPr>
        <p:spPr>
          <a:xfrm>
            <a:off x="1371600" y="1051560"/>
            <a:ext cx="9445752" cy="411480"/>
          </a:xfrm>
          <a:prstGeom prst="rect">
            <a:avLst/>
          </a:prstGeom>
          <a:noFill/>
        </p:spPr>
        <p:txBody>
          <a:bodyPr wrap="square" anchor="t" lIns="0" rIns="0" tIns="0" bIns="0">
            <a:spAutoFit/>
          </a:bodyPr>
          <a:lstStyle/>
          <a:p>
            <a:pPr algn="ctr"/>
            <a:r>
              <a:rPr sz="1700" b="1" i="0">
                <a:solidFill>
                  <a:srgbClr val="E8A33D"/>
                </a:solidFill>
                <a:latin typeface="Calibri"/>
              </a:rPr>
              <a:t>ROUND 1</a:t>
            </a:r>
          </a:p>
        </p:txBody>
      </p:sp>
      <p:sp>
        <p:nvSpPr>
          <p:cNvPr id="4" name="TextBox 3"/>
          <p:cNvSpPr txBox="1"/>
          <p:nvPr/>
        </p:nvSpPr>
        <p:spPr>
          <a:xfrm>
            <a:off x="731520" y="1554480"/>
            <a:ext cx="10725912" cy="1005840"/>
          </a:xfrm>
          <a:prstGeom prst="rect">
            <a:avLst/>
          </a:prstGeom>
          <a:noFill/>
        </p:spPr>
        <p:txBody>
          <a:bodyPr wrap="square" anchor="t" lIns="0" rIns="0" tIns="0" bIns="0">
            <a:spAutoFit/>
          </a:bodyPr>
          <a:lstStyle/>
          <a:p>
            <a:pPr algn="ctr"/>
            <a:r>
              <a:rPr sz="5200" b="1" i="0">
                <a:solidFill>
                  <a:srgbClr val="FFFFFF"/>
                </a:solidFill>
                <a:latin typeface="Calibri"/>
              </a:rPr>
              <a:t>Europe &amp; Fun Facts</a:t>
            </a:r>
          </a:p>
        </p:txBody>
      </p:sp>
      <p:sp>
        <p:nvSpPr>
          <p:cNvPr id="5" name="TextBox 4"/>
          <p:cNvSpPr txBox="1"/>
          <p:nvPr/>
        </p:nvSpPr>
        <p:spPr>
          <a:xfrm>
            <a:off x="1371600" y="2697480"/>
            <a:ext cx="9445752" cy="411480"/>
          </a:xfrm>
          <a:prstGeom prst="rect">
            <a:avLst/>
          </a:prstGeom>
          <a:noFill/>
        </p:spPr>
        <p:txBody>
          <a:bodyPr wrap="square" anchor="t" lIns="0" rIns="0" tIns="0" bIns="0">
            <a:spAutoFit/>
          </a:bodyPr>
          <a:lstStyle/>
          <a:p>
            <a:pPr algn="ctr"/>
            <a:r>
              <a:rPr sz="1600" b="0" i="0">
                <a:solidFill>
                  <a:srgbClr val="9BA3B2"/>
                </a:solidFill>
                <a:latin typeface="Calibri"/>
              </a:rPr>
              <a:t>Multiple choice · 6 questions · 1 point each</a:t>
            </a:r>
          </a:p>
        </p:txBody>
      </p:sp>
      <p:sp>
        <p:nvSpPr>
          <p:cNvPr id="6" name="Oval 5"/>
          <p:cNvSpPr/>
          <p:nvPr/>
        </p:nvSpPr>
        <p:spPr>
          <a:xfrm>
            <a:off x="344408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lobe.png"/>
          <p:cNvPicPr>
            <a:picLocks noChangeAspect="1"/>
          </p:cNvPicPr>
          <p:nvPr/>
        </p:nvPicPr>
        <p:blipFill>
          <a:blip r:embed="rId2"/>
          <a:stretch>
            <a:fillRect/>
          </a:stretch>
        </p:blipFill>
        <p:spPr>
          <a:xfrm>
            <a:off x="3636111" y="3941064"/>
            <a:ext cx="987552" cy="987552"/>
          </a:xfrm>
          <a:prstGeom prst="rect">
            <a:avLst/>
          </a:prstGeom>
        </p:spPr>
      </p:pic>
      <p:sp>
        <p:nvSpPr>
          <p:cNvPr id="8" name="Oval 7"/>
          <p:cNvSpPr/>
          <p:nvPr/>
        </p:nvSpPr>
        <p:spPr>
          <a:xfrm>
            <a:off x="541004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uro_note.png"/>
          <p:cNvPicPr>
            <a:picLocks noChangeAspect="1"/>
          </p:cNvPicPr>
          <p:nvPr/>
        </p:nvPicPr>
        <p:blipFill>
          <a:blip r:embed="rId3"/>
          <a:stretch>
            <a:fillRect/>
          </a:stretch>
        </p:blipFill>
        <p:spPr>
          <a:xfrm>
            <a:off x="5602071" y="3941064"/>
            <a:ext cx="987552" cy="987552"/>
          </a:xfrm>
          <a:prstGeom prst="rect">
            <a:avLst/>
          </a:prstGeom>
        </p:spPr>
      </p:pic>
      <p:sp>
        <p:nvSpPr>
          <p:cNvPr id="10" name="Oval 9"/>
          <p:cNvSpPr/>
          <p:nvPr/>
        </p:nvSpPr>
        <p:spPr>
          <a:xfrm>
            <a:off x="737600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jeans.png"/>
          <p:cNvPicPr>
            <a:picLocks noChangeAspect="1"/>
          </p:cNvPicPr>
          <p:nvPr/>
        </p:nvPicPr>
        <p:blipFill>
          <a:blip r:embed="rId4"/>
          <a:stretch>
            <a:fillRect/>
          </a:stretch>
        </p:blipFill>
        <p:spPr>
          <a:xfrm>
            <a:off x="7568031" y="3941064"/>
            <a:ext cx="987552" cy="98755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1 OF 6 · 1 POINT</a:t>
            </a:r>
          </a:p>
        </p:txBody>
      </p:sp>
      <p:sp>
        <p:nvSpPr>
          <p:cNvPr id="5" name="Oval 4"/>
          <p:cNvSpPr/>
          <p:nvPr/>
        </p:nvSpPr>
        <p:spPr>
          <a:xfrm>
            <a:off x="10149840" y="10058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lobe.png"/>
          <p:cNvPicPr>
            <a:picLocks noChangeAspect="1"/>
          </p:cNvPicPr>
          <p:nvPr/>
        </p:nvPicPr>
        <p:blipFill>
          <a:blip r:embed="rId2"/>
          <a:stretch>
            <a:fillRect/>
          </a:stretch>
        </p:blipFill>
        <p:spPr>
          <a:xfrm>
            <a:off x="10341864" y="1197864"/>
            <a:ext cx="987552" cy="987552"/>
          </a:xfrm>
          <a:prstGeom prst="rect">
            <a:avLst/>
          </a:prstGeom>
        </p:spPr>
      </p:pic>
      <p:sp>
        <p:nvSpPr>
          <p:cNvPr id="7" name="TextBox 6"/>
          <p:cNvSpPr txBox="1"/>
          <p:nvPr/>
        </p:nvSpPr>
        <p:spPr>
          <a:xfrm>
            <a:off x="640080" y="1143000"/>
            <a:ext cx="9235440" cy="2194560"/>
          </a:xfrm>
          <a:prstGeom prst="rect">
            <a:avLst/>
          </a:prstGeom>
          <a:noFill/>
        </p:spPr>
        <p:txBody>
          <a:bodyPr wrap="square" anchor="t" lIns="0" rIns="0" tIns="0" bIns="0">
            <a:spAutoFit/>
          </a:bodyPr>
          <a:lstStyle/>
          <a:p>
            <a:pPr algn="l">
              <a:lnSpc>
                <a:spcPct val="112000"/>
              </a:lnSpc>
            </a:pPr>
            <a:r>
              <a:rPr sz="2600" b="0" i="0">
                <a:solidFill>
                  <a:srgbClr val="1B1F29"/>
                </a:solidFill>
                <a:latin typeface="Calibri"/>
              </a:rPr>
              <a:t>Which European island changes sovereignty every six months?</a:t>
            </a:r>
          </a:p>
        </p:txBody>
      </p:sp>
      <p:sp>
        <p:nvSpPr>
          <p:cNvPr id="8" name="Rounded Rectangle 7"/>
          <p:cNvSpPr/>
          <p:nvPr/>
        </p:nvSpPr>
        <p:spPr>
          <a:xfrm>
            <a:off x="640080" y="324612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3502152"/>
            <a:ext cx="4754880" cy="411480"/>
          </a:xfrm>
          <a:prstGeom prst="rect">
            <a:avLst/>
          </a:prstGeom>
          <a:noFill/>
        </p:spPr>
        <p:txBody>
          <a:bodyPr wrap="square" anchor="t" lIns="0" rIns="0" tIns="0" bIns="0">
            <a:spAutoFit/>
          </a:bodyPr>
          <a:lstStyle/>
          <a:p>
            <a:pPr algn="l"/>
            <a:r>
              <a:rPr sz="1800" b="1" i="0">
                <a:solidFill>
                  <a:srgbClr val="A86A14"/>
                </a:solidFill>
                <a:latin typeface="Calibri"/>
              </a:rPr>
              <a:t>A    </a:t>
            </a:r>
            <a:r>
              <a:rPr sz="1800" b="0" i="0">
                <a:solidFill>
                  <a:srgbClr val="1B1F29"/>
                </a:solidFill>
                <a:latin typeface="Calibri"/>
              </a:rPr>
              <a:t>Heligoland</a:t>
            </a:r>
          </a:p>
        </p:txBody>
      </p:sp>
      <p:sp>
        <p:nvSpPr>
          <p:cNvPr id="10" name="Rounded Rectangle 9"/>
          <p:cNvSpPr/>
          <p:nvPr/>
        </p:nvSpPr>
        <p:spPr>
          <a:xfrm>
            <a:off x="6199632" y="324612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3502152"/>
            <a:ext cx="4754880" cy="411480"/>
          </a:xfrm>
          <a:prstGeom prst="rect">
            <a:avLst/>
          </a:prstGeom>
          <a:noFill/>
        </p:spPr>
        <p:txBody>
          <a:bodyPr wrap="square" anchor="t" lIns="0" rIns="0" tIns="0" bIns="0">
            <a:spAutoFit/>
          </a:bodyPr>
          <a:lstStyle/>
          <a:p>
            <a:pPr algn="l"/>
            <a:r>
              <a:rPr sz="1800" b="1" i="0">
                <a:solidFill>
                  <a:srgbClr val="A86A14"/>
                </a:solidFill>
                <a:latin typeface="Calibri"/>
              </a:rPr>
              <a:t>B    </a:t>
            </a:r>
            <a:r>
              <a:rPr sz="1800" b="0" i="0">
                <a:solidFill>
                  <a:srgbClr val="1B1F29"/>
                </a:solidFill>
                <a:latin typeface="Calibri"/>
              </a:rPr>
              <a:t>Pheasant Island</a:t>
            </a:r>
          </a:p>
        </p:txBody>
      </p:sp>
      <p:sp>
        <p:nvSpPr>
          <p:cNvPr id="12" name="Rounded Rectangle 11"/>
          <p:cNvSpPr/>
          <p:nvPr/>
        </p:nvSpPr>
        <p:spPr>
          <a:xfrm>
            <a:off x="640080" y="434340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4599432"/>
            <a:ext cx="4754880" cy="411480"/>
          </a:xfrm>
          <a:prstGeom prst="rect">
            <a:avLst/>
          </a:prstGeom>
          <a:noFill/>
        </p:spPr>
        <p:txBody>
          <a:bodyPr wrap="square" anchor="t" lIns="0" rIns="0" tIns="0" bIns="0">
            <a:spAutoFit/>
          </a:bodyPr>
          <a:lstStyle/>
          <a:p>
            <a:pPr algn="l"/>
            <a:r>
              <a:rPr sz="1800" b="1" i="0">
                <a:solidFill>
                  <a:srgbClr val="A86A14"/>
                </a:solidFill>
                <a:latin typeface="Calibri"/>
              </a:rPr>
              <a:t>C    </a:t>
            </a:r>
            <a:r>
              <a:rPr sz="1800" b="0" i="0">
                <a:solidFill>
                  <a:srgbClr val="1B1F29"/>
                </a:solidFill>
                <a:latin typeface="Calibri"/>
              </a:rPr>
              <a:t>Jersey</a:t>
            </a:r>
          </a:p>
        </p:txBody>
      </p:sp>
      <p:sp>
        <p:nvSpPr>
          <p:cNvPr id="14" name="Rounded Rectangle 13"/>
          <p:cNvSpPr/>
          <p:nvPr/>
        </p:nvSpPr>
        <p:spPr>
          <a:xfrm>
            <a:off x="6199632" y="434340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4599432"/>
            <a:ext cx="4754880" cy="411480"/>
          </a:xfrm>
          <a:prstGeom prst="rect">
            <a:avLst/>
          </a:prstGeom>
          <a:noFill/>
        </p:spPr>
        <p:txBody>
          <a:bodyPr wrap="square" anchor="t" lIns="0" rIns="0" tIns="0" bIns="0">
            <a:spAutoFit/>
          </a:bodyPr>
          <a:lstStyle/>
          <a:p>
            <a:pPr algn="l"/>
            <a:r>
              <a:rPr sz="1800" b="1" i="0">
                <a:solidFill>
                  <a:srgbClr val="A86A14"/>
                </a:solidFill>
                <a:latin typeface="Calibri"/>
              </a:rPr>
              <a:t>D    </a:t>
            </a:r>
            <a:r>
              <a:rPr sz="1800" b="0" i="0">
                <a:solidFill>
                  <a:srgbClr val="1B1F29"/>
                </a:solidFill>
                <a:latin typeface="Calibri"/>
              </a:rPr>
              <a:t>Bornholm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1</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B — Pheasant Island</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Under the 1659 Treaty of the Pyrenees, France and Spain share this tiny uninhabited island in the Bidasoa river. Administration alternates between the two countries every six months — the world's oldest condominium.</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sland.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2 OF 6 · 1 POINT</a:t>
            </a:r>
          </a:p>
        </p:txBody>
      </p:sp>
      <p:sp>
        <p:nvSpPr>
          <p:cNvPr id="5" name="Oval 4"/>
          <p:cNvSpPr/>
          <p:nvPr/>
        </p:nvSpPr>
        <p:spPr>
          <a:xfrm>
            <a:off x="10149840" y="10058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ar.png"/>
          <p:cNvPicPr>
            <a:picLocks noChangeAspect="1"/>
          </p:cNvPicPr>
          <p:nvPr/>
        </p:nvPicPr>
        <p:blipFill>
          <a:blip r:embed="rId2"/>
          <a:stretch>
            <a:fillRect/>
          </a:stretch>
        </p:blipFill>
        <p:spPr>
          <a:xfrm>
            <a:off x="10341864" y="1197864"/>
            <a:ext cx="987552" cy="987552"/>
          </a:xfrm>
          <a:prstGeom prst="rect">
            <a:avLst/>
          </a:prstGeom>
        </p:spPr>
      </p:pic>
      <p:sp>
        <p:nvSpPr>
          <p:cNvPr id="7" name="TextBox 6"/>
          <p:cNvSpPr txBox="1"/>
          <p:nvPr/>
        </p:nvSpPr>
        <p:spPr>
          <a:xfrm>
            <a:off x="640080" y="1143000"/>
            <a:ext cx="9235440" cy="2194560"/>
          </a:xfrm>
          <a:prstGeom prst="rect">
            <a:avLst/>
          </a:prstGeom>
          <a:noFill/>
        </p:spPr>
        <p:txBody>
          <a:bodyPr wrap="square" anchor="t" lIns="0" rIns="0" tIns="0" bIns="0">
            <a:spAutoFit/>
          </a:bodyPr>
          <a:lstStyle/>
          <a:p>
            <a:pPr algn="l">
              <a:lnSpc>
                <a:spcPct val="112000"/>
              </a:lnSpc>
            </a:pPr>
            <a:r>
              <a:rPr sz="2600" b="0" i="0">
                <a:solidFill>
                  <a:srgbClr val="1B1F29"/>
                </a:solidFill>
                <a:latin typeface="Calibri"/>
              </a:rPr>
              <a:t>Which EU symbol was publicly unveiled about 40 years ago?</a:t>
            </a:r>
          </a:p>
        </p:txBody>
      </p:sp>
      <p:sp>
        <p:nvSpPr>
          <p:cNvPr id="8" name="Rounded Rectangle 7"/>
          <p:cNvSpPr/>
          <p:nvPr/>
        </p:nvSpPr>
        <p:spPr>
          <a:xfrm>
            <a:off x="640080" y="324612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3502152"/>
            <a:ext cx="4754880" cy="411480"/>
          </a:xfrm>
          <a:prstGeom prst="rect">
            <a:avLst/>
          </a:prstGeom>
          <a:noFill/>
        </p:spPr>
        <p:txBody>
          <a:bodyPr wrap="square" anchor="t" lIns="0" rIns="0" tIns="0" bIns="0">
            <a:spAutoFit/>
          </a:bodyPr>
          <a:lstStyle/>
          <a:p>
            <a:pPr algn="l"/>
            <a:r>
              <a:rPr sz="1800" b="1" i="0">
                <a:solidFill>
                  <a:srgbClr val="A86A14"/>
                </a:solidFill>
                <a:latin typeface="Calibri"/>
              </a:rPr>
              <a:t>A    </a:t>
            </a:r>
            <a:r>
              <a:rPr sz="1800" b="0" i="0">
                <a:solidFill>
                  <a:srgbClr val="1B1F29"/>
                </a:solidFill>
                <a:latin typeface="Calibri"/>
              </a:rPr>
              <a:t>Euro coins</a:t>
            </a:r>
          </a:p>
        </p:txBody>
      </p:sp>
      <p:sp>
        <p:nvSpPr>
          <p:cNvPr id="10" name="Rounded Rectangle 9"/>
          <p:cNvSpPr/>
          <p:nvPr/>
        </p:nvSpPr>
        <p:spPr>
          <a:xfrm>
            <a:off x="6199632" y="324612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3502152"/>
            <a:ext cx="4754880" cy="411480"/>
          </a:xfrm>
          <a:prstGeom prst="rect">
            <a:avLst/>
          </a:prstGeom>
          <a:noFill/>
        </p:spPr>
        <p:txBody>
          <a:bodyPr wrap="square" anchor="t" lIns="0" rIns="0" tIns="0" bIns="0">
            <a:spAutoFit/>
          </a:bodyPr>
          <a:lstStyle/>
          <a:p>
            <a:pPr algn="l"/>
            <a:r>
              <a:rPr sz="1800" b="1" i="0">
                <a:solidFill>
                  <a:srgbClr val="A86A14"/>
                </a:solidFill>
                <a:latin typeface="Calibri"/>
              </a:rPr>
              <a:t>B    </a:t>
            </a:r>
            <a:r>
              <a:rPr sz="1800" b="0" i="0">
                <a:solidFill>
                  <a:srgbClr val="1B1F29"/>
                </a:solidFill>
                <a:latin typeface="Calibri"/>
              </a:rPr>
              <a:t>European flag</a:t>
            </a:r>
          </a:p>
        </p:txBody>
      </p:sp>
      <p:sp>
        <p:nvSpPr>
          <p:cNvPr id="12" name="Rounded Rectangle 11"/>
          <p:cNvSpPr/>
          <p:nvPr/>
        </p:nvSpPr>
        <p:spPr>
          <a:xfrm>
            <a:off x="640080" y="434340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4599432"/>
            <a:ext cx="4754880" cy="411480"/>
          </a:xfrm>
          <a:prstGeom prst="rect">
            <a:avLst/>
          </a:prstGeom>
          <a:noFill/>
        </p:spPr>
        <p:txBody>
          <a:bodyPr wrap="square" anchor="t" lIns="0" rIns="0" tIns="0" bIns="0">
            <a:spAutoFit/>
          </a:bodyPr>
          <a:lstStyle/>
          <a:p>
            <a:pPr algn="l"/>
            <a:r>
              <a:rPr sz="1800" b="1" i="0">
                <a:solidFill>
                  <a:srgbClr val="A86A14"/>
                </a:solidFill>
                <a:latin typeface="Calibri"/>
              </a:rPr>
              <a:t>C    </a:t>
            </a:r>
            <a:r>
              <a:rPr sz="1800" b="0" i="0">
                <a:solidFill>
                  <a:srgbClr val="1B1F29"/>
                </a:solidFill>
                <a:latin typeface="Calibri"/>
              </a:rPr>
              <a:t>European anthem</a:t>
            </a:r>
          </a:p>
        </p:txBody>
      </p:sp>
      <p:sp>
        <p:nvSpPr>
          <p:cNvPr id="14" name="Rounded Rectangle 13"/>
          <p:cNvSpPr/>
          <p:nvPr/>
        </p:nvSpPr>
        <p:spPr>
          <a:xfrm>
            <a:off x="6199632" y="434340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4599432"/>
            <a:ext cx="4754880" cy="411480"/>
          </a:xfrm>
          <a:prstGeom prst="rect">
            <a:avLst/>
          </a:prstGeom>
          <a:noFill/>
        </p:spPr>
        <p:txBody>
          <a:bodyPr wrap="square" anchor="t" lIns="0" rIns="0" tIns="0" bIns="0">
            <a:spAutoFit/>
          </a:bodyPr>
          <a:lstStyle/>
          <a:p>
            <a:pPr algn="l"/>
            <a:r>
              <a:rPr sz="1800" b="1" i="0">
                <a:solidFill>
                  <a:srgbClr val="A86A14"/>
                </a:solidFill>
                <a:latin typeface="Calibri"/>
              </a:rPr>
              <a:t>D    </a:t>
            </a:r>
            <a:r>
              <a:rPr sz="1800" b="0" i="0">
                <a:solidFill>
                  <a:srgbClr val="1B1F29"/>
                </a:solidFill>
                <a:latin typeface="Calibri"/>
              </a:rPr>
              <a:t>Schengen passport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2</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B — The European flag</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In May 1986 the European flag was raised for the first time outside the Berlaymont building — twelve gold stars in a circle, a symbol of unity, unchanged ever since.</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lag_eu.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3 OF 6 · 1 POINT</a:t>
            </a:r>
          </a:p>
        </p:txBody>
      </p:sp>
      <p:sp>
        <p:nvSpPr>
          <p:cNvPr id="5" name="Oval 4"/>
          <p:cNvSpPr/>
          <p:nvPr/>
        </p:nvSpPr>
        <p:spPr>
          <a:xfrm>
            <a:off x="10149840" y="10058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dal.png"/>
          <p:cNvPicPr>
            <a:picLocks noChangeAspect="1"/>
          </p:cNvPicPr>
          <p:nvPr/>
        </p:nvPicPr>
        <p:blipFill>
          <a:blip r:embed="rId2"/>
          <a:stretch>
            <a:fillRect/>
          </a:stretch>
        </p:blipFill>
        <p:spPr>
          <a:xfrm>
            <a:off x="10341864" y="1197864"/>
            <a:ext cx="987552" cy="987552"/>
          </a:xfrm>
          <a:prstGeom prst="rect">
            <a:avLst/>
          </a:prstGeom>
        </p:spPr>
      </p:pic>
      <p:sp>
        <p:nvSpPr>
          <p:cNvPr id="7" name="TextBox 6"/>
          <p:cNvSpPr txBox="1"/>
          <p:nvPr/>
        </p:nvSpPr>
        <p:spPr>
          <a:xfrm>
            <a:off x="640080" y="1143000"/>
            <a:ext cx="9235440" cy="2194560"/>
          </a:xfrm>
          <a:prstGeom prst="rect">
            <a:avLst/>
          </a:prstGeom>
          <a:noFill/>
        </p:spPr>
        <p:txBody>
          <a:bodyPr wrap="square" anchor="t" lIns="0" rIns="0" tIns="0" bIns="0">
            <a:spAutoFit/>
          </a:bodyPr>
          <a:lstStyle/>
          <a:p>
            <a:pPr algn="l">
              <a:lnSpc>
                <a:spcPct val="112000"/>
              </a:lnSpc>
            </a:pPr>
            <a:r>
              <a:rPr sz="2600" b="0" i="0">
                <a:solidFill>
                  <a:srgbClr val="1B1F29"/>
                </a:solidFill>
                <a:latin typeface="Calibri"/>
              </a:rPr>
              <a:t>What major international award did the European Union receive in 2012?</a:t>
            </a:r>
          </a:p>
        </p:txBody>
      </p:sp>
      <p:sp>
        <p:nvSpPr>
          <p:cNvPr id="8" name="Rounded Rectangle 7"/>
          <p:cNvSpPr/>
          <p:nvPr/>
        </p:nvSpPr>
        <p:spPr>
          <a:xfrm>
            <a:off x="640080" y="324612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3502152"/>
            <a:ext cx="4754880" cy="411480"/>
          </a:xfrm>
          <a:prstGeom prst="rect">
            <a:avLst/>
          </a:prstGeom>
          <a:noFill/>
        </p:spPr>
        <p:txBody>
          <a:bodyPr wrap="square" anchor="t" lIns="0" rIns="0" tIns="0" bIns="0">
            <a:spAutoFit/>
          </a:bodyPr>
          <a:lstStyle/>
          <a:p>
            <a:pPr algn="l"/>
            <a:r>
              <a:rPr sz="1800" b="1" i="0">
                <a:solidFill>
                  <a:srgbClr val="A86A14"/>
                </a:solidFill>
                <a:latin typeface="Calibri"/>
              </a:rPr>
              <a:t>A    </a:t>
            </a:r>
            <a:r>
              <a:rPr sz="1800" b="0" i="0">
                <a:solidFill>
                  <a:srgbClr val="1B1F29"/>
                </a:solidFill>
                <a:latin typeface="Calibri"/>
              </a:rPr>
              <a:t>Sakharov Prize</a:t>
            </a:r>
          </a:p>
        </p:txBody>
      </p:sp>
      <p:sp>
        <p:nvSpPr>
          <p:cNvPr id="10" name="Rounded Rectangle 9"/>
          <p:cNvSpPr/>
          <p:nvPr/>
        </p:nvSpPr>
        <p:spPr>
          <a:xfrm>
            <a:off x="6199632" y="324612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3502152"/>
            <a:ext cx="4754880" cy="411480"/>
          </a:xfrm>
          <a:prstGeom prst="rect">
            <a:avLst/>
          </a:prstGeom>
          <a:noFill/>
        </p:spPr>
        <p:txBody>
          <a:bodyPr wrap="square" anchor="t" lIns="0" rIns="0" tIns="0" bIns="0">
            <a:spAutoFit/>
          </a:bodyPr>
          <a:lstStyle/>
          <a:p>
            <a:pPr algn="l"/>
            <a:r>
              <a:rPr sz="1800" b="1" i="0">
                <a:solidFill>
                  <a:srgbClr val="A86A14"/>
                </a:solidFill>
                <a:latin typeface="Calibri"/>
              </a:rPr>
              <a:t>B    </a:t>
            </a:r>
            <a:r>
              <a:rPr sz="1800" b="0" i="0">
                <a:solidFill>
                  <a:srgbClr val="1B1F29"/>
                </a:solidFill>
                <a:latin typeface="Calibri"/>
              </a:rPr>
              <a:t>Nobel Peace Prize</a:t>
            </a:r>
          </a:p>
        </p:txBody>
      </p:sp>
      <p:sp>
        <p:nvSpPr>
          <p:cNvPr id="12" name="Rounded Rectangle 11"/>
          <p:cNvSpPr/>
          <p:nvPr/>
        </p:nvSpPr>
        <p:spPr>
          <a:xfrm>
            <a:off x="640080" y="434340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4599432"/>
            <a:ext cx="4754880" cy="411480"/>
          </a:xfrm>
          <a:prstGeom prst="rect">
            <a:avLst/>
          </a:prstGeom>
          <a:noFill/>
        </p:spPr>
        <p:txBody>
          <a:bodyPr wrap="square" anchor="t" lIns="0" rIns="0" tIns="0" bIns="0">
            <a:spAutoFit/>
          </a:bodyPr>
          <a:lstStyle/>
          <a:p>
            <a:pPr algn="l"/>
            <a:r>
              <a:rPr sz="1800" b="1" i="0">
                <a:solidFill>
                  <a:srgbClr val="A86A14"/>
                </a:solidFill>
                <a:latin typeface="Calibri"/>
              </a:rPr>
              <a:t>C    </a:t>
            </a:r>
            <a:r>
              <a:rPr sz="1800" b="0" i="0">
                <a:solidFill>
                  <a:srgbClr val="1B1F29"/>
                </a:solidFill>
                <a:latin typeface="Calibri"/>
              </a:rPr>
              <a:t>Charlemagne Prize</a:t>
            </a:r>
          </a:p>
        </p:txBody>
      </p:sp>
      <p:sp>
        <p:nvSpPr>
          <p:cNvPr id="14" name="Rounded Rectangle 13"/>
          <p:cNvSpPr/>
          <p:nvPr/>
        </p:nvSpPr>
        <p:spPr>
          <a:xfrm>
            <a:off x="6199632" y="434340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4599432"/>
            <a:ext cx="4754880" cy="411480"/>
          </a:xfrm>
          <a:prstGeom prst="rect">
            <a:avLst/>
          </a:prstGeom>
          <a:noFill/>
        </p:spPr>
        <p:txBody>
          <a:bodyPr wrap="square" anchor="t" lIns="0" rIns="0" tIns="0" bIns="0">
            <a:spAutoFit/>
          </a:bodyPr>
          <a:lstStyle/>
          <a:p>
            <a:pPr algn="l"/>
            <a:r>
              <a:rPr sz="1800" b="1" i="0">
                <a:solidFill>
                  <a:srgbClr val="A86A14"/>
                </a:solidFill>
                <a:latin typeface="Calibri"/>
              </a:rPr>
              <a:t>D    </a:t>
            </a:r>
            <a:r>
              <a:rPr sz="1800" b="0" i="0">
                <a:solidFill>
                  <a:srgbClr val="1B1F29"/>
                </a:solidFill>
                <a:latin typeface="Calibri"/>
              </a:rPr>
              <a:t>Right Livelihood Award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3</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B — The Nobel Peace Prize</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Awarded to the EU in 2012 for over six decades of advancing peace, reconciliation, democracy and human rights in Europe.</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ove.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4 OF 6 · 1 POINT</a:t>
            </a:r>
          </a:p>
        </p:txBody>
      </p:sp>
      <p:sp>
        <p:nvSpPr>
          <p:cNvPr id="5" name="Oval 4"/>
          <p:cNvSpPr/>
          <p:nvPr/>
        </p:nvSpPr>
        <p:spPr>
          <a:xfrm>
            <a:off x="10149840" y="10058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uro_note.png"/>
          <p:cNvPicPr>
            <a:picLocks noChangeAspect="1"/>
          </p:cNvPicPr>
          <p:nvPr/>
        </p:nvPicPr>
        <p:blipFill>
          <a:blip r:embed="rId3"/>
          <a:stretch>
            <a:fillRect/>
          </a:stretch>
        </p:blipFill>
        <p:spPr>
          <a:xfrm>
            <a:off x="10341864" y="1197864"/>
            <a:ext cx="987552" cy="987552"/>
          </a:xfrm>
          <a:prstGeom prst="rect">
            <a:avLst/>
          </a:prstGeom>
        </p:spPr>
      </p:pic>
      <p:sp>
        <p:nvSpPr>
          <p:cNvPr id="7" name="TextBox 6"/>
          <p:cNvSpPr txBox="1"/>
          <p:nvPr/>
        </p:nvSpPr>
        <p:spPr>
          <a:xfrm>
            <a:off x="640080" y="1143000"/>
            <a:ext cx="9235440" cy="2194560"/>
          </a:xfrm>
          <a:prstGeom prst="rect">
            <a:avLst/>
          </a:prstGeom>
          <a:noFill/>
        </p:spPr>
        <p:txBody>
          <a:bodyPr wrap="square" anchor="t" lIns="0" rIns="0" tIns="0" bIns="0">
            <a:spAutoFit/>
          </a:bodyPr>
          <a:lstStyle/>
          <a:p>
            <a:pPr algn="l">
              <a:lnSpc>
                <a:spcPct val="112000"/>
              </a:lnSpc>
            </a:pPr>
            <a:r>
              <a:rPr sz="2600" b="0" i="0">
                <a:solidFill>
                  <a:srgbClr val="1B1F29"/>
                </a:solidFill>
                <a:latin typeface="Calibri"/>
              </a:rPr>
              <a:t>Which euro banknote was nicknamed “Bin Laden”?</a:t>
            </a:r>
          </a:p>
        </p:txBody>
      </p:sp>
      <p:sp>
        <p:nvSpPr>
          <p:cNvPr id="8" name="Rounded Rectangle 7"/>
          <p:cNvSpPr/>
          <p:nvPr/>
        </p:nvSpPr>
        <p:spPr>
          <a:xfrm>
            <a:off x="640080" y="324612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3502152"/>
            <a:ext cx="4754880" cy="411480"/>
          </a:xfrm>
          <a:prstGeom prst="rect">
            <a:avLst/>
          </a:prstGeom>
          <a:noFill/>
        </p:spPr>
        <p:txBody>
          <a:bodyPr wrap="square" anchor="t" lIns="0" rIns="0" tIns="0" bIns="0">
            <a:spAutoFit/>
          </a:bodyPr>
          <a:lstStyle/>
          <a:p>
            <a:pPr algn="l"/>
            <a:r>
              <a:rPr sz="1800" b="1" i="0">
                <a:solidFill>
                  <a:srgbClr val="A86A14"/>
                </a:solidFill>
                <a:latin typeface="Calibri"/>
              </a:rPr>
              <a:t>A    </a:t>
            </a:r>
            <a:r>
              <a:rPr sz="1800" b="0" i="0">
                <a:solidFill>
                  <a:srgbClr val="1B1F29"/>
                </a:solidFill>
                <a:latin typeface="Calibri"/>
              </a:rPr>
              <a:t>€50</a:t>
            </a:r>
          </a:p>
        </p:txBody>
      </p:sp>
      <p:sp>
        <p:nvSpPr>
          <p:cNvPr id="10" name="Rounded Rectangle 9"/>
          <p:cNvSpPr/>
          <p:nvPr/>
        </p:nvSpPr>
        <p:spPr>
          <a:xfrm>
            <a:off x="6199632" y="324612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3502152"/>
            <a:ext cx="4754880" cy="411480"/>
          </a:xfrm>
          <a:prstGeom prst="rect">
            <a:avLst/>
          </a:prstGeom>
          <a:noFill/>
        </p:spPr>
        <p:txBody>
          <a:bodyPr wrap="square" anchor="t" lIns="0" rIns="0" tIns="0" bIns="0">
            <a:spAutoFit/>
          </a:bodyPr>
          <a:lstStyle/>
          <a:p>
            <a:pPr algn="l"/>
            <a:r>
              <a:rPr sz="1800" b="1" i="0">
                <a:solidFill>
                  <a:srgbClr val="A86A14"/>
                </a:solidFill>
                <a:latin typeface="Calibri"/>
              </a:rPr>
              <a:t>B    </a:t>
            </a:r>
            <a:r>
              <a:rPr sz="1800" b="0" i="0">
                <a:solidFill>
                  <a:srgbClr val="1B1F29"/>
                </a:solidFill>
                <a:latin typeface="Calibri"/>
              </a:rPr>
              <a:t>€100</a:t>
            </a:r>
          </a:p>
        </p:txBody>
      </p:sp>
      <p:sp>
        <p:nvSpPr>
          <p:cNvPr id="12" name="Rounded Rectangle 11"/>
          <p:cNvSpPr/>
          <p:nvPr/>
        </p:nvSpPr>
        <p:spPr>
          <a:xfrm>
            <a:off x="640080" y="434340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4599432"/>
            <a:ext cx="4754880" cy="411480"/>
          </a:xfrm>
          <a:prstGeom prst="rect">
            <a:avLst/>
          </a:prstGeom>
          <a:noFill/>
        </p:spPr>
        <p:txBody>
          <a:bodyPr wrap="square" anchor="t" lIns="0" rIns="0" tIns="0" bIns="0">
            <a:spAutoFit/>
          </a:bodyPr>
          <a:lstStyle/>
          <a:p>
            <a:pPr algn="l"/>
            <a:r>
              <a:rPr sz="1800" b="1" i="0">
                <a:solidFill>
                  <a:srgbClr val="A86A14"/>
                </a:solidFill>
                <a:latin typeface="Calibri"/>
              </a:rPr>
              <a:t>C    </a:t>
            </a:r>
            <a:r>
              <a:rPr sz="1800" b="0" i="0">
                <a:solidFill>
                  <a:srgbClr val="1B1F29"/>
                </a:solidFill>
                <a:latin typeface="Calibri"/>
              </a:rPr>
              <a:t>€200</a:t>
            </a:r>
          </a:p>
        </p:txBody>
      </p:sp>
      <p:sp>
        <p:nvSpPr>
          <p:cNvPr id="14" name="Rounded Rectangle 13"/>
          <p:cNvSpPr/>
          <p:nvPr/>
        </p:nvSpPr>
        <p:spPr>
          <a:xfrm>
            <a:off x="6199632" y="434340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4599432"/>
            <a:ext cx="4754880" cy="411480"/>
          </a:xfrm>
          <a:prstGeom prst="rect">
            <a:avLst/>
          </a:prstGeom>
          <a:noFill/>
        </p:spPr>
        <p:txBody>
          <a:bodyPr wrap="square" anchor="t" lIns="0" rIns="0" tIns="0" bIns="0">
            <a:spAutoFit/>
          </a:bodyPr>
          <a:lstStyle/>
          <a:p>
            <a:pPr algn="l"/>
            <a:r>
              <a:rPr sz="1800" b="1" i="0">
                <a:solidFill>
                  <a:srgbClr val="A86A14"/>
                </a:solidFill>
                <a:latin typeface="Calibri"/>
              </a:rPr>
              <a:t>D    </a:t>
            </a:r>
            <a:r>
              <a:rPr sz="1800" b="0" i="0">
                <a:solidFill>
                  <a:srgbClr val="1B1F29"/>
                </a:solidFill>
                <a:latin typeface="Calibri"/>
              </a:rPr>
              <a:t>€500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4</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D — The €500 note</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The ECB stopped issuing the €500 note in 2019 over its popularity with money launderers — and because, like its namesake, everyone knew what it looked like but almost no one had ever seen one.</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etective.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5 OF 6 · 1 POINT</a:t>
            </a:r>
          </a:p>
        </p:txBody>
      </p:sp>
      <p:sp>
        <p:nvSpPr>
          <p:cNvPr id="5" name="Oval 4"/>
          <p:cNvSpPr/>
          <p:nvPr/>
        </p:nvSpPr>
        <p:spPr>
          <a:xfrm>
            <a:off x="10149840" y="10058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rate.png"/>
          <p:cNvPicPr>
            <a:picLocks noChangeAspect="1"/>
          </p:cNvPicPr>
          <p:nvPr/>
        </p:nvPicPr>
        <p:blipFill>
          <a:blip r:embed="rId3"/>
          <a:stretch>
            <a:fillRect/>
          </a:stretch>
        </p:blipFill>
        <p:spPr>
          <a:xfrm>
            <a:off x="10341864" y="1197864"/>
            <a:ext cx="987552" cy="987552"/>
          </a:xfrm>
          <a:prstGeom prst="rect">
            <a:avLst/>
          </a:prstGeom>
        </p:spPr>
      </p:pic>
      <p:sp>
        <p:nvSpPr>
          <p:cNvPr id="7" name="TextBox 6"/>
          <p:cNvSpPr txBox="1"/>
          <p:nvPr/>
        </p:nvSpPr>
        <p:spPr>
          <a:xfrm>
            <a:off x="640080" y="1143000"/>
            <a:ext cx="9235440" cy="2194560"/>
          </a:xfrm>
          <a:prstGeom prst="rect">
            <a:avLst/>
          </a:prstGeom>
          <a:noFill/>
        </p:spPr>
        <p:txBody>
          <a:bodyPr wrap="square" anchor="t" lIns="0" rIns="0" tIns="0" bIns="0">
            <a:spAutoFit/>
          </a:bodyPr>
          <a:lstStyle/>
          <a:p>
            <a:pPr algn="l">
              <a:lnSpc>
                <a:spcPct val="112000"/>
              </a:lnSpc>
            </a:pPr>
            <a:r>
              <a:rPr sz="2100" b="0" i="0">
                <a:solidFill>
                  <a:srgbClr val="1B1F29"/>
                </a:solidFill>
                <a:latin typeface="Calibri"/>
              </a:rPr>
              <a:t>In 1984, former Nigerian minister Umaru Dikko was kidnapped in London. His captors planned to smuggle him out of the UK in a diplomatic crate, relying on the Vienna Convention rule that diplomatic bags cannot be opened or detained.
What went wrong?</a:t>
            </a:r>
          </a:p>
        </p:txBody>
      </p:sp>
      <p:sp>
        <p:nvSpPr>
          <p:cNvPr id="8" name="Rounded Rectangle 7"/>
          <p:cNvSpPr/>
          <p:nvPr/>
        </p:nvSpPr>
        <p:spPr>
          <a:xfrm>
            <a:off x="640080" y="3657600"/>
            <a:ext cx="10908792" cy="713232"/>
          </a:xfrm>
          <a:prstGeom prst="roundRect">
            <a:avLst>
              <a:gd name="adj" fmla="val 16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840480"/>
            <a:ext cx="10332720" cy="411480"/>
          </a:xfrm>
          <a:prstGeom prst="rect">
            <a:avLst/>
          </a:prstGeom>
          <a:noFill/>
        </p:spPr>
        <p:txBody>
          <a:bodyPr wrap="square" anchor="t" lIns="0" rIns="0" tIns="0" bIns="0">
            <a:spAutoFit/>
          </a:bodyPr>
          <a:lstStyle/>
          <a:p>
            <a:pPr algn="l"/>
            <a:r>
              <a:rPr sz="1700" b="1" i="0">
                <a:solidFill>
                  <a:srgbClr val="A86A14"/>
                </a:solidFill>
                <a:latin typeface="Calibri"/>
              </a:rPr>
              <a:t>A    </a:t>
            </a:r>
            <a:r>
              <a:rPr sz="1700" b="0" i="0">
                <a:solidFill>
                  <a:srgbClr val="1B1F29"/>
                </a:solidFill>
                <a:latin typeface="Calibri"/>
              </a:rPr>
              <a:t>The crate was improperly labelled as diplomatic baggage</a:t>
            </a:r>
          </a:p>
        </p:txBody>
      </p:sp>
      <p:sp>
        <p:nvSpPr>
          <p:cNvPr id="10" name="Rounded Rectangle 9"/>
          <p:cNvSpPr/>
          <p:nvPr/>
        </p:nvSpPr>
        <p:spPr>
          <a:xfrm>
            <a:off x="640080" y="4517136"/>
            <a:ext cx="10908792" cy="713232"/>
          </a:xfrm>
          <a:prstGeom prst="roundRect">
            <a:avLst>
              <a:gd name="adj" fmla="val 16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700016"/>
            <a:ext cx="10332720" cy="411480"/>
          </a:xfrm>
          <a:prstGeom prst="rect">
            <a:avLst/>
          </a:prstGeom>
          <a:noFill/>
        </p:spPr>
        <p:txBody>
          <a:bodyPr wrap="square" anchor="t" lIns="0" rIns="0" tIns="0" bIns="0">
            <a:spAutoFit/>
          </a:bodyPr>
          <a:lstStyle/>
          <a:p>
            <a:pPr algn="l"/>
            <a:r>
              <a:rPr sz="1700" b="1" i="0">
                <a:solidFill>
                  <a:srgbClr val="A86A14"/>
                </a:solidFill>
                <a:latin typeface="Calibri"/>
              </a:rPr>
              <a:t>B    </a:t>
            </a:r>
            <a:r>
              <a:rPr sz="1700" b="0" i="0">
                <a:solidFill>
                  <a:srgbClr val="1B1F29"/>
                </a:solidFill>
                <a:latin typeface="Calibri"/>
              </a:rPr>
              <a:t>Dikko did not fit inside the crate</a:t>
            </a:r>
          </a:p>
        </p:txBody>
      </p:sp>
      <p:sp>
        <p:nvSpPr>
          <p:cNvPr id="12" name="Rounded Rectangle 11"/>
          <p:cNvSpPr/>
          <p:nvPr/>
        </p:nvSpPr>
        <p:spPr>
          <a:xfrm>
            <a:off x="640080" y="5376671"/>
            <a:ext cx="10908792" cy="713232"/>
          </a:xfrm>
          <a:prstGeom prst="roundRect">
            <a:avLst>
              <a:gd name="adj" fmla="val 16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559551"/>
            <a:ext cx="10332720" cy="411480"/>
          </a:xfrm>
          <a:prstGeom prst="rect">
            <a:avLst/>
          </a:prstGeom>
          <a:noFill/>
        </p:spPr>
        <p:txBody>
          <a:bodyPr wrap="square" anchor="t" lIns="0" rIns="0" tIns="0" bIns="0">
            <a:spAutoFit/>
          </a:bodyPr>
          <a:lstStyle/>
          <a:p>
            <a:pPr algn="l"/>
            <a:r>
              <a:rPr sz="1700" b="1" i="0">
                <a:solidFill>
                  <a:srgbClr val="A86A14"/>
                </a:solidFill>
                <a:latin typeface="Calibri"/>
              </a:rPr>
              <a:t>C    </a:t>
            </a:r>
            <a:r>
              <a:rPr sz="1700" b="0" i="0">
                <a:solidFill>
                  <a:srgbClr val="1B1F29"/>
                </a:solidFill>
                <a:latin typeface="Calibri"/>
              </a:rPr>
              <a:t>The aircraft meant to transport him never arrived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5</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200" b="1" i="0">
                <a:solidFill>
                  <a:srgbClr val="A86A14"/>
                </a:solidFill>
                <a:latin typeface="Calibri"/>
              </a:rPr>
              <a:t>A — The crate was improperly labelled</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With no official diplomatic markings, customs officers at Stansted were entitled to open the crate — and found Dikko unconscious, accompanied by an anaesthetist.</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rate.png"/>
          <p:cNvPicPr>
            <a:picLocks noChangeAspect="1"/>
          </p:cNvPicPr>
          <p:nvPr/>
        </p:nvPicPr>
        <p:blipFill>
          <a:blip r:embed="rId3"/>
          <a:stretch>
            <a:fillRect/>
          </a:stretch>
        </p:blipFill>
        <p:spPr>
          <a:xfrm>
            <a:off x="8933688" y="2258568"/>
            <a:ext cx="1975104" cy="1975104"/>
          </a:xfrm>
          <a:prstGeom prst="rect">
            <a:avLst/>
          </a:prstGeom>
        </p:spPr>
      </p:pic>
      <p:sp>
        <p:nvSpPr>
          <p:cNvPr id="11" name="Rounded Rectangle 10"/>
          <p:cNvSpPr/>
          <p:nvPr/>
        </p:nvSpPr>
        <p:spPr>
          <a:xfrm>
            <a:off x="640080" y="2606040"/>
            <a:ext cx="2331720" cy="420624"/>
          </a:xfrm>
          <a:prstGeom prst="roundRect">
            <a:avLst>
              <a:gd name="adj" fmla="val 50000"/>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Calibri"/>
              </a:rPr>
              <a:t>▶   Watch the story</a:t>
            </a:r>
          </a:p>
        </p:txBody>
      </p:sp>
      <p:sp>
        <p:nvSpPr>
          <p:cNvPr id="12" name="TextBox 11"/>
          <p:cNvSpPr txBox="1"/>
          <p:nvPr/>
        </p:nvSpPr>
        <p:spPr>
          <a:xfrm>
            <a:off x="3154680" y="2706624"/>
            <a:ext cx="5029200" cy="274320"/>
          </a:xfrm>
          <a:prstGeom prst="rect">
            <a:avLst/>
          </a:prstGeom>
          <a:noFill/>
        </p:spPr>
        <p:txBody>
          <a:bodyPr wrap="square" anchor="t" lIns="0" rIns="0" tIns="0" bIns="0">
            <a:spAutoFit/>
          </a:bodyPr>
          <a:lstStyle/>
          <a:p>
            <a:pPr algn="l"/>
            <a:r>
              <a:rPr sz="1200" b="0" i="0">
                <a:solidFill>
                  <a:srgbClr val="6E7582"/>
                </a:solidFill>
                <a:latin typeface="Calibri"/>
              </a:rPr>
              <a:t>youtube.com/watch?v=N83Idy9IOmU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6 OF 6 · 1 POINT</a:t>
            </a:r>
          </a:p>
        </p:txBody>
      </p:sp>
      <p:sp>
        <p:nvSpPr>
          <p:cNvPr id="5" name="Oval 4"/>
          <p:cNvSpPr/>
          <p:nvPr/>
        </p:nvSpPr>
        <p:spPr>
          <a:xfrm>
            <a:off x="10149840" y="10058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jeans.png"/>
          <p:cNvPicPr>
            <a:picLocks noChangeAspect="1"/>
          </p:cNvPicPr>
          <p:nvPr/>
        </p:nvPicPr>
        <p:blipFill>
          <a:blip r:embed="rId2"/>
          <a:stretch>
            <a:fillRect/>
          </a:stretch>
        </p:blipFill>
        <p:spPr>
          <a:xfrm>
            <a:off x="10341864" y="1197864"/>
            <a:ext cx="987552" cy="987552"/>
          </a:xfrm>
          <a:prstGeom prst="rect">
            <a:avLst/>
          </a:prstGeom>
        </p:spPr>
      </p:pic>
      <p:sp>
        <p:nvSpPr>
          <p:cNvPr id="7" name="TextBox 6"/>
          <p:cNvSpPr txBox="1"/>
          <p:nvPr/>
        </p:nvSpPr>
        <p:spPr>
          <a:xfrm>
            <a:off x="640080" y="1143000"/>
            <a:ext cx="9235440" cy="2194560"/>
          </a:xfrm>
          <a:prstGeom prst="rect">
            <a:avLst/>
          </a:prstGeom>
          <a:noFill/>
        </p:spPr>
        <p:txBody>
          <a:bodyPr wrap="square" anchor="t" lIns="0" rIns="0" tIns="0" bIns="0">
            <a:spAutoFit/>
          </a:bodyPr>
          <a:lstStyle/>
          <a:p>
            <a:pPr algn="l">
              <a:lnSpc>
                <a:spcPct val="112000"/>
              </a:lnSpc>
            </a:pPr>
            <a:r>
              <a:rPr sz="2200" b="0" i="0">
                <a:solidFill>
                  <a:srgbClr val="1B1F29"/>
                </a:solidFill>
                <a:latin typeface="Calibri"/>
              </a:rPr>
              <a:t>One of the inventors of modern blue jeans was born in present-day Latvia. He developed a way to make work trousers much more durable and partnered with Levi Strauss to patent the idea.
What simple innovation made the trousers famous?</a:t>
            </a:r>
          </a:p>
        </p:txBody>
      </p:sp>
      <p:sp>
        <p:nvSpPr>
          <p:cNvPr id="8" name="Rounded Rectangle 7"/>
          <p:cNvSpPr/>
          <p:nvPr/>
        </p:nvSpPr>
        <p:spPr>
          <a:xfrm>
            <a:off x="640080" y="379476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4050792"/>
            <a:ext cx="4754880" cy="411480"/>
          </a:xfrm>
          <a:prstGeom prst="rect">
            <a:avLst/>
          </a:prstGeom>
          <a:noFill/>
        </p:spPr>
        <p:txBody>
          <a:bodyPr wrap="square" anchor="t" lIns="0" rIns="0" tIns="0" bIns="0">
            <a:spAutoFit/>
          </a:bodyPr>
          <a:lstStyle/>
          <a:p>
            <a:pPr algn="l"/>
            <a:r>
              <a:rPr sz="1800" b="1" i="0">
                <a:solidFill>
                  <a:srgbClr val="A86A14"/>
                </a:solidFill>
                <a:latin typeface="Calibri"/>
              </a:rPr>
              <a:t>A    </a:t>
            </a:r>
            <a:r>
              <a:rPr sz="1800" b="0" i="0">
                <a:solidFill>
                  <a:srgbClr val="1B1F29"/>
                </a:solidFill>
                <a:latin typeface="Calibri"/>
              </a:rPr>
              <a:t>A zipper</a:t>
            </a:r>
          </a:p>
        </p:txBody>
      </p:sp>
      <p:sp>
        <p:nvSpPr>
          <p:cNvPr id="10" name="Rounded Rectangle 9"/>
          <p:cNvSpPr/>
          <p:nvPr/>
        </p:nvSpPr>
        <p:spPr>
          <a:xfrm>
            <a:off x="6199632" y="379476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4050792"/>
            <a:ext cx="4754880" cy="411480"/>
          </a:xfrm>
          <a:prstGeom prst="rect">
            <a:avLst/>
          </a:prstGeom>
          <a:noFill/>
        </p:spPr>
        <p:txBody>
          <a:bodyPr wrap="square" anchor="t" lIns="0" rIns="0" tIns="0" bIns="0">
            <a:spAutoFit/>
          </a:bodyPr>
          <a:lstStyle/>
          <a:p>
            <a:pPr algn="l"/>
            <a:r>
              <a:rPr sz="1800" b="1" i="0">
                <a:solidFill>
                  <a:srgbClr val="A86A14"/>
                </a:solidFill>
                <a:latin typeface="Calibri"/>
              </a:rPr>
              <a:t>B    </a:t>
            </a:r>
            <a:r>
              <a:rPr sz="1800" b="0" i="0">
                <a:solidFill>
                  <a:srgbClr val="1B1F29"/>
                </a:solidFill>
                <a:latin typeface="Calibri"/>
              </a:rPr>
              <a:t>Metal rivets</a:t>
            </a:r>
          </a:p>
        </p:txBody>
      </p:sp>
      <p:sp>
        <p:nvSpPr>
          <p:cNvPr id="12" name="Rounded Rectangle 11"/>
          <p:cNvSpPr/>
          <p:nvPr/>
        </p:nvSpPr>
        <p:spPr>
          <a:xfrm>
            <a:off x="640080" y="489204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5148072"/>
            <a:ext cx="4754880" cy="411480"/>
          </a:xfrm>
          <a:prstGeom prst="rect">
            <a:avLst/>
          </a:prstGeom>
          <a:noFill/>
        </p:spPr>
        <p:txBody>
          <a:bodyPr wrap="square" anchor="t" lIns="0" rIns="0" tIns="0" bIns="0">
            <a:spAutoFit/>
          </a:bodyPr>
          <a:lstStyle/>
          <a:p>
            <a:pPr algn="l"/>
            <a:r>
              <a:rPr sz="1800" b="1" i="0">
                <a:solidFill>
                  <a:srgbClr val="A86A14"/>
                </a:solidFill>
                <a:latin typeface="Calibri"/>
              </a:rPr>
              <a:t>C    </a:t>
            </a:r>
            <a:r>
              <a:rPr sz="1800" b="0" i="0">
                <a:solidFill>
                  <a:srgbClr val="1B1F29"/>
                </a:solidFill>
                <a:latin typeface="Calibri"/>
              </a:rPr>
              <a:t>Waterproof fabric</a:t>
            </a:r>
          </a:p>
        </p:txBody>
      </p:sp>
      <p:sp>
        <p:nvSpPr>
          <p:cNvPr id="14" name="Rounded Rectangle 13"/>
          <p:cNvSpPr/>
          <p:nvPr/>
        </p:nvSpPr>
        <p:spPr>
          <a:xfrm>
            <a:off x="6199632" y="489204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5148072"/>
            <a:ext cx="4754880" cy="411480"/>
          </a:xfrm>
          <a:prstGeom prst="rect">
            <a:avLst/>
          </a:prstGeom>
          <a:noFill/>
        </p:spPr>
        <p:txBody>
          <a:bodyPr wrap="square" anchor="t" lIns="0" rIns="0" tIns="0" bIns="0">
            <a:spAutoFit/>
          </a:bodyPr>
          <a:lstStyle/>
          <a:p>
            <a:pPr algn="l"/>
            <a:r>
              <a:rPr sz="1800" b="1" i="0">
                <a:solidFill>
                  <a:srgbClr val="A86A14"/>
                </a:solidFill>
                <a:latin typeface="Calibri"/>
              </a:rPr>
              <a:t>D    </a:t>
            </a:r>
            <a:r>
              <a:rPr sz="1800" b="0" i="0">
                <a:solidFill>
                  <a:srgbClr val="1B1F29"/>
                </a:solidFill>
                <a:latin typeface="Calibri"/>
              </a:rPr>
              <a:t>Belt loops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1 · EUROPE &amp; FUN FACTS</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6</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B — Metal rivets</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Jacob Davis, a tailor born in Riga in 1831, reinforced the stress points of work trousers with copper rivets. He and Levi Strauss patented the idea in 1873 — and blue jeans were born.</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ivet.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F29"/>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9BA3B2"/>
                </a:solidFill>
                <a:latin typeface="Calibri"/>
              </a:rPr>
              <a:t>Quiz Night · 16 June 2026 · Permanent Representation of Lithuania to the EU</a:t>
            </a:r>
          </a:p>
        </p:txBody>
      </p:sp>
      <p:sp>
        <p:nvSpPr>
          <p:cNvPr id="3" name="TextBox 2"/>
          <p:cNvSpPr txBox="1"/>
          <p:nvPr/>
        </p:nvSpPr>
        <p:spPr>
          <a:xfrm>
            <a:off x="1371600" y="1051560"/>
            <a:ext cx="9445752" cy="411480"/>
          </a:xfrm>
          <a:prstGeom prst="rect">
            <a:avLst/>
          </a:prstGeom>
          <a:noFill/>
        </p:spPr>
        <p:txBody>
          <a:bodyPr wrap="square" anchor="t" lIns="0" rIns="0" tIns="0" bIns="0">
            <a:spAutoFit/>
          </a:bodyPr>
          <a:lstStyle/>
          <a:p>
            <a:pPr algn="ctr"/>
            <a:r>
              <a:rPr sz="1700" b="1" i="0">
                <a:solidFill>
                  <a:srgbClr val="E8A33D"/>
                </a:solidFill>
                <a:latin typeface="Calibri"/>
              </a:rPr>
              <a:t>ROUND 2</a:t>
            </a:r>
          </a:p>
        </p:txBody>
      </p:sp>
      <p:sp>
        <p:nvSpPr>
          <p:cNvPr id="4" name="TextBox 3"/>
          <p:cNvSpPr txBox="1"/>
          <p:nvPr/>
        </p:nvSpPr>
        <p:spPr>
          <a:xfrm>
            <a:off x="731520" y="1554480"/>
            <a:ext cx="10725912" cy="1005840"/>
          </a:xfrm>
          <a:prstGeom prst="rect">
            <a:avLst/>
          </a:prstGeom>
          <a:noFill/>
        </p:spPr>
        <p:txBody>
          <a:bodyPr wrap="square" anchor="t" lIns="0" rIns="0" tIns="0" bIns="0">
            <a:spAutoFit/>
          </a:bodyPr>
          <a:lstStyle/>
          <a:p>
            <a:pPr algn="ctr"/>
            <a:r>
              <a:rPr sz="5200" b="1" i="0">
                <a:solidFill>
                  <a:srgbClr val="FFFFFF"/>
                </a:solidFill>
                <a:latin typeface="Calibri"/>
              </a:rPr>
              <a:t>Lithuania</a:t>
            </a:r>
          </a:p>
        </p:txBody>
      </p:sp>
      <p:sp>
        <p:nvSpPr>
          <p:cNvPr id="5" name="TextBox 4"/>
          <p:cNvSpPr txBox="1"/>
          <p:nvPr/>
        </p:nvSpPr>
        <p:spPr>
          <a:xfrm>
            <a:off x="1371600" y="2697480"/>
            <a:ext cx="9445752" cy="411480"/>
          </a:xfrm>
          <a:prstGeom prst="rect">
            <a:avLst/>
          </a:prstGeom>
          <a:noFill/>
        </p:spPr>
        <p:txBody>
          <a:bodyPr wrap="square" anchor="t" lIns="0" rIns="0" tIns="0" bIns="0">
            <a:spAutoFit/>
          </a:bodyPr>
          <a:lstStyle/>
          <a:p>
            <a:pPr algn="ctr"/>
            <a:r>
              <a:rPr sz="1600" b="0" i="0">
                <a:solidFill>
                  <a:srgbClr val="9BA3B2"/>
                </a:solidFill>
                <a:latin typeface="Calibri"/>
              </a:rPr>
              <a:t>8 questions · 1 point each</a:t>
            </a:r>
          </a:p>
        </p:txBody>
      </p:sp>
      <p:sp>
        <p:nvSpPr>
          <p:cNvPr id="6" name="Oval 5"/>
          <p:cNvSpPr/>
          <p:nvPr/>
        </p:nvSpPr>
        <p:spPr>
          <a:xfrm>
            <a:off x="344408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icrophone.png"/>
          <p:cNvPicPr>
            <a:picLocks noChangeAspect="1"/>
          </p:cNvPicPr>
          <p:nvPr/>
        </p:nvPicPr>
        <p:blipFill>
          <a:blip r:embed="rId2"/>
          <a:stretch>
            <a:fillRect/>
          </a:stretch>
        </p:blipFill>
        <p:spPr>
          <a:xfrm>
            <a:off x="3636111" y="3941064"/>
            <a:ext cx="987552" cy="987552"/>
          </a:xfrm>
          <a:prstGeom prst="rect">
            <a:avLst/>
          </a:prstGeom>
        </p:spPr>
      </p:pic>
      <p:sp>
        <p:nvSpPr>
          <p:cNvPr id="8" name="Oval 7"/>
          <p:cNvSpPr/>
          <p:nvPr/>
        </p:nvSpPr>
        <p:spPr>
          <a:xfrm>
            <a:off x="541004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ountain.png"/>
          <p:cNvPicPr>
            <a:picLocks noChangeAspect="1"/>
          </p:cNvPicPr>
          <p:nvPr/>
        </p:nvPicPr>
        <p:blipFill>
          <a:blip r:embed="rId3"/>
          <a:stretch>
            <a:fillRect/>
          </a:stretch>
        </p:blipFill>
        <p:spPr>
          <a:xfrm>
            <a:off x="5602071" y="3941064"/>
            <a:ext cx="987552" cy="987552"/>
          </a:xfrm>
          <a:prstGeom prst="rect">
            <a:avLst/>
          </a:prstGeom>
        </p:spPr>
      </p:pic>
      <p:sp>
        <p:nvSpPr>
          <p:cNvPr id="10" name="Oval 9"/>
          <p:cNvSpPr/>
          <p:nvPr/>
        </p:nvSpPr>
        <p:spPr>
          <a:xfrm>
            <a:off x="737600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oup.png"/>
          <p:cNvPicPr>
            <a:picLocks noChangeAspect="1"/>
          </p:cNvPicPr>
          <p:nvPr/>
        </p:nvPicPr>
        <p:blipFill>
          <a:blip r:embed="rId4"/>
          <a:stretch>
            <a:fillRect/>
          </a:stretch>
        </p:blipFill>
        <p:spPr>
          <a:xfrm>
            <a:off x="7568031" y="3941064"/>
            <a:ext cx="987552" cy="98755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1 OF 8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200" b="0" i="0">
                <a:solidFill>
                  <a:srgbClr val="1B1F29"/>
                </a:solidFill>
                <a:latin typeface="Calibri"/>
              </a:rPr>
              <a:t>Every year Lithuania plans to win Eurovision — although officially we never have.
In 2006, however, Lithuania tried a different strategy: entering a song that simply declared victory before the contest was even over.
What was the title of the song?</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icrophone.png"/>
          <p:cNvPicPr>
            <a:picLocks noChangeAspect="1"/>
          </p:cNvPicPr>
          <p:nvPr/>
        </p:nvPicPr>
        <p:blipFill>
          <a:blip r:embed="rId3"/>
          <a:stretch>
            <a:fillRect/>
          </a:stretch>
        </p:blipFill>
        <p:spPr>
          <a:xfrm>
            <a:off x="8933688" y="2258568"/>
            <a:ext cx="1975104" cy="1975104"/>
          </a:xfrm>
          <a:prstGeom prst="rect">
            <a:avLst/>
          </a:prstGeom>
        </p:spPr>
      </p:pic>
      <p:sp>
        <p:nvSpPr>
          <p:cNvPr id="8" name="Rounded Rectangle 7"/>
          <p:cNvSpPr/>
          <p:nvPr/>
        </p:nvSpPr>
        <p:spPr>
          <a:xfrm>
            <a:off x="640080" y="5440680"/>
            <a:ext cx="2331720" cy="420624"/>
          </a:xfrm>
          <a:prstGeom prst="roundRect">
            <a:avLst>
              <a:gd name="adj" fmla="val 50000"/>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Calibri"/>
              </a:rPr>
              <a:t>▶   Play the clip</a:t>
            </a:r>
          </a:p>
        </p:txBody>
      </p:sp>
      <p:sp>
        <p:nvSpPr>
          <p:cNvPr id="9" name="TextBox 8"/>
          <p:cNvSpPr txBox="1"/>
          <p:nvPr/>
        </p:nvSpPr>
        <p:spPr>
          <a:xfrm>
            <a:off x="3154680" y="5541264"/>
            <a:ext cx="5029200" cy="274320"/>
          </a:xfrm>
          <a:prstGeom prst="rect">
            <a:avLst/>
          </a:prstGeom>
          <a:noFill/>
        </p:spPr>
        <p:txBody>
          <a:bodyPr wrap="square" anchor="t" lIns="0" rIns="0" tIns="0" bIns="0">
            <a:spAutoFit/>
          </a:bodyPr>
          <a:lstStyle/>
          <a:p>
            <a:pPr algn="l"/>
            <a:r>
              <a:rPr sz="1200" b="0" i="0">
                <a:solidFill>
                  <a:srgbClr val="6E7582"/>
                </a:solidFill>
                <a:latin typeface="Calibri"/>
              </a:rPr>
              <a:t>youtube.com/watch?v=DBAdOlQPbwg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1</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“We Are The Winners”</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Honourable mention: Lithuanian-German singer Lena Valaitis took second place at Eurovision 1981 — proof that we keep looking for that victory by all possible means.</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rophy.png"/>
          <p:cNvPicPr>
            <a:picLocks noChangeAspect="1"/>
          </p:cNvPicPr>
          <p:nvPr/>
        </p:nvPicPr>
        <p:blipFill>
          <a:blip r:embed="rId3"/>
          <a:stretch>
            <a:fillRect/>
          </a:stretch>
        </p:blipFill>
        <p:spPr>
          <a:xfrm>
            <a:off x="8933688" y="2258568"/>
            <a:ext cx="1975104" cy="197510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2 OF 8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600" b="0" i="0">
                <a:solidFill>
                  <a:srgbClr val="1B1F29"/>
                </a:solidFill>
                <a:latin typeface="Calibri"/>
              </a:rPr>
              <a:t>Two Lithuanian mountaineers carried a symbolic national object to the summit of Mount Everest and scattered it from the world's highest peak.
What was it?</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imber.png"/>
          <p:cNvPicPr>
            <a:picLocks noChangeAspect="1"/>
          </p:cNvPicPr>
          <p:nvPr/>
        </p:nvPicPr>
        <p:blipFill>
          <a:blip r:embed="rId3"/>
          <a:stretch>
            <a:fillRect/>
          </a:stretch>
        </p:blipFill>
        <p:spPr>
          <a:xfrm>
            <a:off x="8933688" y="2258568"/>
            <a:ext cx="1975104" cy="197510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2</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Amber</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Vladas Vitkauskas (1995) and Saulius Vilius (2003) both carried Baltic amber to the top of the world and scattered it from the summit.</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ountain.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3 OF 8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200" b="0" i="0">
                <a:solidFill>
                  <a:srgbClr val="1B1F29"/>
                </a:solidFill>
                <a:latin typeface="Calibri"/>
              </a:rPr>
              <a:t>When Lithuanians learn about the interwar period, one statistic is proudly repeated in schools: in 1938, Lithuania ranked second in Europe in butter and bacon production — despite being one of the poorest countries on the continent.
Which country ranked first?</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utter.png"/>
          <p:cNvPicPr>
            <a:picLocks noChangeAspect="1"/>
          </p:cNvPicPr>
          <p:nvPr/>
        </p:nvPicPr>
        <p:blipFill>
          <a:blip r:embed="rId2"/>
          <a:stretch>
            <a:fillRect/>
          </a:stretch>
        </p:blipFill>
        <p:spPr>
          <a:xfrm>
            <a:off x="8933688" y="2258568"/>
            <a:ext cx="1975104" cy="1975104"/>
          </a:xfrm>
          <a:prstGeom prst="rect">
            <a:avLst/>
          </a:prstGeom>
        </p:spPr>
      </p:pic>
      <p:sp>
        <p:nvSpPr>
          <p:cNvPr id="8" name="TextBox 7"/>
          <p:cNvSpPr txBox="1"/>
          <p:nvPr/>
        </p:nvSpPr>
        <p:spPr>
          <a:xfrm>
            <a:off x="640080" y="5897880"/>
            <a:ext cx="10881360" cy="365760"/>
          </a:xfrm>
          <a:prstGeom prst="rect">
            <a:avLst/>
          </a:prstGeom>
          <a:noFill/>
        </p:spPr>
        <p:txBody>
          <a:bodyPr wrap="square" anchor="t" lIns="0" rIns="0" tIns="0" bIns="0">
            <a:spAutoFit/>
          </a:bodyPr>
          <a:lstStyle/>
          <a:p>
            <a:pPr algn="l"/>
            <a:r>
              <a:rPr sz="1400" b="1" i="0">
                <a:solidFill>
                  <a:srgbClr val="A86A14"/>
                </a:solidFill>
                <a:latin typeface="Calibri"/>
              </a:rPr>
              <a:t>Hint   </a:t>
            </a:r>
            <a:r>
              <a:rPr sz="1400" b="0" i="1">
                <a:solidFill>
                  <a:srgbClr val="6E7582"/>
                </a:solidFill>
                <a:latin typeface="Calibri"/>
              </a:rPr>
              <a:t>Think of a recent Council Presidency.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3</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Denmark</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A statistic still celebrated in Lithuanian classrooms. Denmark, for its part, no longer wants to be the EU's bacon factory — as Politico once put it.</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lag_dk.png"/>
          <p:cNvPicPr>
            <a:picLocks noChangeAspect="1"/>
          </p:cNvPicPr>
          <p:nvPr/>
        </p:nvPicPr>
        <p:blipFill>
          <a:blip r:embed="rId3"/>
          <a:stretch>
            <a:fillRect/>
          </a:stretch>
        </p:blipFill>
        <p:spPr>
          <a:xfrm>
            <a:off x="8933688" y="2258568"/>
            <a:ext cx="1975104" cy="197510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4 OF 8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600" b="0" i="0">
                <a:solidFill>
                  <a:srgbClr val="1B1F29"/>
                </a:solidFill>
                <a:latin typeface="Calibri"/>
              </a:rPr>
              <a:t>Across Europe people celebrate Midsummer with bonfires.
In Lithuania, one tradition involves searching for a mythical flower that supposedly blooms only on that night.
Which flower?</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onfire.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4</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The fern flower</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According to tradition, the fern blooms only on Midsummer night — whoever finds it gains happiness and wisdom. Botanists remain unconvinced.</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ern.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5 OF 8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600" b="0" i="0">
                <a:solidFill>
                  <a:srgbClr val="1B1F29"/>
                </a:solidFill>
                <a:latin typeface="Calibri"/>
              </a:rPr>
              <a:t>1918 was a big year for Lithuania — also for democracy.
Lithuanian women gained something that many women in Western Europe had to wait decades for.
What was it?</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rliament.png"/>
          <p:cNvPicPr>
            <a:picLocks noChangeAspect="1"/>
          </p:cNvPicPr>
          <p:nvPr/>
        </p:nvPicPr>
        <p:blipFill>
          <a:blip r:embed="rId3"/>
          <a:stretch>
            <a:fillRect/>
          </a:stretch>
        </p:blipFill>
        <p:spPr>
          <a:xfrm>
            <a:off x="8933688" y="2258568"/>
            <a:ext cx="1975104" cy="197510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5</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Voting rights</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Lithuanian women gained the vote on 2 November 1918, when the provisional constitution enshrined equal suffrage — ahead of much of Western Europe. A commemorative stamp marked the centenary.</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allot.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6 OF 8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400" b="0" i="0">
                <a:solidFill>
                  <a:srgbClr val="1B1F29"/>
                </a:solidFill>
                <a:latin typeface="Calibri"/>
              </a:rPr>
              <a:t>A 16th-century Lithuanian nobleman travelled through Egypt and bought several unusual souvenirs.
During a storm at sea, terrified sailors blamed the bad weather on them and threw them overboard.
What were the souvenirs?</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ave.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6</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Egyptian mummies</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Mikalojus Kristupas Radvila the Orphan brought two mummies back from his pilgrimage. When storms battered the ship, the crew blamed the cargo — and overboard they went. His travel diary became a European bestseller.</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mphora.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7 OF 8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200" b="0" i="0">
                <a:solidFill>
                  <a:srgbClr val="1B1F29"/>
                </a:solidFill>
                <a:latin typeface="Calibri"/>
              </a:rPr>
              <a:t>In a humorous Lithuanian promotional video from the early 2000s, traditional dishes such as cepelinai are discussed with the idea that they might one day become popular across Europe as street food.
The video reflects a moment when Lithuania was preparing for a major change. What event was approaching?</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umpling.png"/>
          <p:cNvPicPr>
            <a:picLocks noChangeAspect="1"/>
          </p:cNvPicPr>
          <p:nvPr/>
        </p:nvPicPr>
        <p:blipFill>
          <a:blip r:embed="rId3"/>
          <a:stretch>
            <a:fillRect/>
          </a:stretch>
        </p:blipFill>
        <p:spPr>
          <a:xfrm>
            <a:off x="8933688" y="2258568"/>
            <a:ext cx="1975104" cy="1975104"/>
          </a:xfrm>
          <a:prstGeom prst="rect">
            <a:avLst/>
          </a:prstGeom>
        </p:spPr>
      </p:pic>
      <p:sp>
        <p:nvSpPr>
          <p:cNvPr id="8" name="Rounded Rectangle 7"/>
          <p:cNvSpPr/>
          <p:nvPr/>
        </p:nvSpPr>
        <p:spPr>
          <a:xfrm>
            <a:off x="640080" y="5440680"/>
            <a:ext cx="2331720" cy="420624"/>
          </a:xfrm>
          <a:prstGeom prst="roundRect">
            <a:avLst>
              <a:gd name="adj" fmla="val 50000"/>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Calibri"/>
              </a:rPr>
              <a:t>▶   Play the clip</a:t>
            </a:r>
          </a:p>
        </p:txBody>
      </p:sp>
      <p:sp>
        <p:nvSpPr>
          <p:cNvPr id="9" name="TextBox 8"/>
          <p:cNvSpPr txBox="1"/>
          <p:nvPr/>
        </p:nvSpPr>
        <p:spPr>
          <a:xfrm>
            <a:off x="3154680" y="5541264"/>
            <a:ext cx="5029200" cy="274320"/>
          </a:xfrm>
          <a:prstGeom prst="rect">
            <a:avLst/>
          </a:prstGeom>
          <a:noFill/>
        </p:spPr>
        <p:txBody>
          <a:bodyPr wrap="square" anchor="t" lIns="0" rIns="0" tIns="0" bIns="0">
            <a:spAutoFit/>
          </a:bodyPr>
          <a:lstStyle/>
          <a:p>
            <a:pPr algn="l"/>
            <a:r>
              <a:rPr sz="1200" b="0" i="0">
                <a:solidFill>
                  <a:srgbClr val="6E7582"/>
                </a:solidFill>
                <a:latin typeface="Calibri"/>
              </a:rPr>
              <a:t>youtube.com/watch?v=YgvHcenDYcU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7</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400" b="1" i="0">
                <a:solidFill>
                  <a:srgbClr val="A86A14"/>
                </a:solidFill>
                <a:latin typeface="Calibri"/>
              </a:rPr>
              <a:t>Joining the European Union</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Lithuania joined the EU on 1 May 2004, in the largest enlargement in the Union's history — ten countries at once. The cepelinai street-food revolution is still pending.</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lag_eu.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8 OF 8 · 1 POINT</a:t>
            </a:r>
          </a:p>
        </p:txBody>
      </p:sp>
      <p:sp>
        <p:nvSpPr>
          <p:cNvPr id="5" name="Oval 4"/>
          <p:cNvSpPr/>
          <p:nvPr/>
        </p:nvSpPr>
        <p:spPr>
          <a:xfrm>
            <a:off x="10149840" y="10058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lossom.png"/>
          <p:cNvPicPr>
            <a:picLocks noChangeAspect="1"/>
          </p:cNvPicPr>
          <p:nvPr/>
        </p:nvPicPr>
        <p:blipFill>
          <a:blip r:embed="rId2"/>
          <a:stretch>
            <a:fillRect/>
          </a:stretch>
        </p:blipFill>
        <p:spPr>
          <a:xfrm>
            <a:off x="10341864" y="1197864"/>
            <a:ext cx="987552" cy="987552"/>
          </a:xfrm>
          <a:prstGeom prst="rect">
            <a:avLst/>
          </a:prstGeom>
        </p:spPr>
      </p:pic>
      <p:sp>
        <p:nvSpPr>
          <p:cNvPr id="7" name="TextBox 6"/>
          <p:cNvSpPr txBox="1"/>
          <p:nvPr/>
        </p:nvSpPr>
        <p:spPr>
          <a:xfrm>
            <a:off x="640080" y="1143000"/>
            <a:ext cx="9235440" cy="2194560"/>
          </a:xfrm>
          <a:prstGeom prst="rect">
            <a:avLst/>
          </a:prstGeom>
          <a:noFill/>
        </p:spPr>
        <p:txBody>
          <a:bodyPr wrap="square" anchor="t" lIns="0" rIns="0" tIns="0" bIns="0">
            <a:spAutoFit/>
          </a:bodyPr>
          <a:lstStyle/>
          <a:p>
            <a:pPr algn="l">
              <a:lnSpc>
                <a:spcPct val="112000"/>
              </a:lnSpc>
            </a:pPr>
            <a:r>
              <a:rPr sz="2600" b="0" i="0">
                <a:solidFill>
                  <a:srgbClr val="1B1F29"/>
                </a:solidFill>
                <a:latin typeface="Calibri"/>
              </a:rPr>
              <a:t>Pink is strongly associated with Lithuania because of a traditional summer dish.
Which dish?</a:t>
            </a:r>
          </a:p>
        </p:txBody>
      </p:sp>
      <p:sp>
        <p:nvSpPr>
          <p:cNvPr id="8" name="Rounded Rectangle 7"/>
          <p:cNvSpPr/>
          <p:nvPr/>
        </p:nvSpPr>
        <p:spPr>
          <a:xfrm>
            <a:off x="640080" y="324612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3502152"/>
            <a:ext cx="4754880" cy="411480"/>
          </a:xfrm>
          <a:prstGeom prst="rect">
            <a:avLst/>
          </a:prstGeom>
          <a:noFill/>
        </p:spPr>
        <p:txBody>
          <a:bodyPr wrap="square" anchor="t" lIns="0" rIns="0" tIns="0" bIns="0">
            <a:spAutoFit/>
          </a:bodyPr>
          <a:lstStyle/>
          <a:p>
            <a:pPr algn="l"/>
            <a:r>
              <a:rPr sz="1800" b="1" i="0">
                <a:solidFill>
                  <a:srgbClr val="A86A14"/>
                </a:solidFill>
                <a:latin typeface="Calibri"/>
              </a:rPr>
              <a:t>A    </a:t>
            </a:r>
            <a:r>
              <a:rPr sz="1800" b="0" i="0">
                <a:solidFill>
                  <a:srgbClr val="1B1F29"/>
                </a:solidFill>
                <a:latin typeface="Calibri"/>
              </a:rPr>
              <a:t>Cepelinai</a:t>
            </a:r>
          </a:p>
        </p:txBody>
      </p:sp>
      <p:sp>
        <p:nvSpPr>
          <p:cNvPr id="10" name="Rounded Rectangle 9"/>
          <p:cNvSpPr/>
          <p:nvPr/>
        </p:nvSpPr>
        <p:spPr>
          <a:xfrm>
            <a:off x="6199632" y="324612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3502152"/>
            <a:ext cx="4754880" cy="411480"/>
          </a:xfrm>
          <a:prstGeom prst="rect">
            <a:avLst/>
          </a:prstGeom>
          <a:noFill/>
        </p:spPr>
        <p:txBody>
          <a:bodyPr wrap="square" anchor="t" lIns="0" rIns="0" tIns="0" bIns="0">
            <a:spAutoFit/>
          </a:bodyPr>
          <a:lstStyle/>
          <a:p>
            <a:pPr algn="l"/>
            <a:r>
              <a:rPr sz="1800" b="1" i="0">
                <a:solidFill>
                  <a:srgbClr val="A86A14"/>
                </a:solidFill>
                <a:latin typeface="Calibri"/>
              </a:rPr>
              <a:t>B    </a:t>
            </a:r>
            <a:r>
              <a:rPr sz="1800" b="0" i="0">
                <a:solidFill>
                  <a:srgbClr val="1B1F29"/>
                </a:solidFill>
                <a:latin typeface="Calibri"/>
              </a:rPr>
              <a:t>Šakotis</a:t>
            </a:r>
          </a:p>
        </p:txBody>
      </p:sp>
      <p:sp>
        <p:nvSpPr>
          <p:cNvPr id="12" name="Rounded Rectangle 11"/>
          <p:cNvSpPr/>
          <p:nvPr/>
        </p:nvSpPr>
        <p:spPr>
          <a:xfrm>
            <a:off x="640080" y="434340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19" y="4599432"/>
            <a:ext cx="4754880" cy="411480"/>
          </a:xfrm>
          <a:prstGeom prst="rect">
            <a:avLst/>
          </a:prstGeom>
          <a:noFill/>
        </p:spPr>
        <p:txBody>
          <a:bodyPr wrap="square" anchor="t" lIns="0" rIns="0" tIns="0" bIns="0">
            <a:spAutoFit/>
          </a:bodyPr>
          <a:lstStyle/>
          <a:p>
            <a:pPr algn="l"/>
            <a:r>
              <a:rPr sz="1800" b="1" i="0">
                <a:solidFill>
                  <a:srgbClr val="A86A14"/>
                </a:solidFill>
                <a:latin typeface="Calibri"/>
              </a:rPr>
              <a:t>C    </a:t>
            </a:r>
            <a:r>
              <a:rPr sz="1800" b="0" i="0">
                <a:solidFill>
                  <a:srgbClr val="1B1F29"/>
                </a:solidFill>
                <a:latin typeface="Calibri"/>
              </a:rPr>
              <a:t>Šaltibarščiai</a:t>
            </a:r>
          </a:p>
        </p:txBody>
      </p:sp>
      <p:sp>
        <p:nvSpPr>
          <p:cNvPr id="14" name="Rounded Rectangle 13"/>
          <p:cNvSpPr/>
          <p:nvPr/>
        </p:nvSpPr>
        <p:spPr>
          <a:xfrm>
            <a:off x="6199632" y="4343400"/>
            <a:ext cx="5349240" cy="868680"/>
          </a:xfrm>
          <a:prstGeom prst="roundRect">
            <a:avLst>
              <a:gd name="adj" fmla="val 14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4599432"/>
            <a:ext cx="4754880" cy="411480"/>
          </a:xfrm>
          <a:prstGeom prst="rect">
            <a:avLst/>
          </a:prstGeom>
          <a:noFill/>
        </p:spPr>
        <p:txBody>
          <a:bodyPr wrap="square" anchor="t" lIns="0" rIns="0" tIns="0" bIns="0">
            <a:spAutoFit/>
          </a:bodyPr>
          <a:lstStyle/>
          <a:p>
            <a:pPr algn="l"/>
            <a:r>
              <a:rPr sz="1800" b="1" i="0">
                <a:solidFill>
                  <a:srgbClr val="A86A14"/>
                </a:solidFill>
                <a:latin typeface="Calibri"/>
              </a:rPr>
              <a:t>D    </a:t>
            </a:r>
            <a:r>
              <a:rPr sz="1800" b="0" i="0">
                <a:solidFill>
                  <a:srgbClr val="1B1F29"/>
                </a:solidFill>
                <a:latin typeface="Calibri"/>
              </a:rPr>
              <a:t>Kibinai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2 · LITHUANIA</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8</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C — Šaltibarščiai</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The electric-pink cold beet soup is Lithuania's unofficial summer flag — best served with hot potatoes and a sunny terrace.</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oup.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B1F29"/>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9BA3B2"/>
                </a:solidFill>
                <a:latin typeface="Calibri"/>
              </a:rPr>
              <a:t>Quiz Night · 16 June 2026 · Permanent Representation of Lithuania to the EU</a:t>
            </a:r>
          </a:p>
        </p:txBody>
      </p:sp>
      <p:sp>
        <p:nvSpPr>
          <p:cNvPr id="3" name="TextBox 2"/>
          <p:cNvSpPr txBox="1"/>
          <p:nvPr/>
        </p:nvSpPr>
        <p:spPr>
          <a:xfrm>
            <a:off x="1371600" y="1051560"/>
            <a:ext cx="9445752" cy="411480"/>
          </a:xfrm>
          <a:prstGeom prst="rect">
            <a:avLst/>
          </a:prstGeom>
          <a:noFill/>
        </p:spPr>
        <p:txBody>
          <a:bodyPr wrap="square" anchor="t" lIns="0" rIns="0" tIns="0" bIns="0">
            <a:spAutoFit/>
          </a:bodyPr>
          <a:lstStyle/>
          <a:p>
            <a:pPr algn="ctr"/>
            <a:r>
              <a:rPr sz="1700" b="1" i="0">
                <a:solidFill>
                  <a:srgbClr val="E8A33D"/>
                </a:solidFill>
                <a:latin typeface="Calibri"/>
              </a:rPr>
              <a:t>ROUND 3</a:t>
            </a:r>
          </a:p>
        </p:txBody>
      </p:sp>
      <p:sp>
        <p:nvSpPr>
          <p:cNvPr id="4" name="TextBox 3"/>
          <p:cNvSpPr txBox="1"/>
          <p:nvPr/>
        </p:nvSpPr>
        <p:spPr>
          <a:xfrm>
            <a:off x="731520" y="1554480"/>
            <a:ext cx="10725912" cy="1005840"/>
          </a:xfrm>
          <a:prstGeom prst="rect">
            <a:avLst/>
          </a:prstGeom>
          <a:noFill/>
        </p:spPr>
        <p:txBody>
          <a:bodyPr wrap="square" anchor="t" lIns="0" rIns="0" tIns="0" bIns="0">
            <a:spAutoFit/>
          </a:bodyPr>
          <a:lstStyle/>
          <a:p>
            <a:pPr algn="ctr"/>
            <a:r>
              <a:rPr sz="5200" b="1" i="0">
                <a:solidFill>
                  <a:srgbClr val="FFFFFF"/>
                </a:solidFill>
                <a:latin typeface="Calibri"/>
              </a:rPr>
              <a:t>Environment &amp; Nature</a:t>
            </a:r>
          </a:p>
        </p:txBody>
      </p:sp>
      <p:sp>
        <p:nvSpPr>
          <p:cNvPr id="5" name="TextBox 4"/>
          <p:cNvSpPr txBox="1"/>
          <p:nvPr/>
        </p:nvSpPr>
        <p:spPr>
          <a:xfrm>
            <a:off x="1371600" y="2697480"/>
            <a:ext cx="9445752" cy="411480"/>
          </a:xfrm>
          <a:prstGeom prst="rect">
            <a:avLst/>
          </a:prstGeom>
          <a:noFill/>
        </p:spPr>
        <p:txBody>
          <a:bodyPr wrap="square" anchor="t" lIns="0" rIns="0" tIns="0" bIns="0">
            <a:spAutoFit/>
          </a:bodyPr>
          <a:lstStyle/>
          <a:p>
            <a:pPr algn="ctr"/>
            <a:r>
              <a:rPr sz="1600" b="0" i="0">
                <a:solidFill>
                  <a:srgbClr val="9BA3B2"/>
                </a:solidFill>
                <a:latin typeface="Calibri"/>
              </a:rPr>
              <a:t>4 questions · 1 point each</a:t>
            </a:r>
          </a:p>
        </p:txBody>
      </p:sp>
      <p:sp>
        <p:nvSpPr>
          <p:cNvPr id="6" name="Oval 5"/>
          <p:cNvSpPr/>
          <p:nvPr/>
        </p:nvSpPr>
        <p:spPr>
          <a:xfrm>
            <a:off x="344408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eadphones.png"/>
          <p:cNvPicPr>
            <a:picLocks noChangeAspect="1"/>
          </p:cNvPicPr>
          <p:nvPr/>
        </p:nvPicPr>
        <p:blipFill>
          <a:blip r:embed="rId2"/>
          <a:stretch>
            <a:fillRect/>
          </a:stretch>
        </p:blipFill>
        <p:spPr>
          <a:xfrm>
            <a:off x="3636111" y="3941064"/>
            <a:ext cx="987552" cy="987552"/>
          </a:xfrm>
          <a:prstGeom prst="rect">
            <a:avLst/>
          </a:prstGeom>
        </p:spPr>
      </p:pic>
      <p:sp>
        <p:nvSpPr>
          <p:cNvPr id="8" name="Oval 7"/>
          <p:cNvSpPr/>
          <p:nvPr/>
        </p:nvSpPr>
        <p:spPr>
          <a:xfrm>
            <a:off x="541004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ern.png"/>
          <p:cNvPicPr>
            <a:picLocks noChangeAspect="1"/>
          </p:cNvPicPr>
          <p:nvPr/>
        </p:nvPicPr>
        <p:blipFill>
          <a:blip r:embed="rId3"/>
          <a:stretch>
            <a:fillRect/>
          </a:stretch>
        </p:blipFill>
        <p:spPr>
          <a:xfrm>
            <a:off x="5602071" y="3941064"/>
            <a:ext cx="987552" cy="987552"/>
          </a:xfrm>
          <a:prstGeom prst="rect">
            <a:avLst/>
          </a:prstGeom>
        </p:spPr>
      </p:pic>
      <p:sp>
        <p:nvSpPr>
          <p:cNvPr id="10" name="Oval 9"/>
          <p:cNvSpPr/>
          <p:nvPr/>
        </p:nvSpPr>
        <p:spPr>
          <a:xfrm>
            <a:off x="737600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eaver.png"/>
          <p:cNvPicPr>
            <a:picLocks noChangeAspect="1"/>
          </p:cNvPicPr>
          <p:nvPr/>
        </p:nvPicPr>
        <p:blipFill>
          <a:blip r:embed="rId4"/>
          <a:stretch>
            <a:fillRect/>
          </a:stretch>
        </p:blipFill>
        <p:spPr>
          <a:xfrm>
            <a:off x="7568031" y="3941064"/>
            <a:ext cx="987552" cy="98755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3 · ENVIRONMENT &amp; NATURE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1 OF 4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600" b="0" i="0">
                <a:solidFill>
                  <a:srgbClr val="1B1F29"/>
                </a:solidFill>
                <a:latin typeface="Calibri"/>
              </a:rPr>
              <a:t>In 2013 Metallica became the first band to perform on all seven continents.
During their Antarctic concert, the audience used 120 of what?</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uitar.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3 · ENVIRONMENT &amp; NATURE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1</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Headphones</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To comply with Antarctic environmental rules, the band played without amplifiers — the audience of about 120 listened through headphones. The concert was fittingly called “Freeze 'Em All”.</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eadphones.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3 · ENVIRONMENT &amp; NATURE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2 OF 4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400" b="0" i="0">
                <a:solidFill>
                  <a:srgbClr val="1B1F29"/>
                </a:solidFill>
                <a:latin typeface="Calibri"/>
              </a:rPr>
              <a:t>Three famous scientists — Birutė Galdikas, Dian Fossey and Jane Goodall — devoted their careers to studying these animals in the wild.
Collectively, they became known as the “Trimates”.
What group of animals are these?</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icroscope.png"/>
          <p:cNvPicPr>
            <a:picLocks noChangeAspect="1"/>
          </p:cNvPicPr>
          <p:nvPr/>
        </p:nvPicPr>
        <p:blipFill>
          <a:blip r:embed="rId3"/>
          <a:stretch>
            <a:fillRect/>
          </a:stretch>
        </p:blipFill>
        <p:spPr>
          <a:xfrm>
            <a:off x="8933688" y="2258568"/>
            <a:ext cx="1975104" cy="197510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3 · ENVIRONMENT &amp; NATURE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2</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Great apes</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Goodall (chimpanzees), Fossey (gorillas) and Galdikas (orangutans) were recruited by Louis Leakey — hence also “Leakey's Angels”. Galdikas, of Lithuanian descent, still works in Borneo. “Orangutan” means “person of the forest”.</a:t>
            </a:r>
          </a:p>
        </p:txBody>
      </p:sp>
      <p:sp>
        <p:nvSpPr>
          <p:cNvPr id="9" name="Oval 8"/>
          <p:cNvSpPr/>
          <p:nvPr/>
        </p:nvSpPr>
        <p:spPr>
          <a:xfrm>
            <a:off x="7964424" y="2660904"/>
            <a:ext cx="1170432" cy="1170432"/>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onkey.png"/>
          <p:cNvPicPr>
            <a:picLocks noChangeAspect="1"/>
          </p:cNvPicPr>
          <p:nvPr/>
        </p:nvPicPr>
        <p:blipFill>
          <a:blip r:embed="rId2"/>
          <a:stretch>
            <a:fillRect/>
          </a:stretch>
        </p:blipFill>
        <p:spPr>
          <a:xfrm>
            <a:off x="8128284" y="2824764"/>
            <a:ext cx="842711" cy="842711"/>
          </a:xfrm>
          <a:prstGeom prst="rect">
            <a:avLst/>
          </a:prstGeom>
        </p:spPr>
      </p:pic>
      <p:sp>
        <p:nvSpPr>
          <p:cNvPr id="11" name="Oval 10"/>
          <p:cNvSpPr/>
          <p:nvPr/>
        </p:nvSpPr>
        <p:spPr>
          <a:xfrm>
            <a:off x="9336024" y="2660904"/>
            <a:ext cx="1170432" cy="1170432"/>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orilla.png"/>
          <p:cNvPicPr>
            <a:picLocks noChangeAspect="1"/>
          </p:cNvPicPr>
          <p:nvPr/>
        </p:nvPicPr>
        <p:blipFill>
          <a:blip r:embed="rId3"/>
          <a:stretch>
            <a:fillRect/>
          </a:stretch>
        </p:blipFill>
        <p:spPr>
          <a:xfrm>
            <a:off x="9499884" y="2824764"/>
            <a:ext cx="842711" cy="842711"/>
          </a:xfrm>
          <a:prstGeom prst="rect">
            <a:avLst/>
          </a:prstGeom>
        </p:spPr>
      </p:pic>
      <p:sp>
        <p:nvSpPr>
          <p:cNvPr id="13" name="Oval 12"/>
          <p:cNvSpPr/>
          <p:nvPr/>
        </p:nvSpPr>
        <p:spPr>
          <a:xfrm>
            <a:off x="10707624" y="2660904"/>
            <a:ext cx="1170432" cy="1170432"/>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orangutan.png"/>
          <p:cNvPicPr>
            <a:picLocks noChangeAspect="1"/>
          </p:cNvPicPr>
          <p:nvPr/>
        </p:nvPicPr>
        <p:blipFill>
          <a:blip r:embed="rId4"/>
          <a:stretch>
            <a:fillRect/>
          </a:stretch>
        </p:blipFill>
        <p:spPr>
          <a:xfrm>
            <a:off x="10871484" y="2824764"/>
            <a:ext cx="842711" cy="842711"/>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3 · ENVIRONMENT &amp; NATURE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3 OF 4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600" b="0" i="0">
                <a:solidFill>
                  <a:srgbClr val="1B1F29"/>
                </a:solidFill>
                <a:latin typeface="Calibri"/>
              </a:rPr>
              <a:t>Which EU law unexpectedly entered the headlines after the deaths of four US soldiers, whose vehicle sank in a military training area near the Lithuanian–Belarusian border?</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ewspaper.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3 · ENVIRONMENT &amp; NATURE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3</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400" b="1" i="0">
                <a:solidFill>
                  <a:srgbClr val="A86A14"/>
                </a:solidFill>
                <a:latin typeface="Calibri"/>
              </a:rPr>
              <a:t>The Nature Restoration Law</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Commentary on the 2025 tragedy near Pabradė linked the swampy terrain to wetlands restored under EU environmental policy — putting the Nature Restoration Law unexpectedly in the news.</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cales.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3 · ENVIRONMENT &amp; NATURE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4 OF 4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600" b="0" i="0">
                <a:solidFill>
                  <a:srgbClr val="1B1F29"/>
                </a:solidFill>
                <a:latin typeface="Calibri"/>
              </a:rPr>
              <a:t>This animal is often called an “ecosystem engineer” because it creates wetlands that benefit countless other species.
What animal is it?</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ols.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ROUND 3 · ENVIRONMENT &amp; NATURE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4</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800" b="1" i="0">
                <a:solidFill>
                  <a:srgbClr val="A86A14"/>
                </a:solidFill>
                <a:latin typeface="Calibri"/>
              </a:rPr>
              <a:t>The beaver</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Beaver dams create wetlands that store water, filter pollution and host countless species. Lithuania's beaver population has grown from near extinction to one of the densest in Europe.</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eaver.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B1F29"/>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9BA3B2"/>
                </a:solidFill>
                <a:latin typeface="Calibri"/>
              </a:rPr>
              <a:t>Quiz Night · 16 June 2026 · Permanent Representation of Lithuania to the EU</a:t>
            </a:r>
          </a:p>
        </p:txBody>
      </p:sp>
      <p:sp>
        <p:nvSpPr>
          <p:cNvPr id="3" name="TextBox 2"/>
          <p:cNvSpPr txBox="1"/>
          <p:nvPr/>
        </p:nvSpPr>
        <p:spPr>
          <a:xfrm>
            <a:off x="1371600" y="1051560"/>
            <a:ext cx="9445752" cy="411480"/>
          </a:xfrm>
          <a:prstGeom prst="rect">
            <a:avLst/>
          </a:prstGeom>
          <a:noFill/>
        </p:spPr>
        <p:txBody>
          <a:bodyPr wrap="square" anchor="t" lIns="0" rIns="0" tIns="0" bIns="0">
            <a:spAutoFit/>
          </a:bodyPr>
          <a:lstStyle/>
          <a:p>
            <a:pPr algn="ctr"/>
            <a:r>
              <a:rPr sz="1700" b="1" i="0">
                <a:solidFill>
                  <a:srgbClr val="E8A33D"/>
                </a:solidFill>
                <a:latin typeface="Calibri"/>
              </a:rPr>
              <a:t>BONUS ROUND</a:t>
            </a:r>
          </a:p>
        </p:txBody>
      </p:sp>
      <p:sp>
        <p:nvSpPr>
          <p:cNvPr id="4" name="TextBox 3"/>
          <p:cNvSpPr txBox="1"/>
          <p:nvPr/>
        </p:nvSpPr>
        <p:spPr>
          <a:xfrm>
            <a:off x="731520" y="1554480"/>
            <a:ext cx="10725912" cy="1005840"/>
          </a:xfrm>
          <a:prstGeom prst="rect">
            <a:avLst/>
          </a:prstGeom>
          <a:noFill/>
        </p:spPr>
        <p:txBody>
          <a:bodyPr wrap="square" anchor="t" lIns="0" rIns="0" tIns="0" bIns="0">
            <a:spAutoFit/>
          </a:bodyPr>
          <a:lstStyle/>
          <a:p>
            <a:pPr algn="ctr"/>
            <a:r>
              <a:rPr sz="5200" b="1" i="0">
                <a:solidFill>
                  <a:srgbClr val="FFFFFF"/>
                </a:solidFill>
                <a:latin typeface="Calibri"/>
              </a:rPr>
              <a:t>The Brussels Bubble</a:t>
            </a:r>
          </a:p>
        </p:txBody>
      </p:sp>
      <p:sp>
        <p:nvSpPr>
          <p:cNvPr id="5" name="TextBox 4"/>
          <p:cNvSpPr txBox="1"/>
          <p:nvPr/>
        </p:nvSpPr>
        <p:spPr>
          <a:xfrm>
            <a:off x="1371600" y="2697480"/>
            <a:ext cx="9445752" cy="411480"/>
          </a:xfrm>
          <a:prstGeom prst="rect">
            <a:avLst/>
          </a:prstGeom>
          <a:noFill/>
        </p:spPr>
        <p:txBody>
          <a:bodyPr wrap="square" anchor="t" lIns="0" rIns="0" tIns="0" bIns="0">
            <a:spAutoFit/>
          </a:bodyPr>
          <a:lstStyle/>
          <a:p>
            <a:pPr algn="ctr"/>
            <a:r>
              <a:rPr sz="1600" b="0" i="0">
                <a:solidFill>
                  <a:srgbClr val="9BA3B2"/>
                </a:solidFill>
                <a:latin typeface="Calibri"/>
              </a:rPr>
              <a:t>Insider questions · for those who were in the room</a:t>
            </a:r>
          </a:p>
        </p:txBody>
      </p:sp>
      <p:sp>
        <p:nvSpPr>
          <p:cNvPr id="6" name="Oval 5"/>
          <p:cNvSpPr/>
          <p:nvPr/>
        </p:nvSpPr>
        <p:spPr>
          <a:xfrm>
            <a:off x="344408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cycle.png"/>
          <p:cNvPicPr>
            <a:picLocks noChangeAspect="1"/>
          </p:cNvPicPr>
          <p:nvPr/>
        </p:nvPicPr>
        <p:blipFill>
          <a:blip r:embed="rId3"/>
          <a:stretch>
            <a:fillRect/>
          </a:stretch>
        </p:blipFill>
        <p:spPr>
          <a:xfrm>
            <a:off x="3636111" y="3941064"/>
            <a:ext cx="987552" cy="987552"/>
          </a:xfrm>
          <a:prstGeom prst="rect">
            <a:avLst/>
          </a:prstGeom>
        </p:spPr>
      </p:pic>
      <p:sp>
        <p:nvSpPr>
          <p:cNvPr id="8" name="Oval 7"/>
          <p:cNvSpPr/>
          <p:nvPr/>
        </p:nvSpPr>
        <p:spPr>
          <a:xfrm>
            <a:off x="541004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eech.png"/>
          <p:cNvPicPr>
            <a:picLocks noChangeAspect="1"/>
          </p:cNvPicPr>
          <p:nvPr/>
        </p:nvPicPr>
        <p:blipFill>
          <a:blip r:embed="rId4"/>
          <a:stretch>
            <a:fillRect/>
          </a:stretch>
        </p:blipFill>
        <p:spPr>
          <a:xfrm>
            <a:off x="5602071" y="3941064"/>
            <a:ext cx="987552" cy="987552"/>
          </a:xfrm>
          <a:prstGeom prst="rect">
            <a:avLst/>
          </a:prstGeom>
        </p:spPr>
      </p:pic>
      <p:sp>
        <p:nvSpPr>
          <p:cNvPr id="10" name="Oval 9"/>
          <p:cNvSpPr/>
          <p:nvPr/>
        </p:nvSpPr>
        <p:spPr>
          <a:xfrm>
            <a:off x="7376007" y="3749040"/>
            <a:ext cx="1371600" cy="13716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ip.png"/>
          <p:cNvPicPr>
            <a:picLocks noChangeAspect="1"/>
          </p:cNvPicPr>
          <p:nvPr/>
        </p:nvPicPr>
        <p:blipFill>
          <a:blip r:embed="rId5"/>
          <a:stretch>
            <a:fillRect/>
          </a:stretch>
        </p:blipFill>
        <p:spPr>
          <a:xfrm>
            <a:off x="7568031" y="3941064"/>
            <a:ext cx="987552" cy="987552"/>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BONUS · THE BRUSSELS BUBBLE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1 OF 3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600" b="0" i="0">
                <a:solidFill>
                  <a:srgbClr val="1B1F29"/>
                </a:solidFill>
                <a:latin typeface="Calibri"/>
              </a:rPr>
              <a:t>During negotiations on which file did Violeta Dragu (Romania) say:
“I have never seen Lithuania being so active during the negotiations”?</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peech.png"/>
          <p:cNvPicPr>
            <a:picLocks noChangeAspect="1"/>
          </p:cNvPicPr>
          <p:nvPr/>
        </p:nvPicPr>
        <p:blipFill>
          <a:blip r:embed="rId3"/>
          <a:stretch>
            <a:fillRect/>
          </a:stretch>
        </p:blipFill>
        <p:spPr>
          <a:xfrm>
            <a:off x="8933688" y="2258568"/>
            <a:ext cx="1975104" cy="1975104"/>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BONUS · THE BRUSSELS BUBBLE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1</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400" b="1" i="0">
                <a:solidFill>
                  <a:srgbClr val="A86A14"/>
                </a:solidFill>
                <a:latin typeface="Calibri"/>
              </a:rPr>
              <a:t>The Waste Framework Directive</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cycle.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BONUS · THE BRUSSELS BUBBLE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2 OF 3 · 2 POINTS</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300" b="0" i="0">
                <a:solidFill>
                  <a:srgbClr val="1B1F29"/>
                </a:solidFill>
                <a:latin typeface="Calibri"/>
              </a:rPr>
              <a:t>During a Coreper I meeting, the Council was split on a legislative file, with both sides carefully counting votes.
The Deputy Permanent Representative of Lithuania intervened and said… what?
And which file was being discussed?</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bacus.png"/>
          <p:cNvPicPr>
            <a:picLocks noChangeAspect="1"/>
          </p:cNvPicPr>
          <p:nvPr/>
        </p:nvPicPr>
        <p:blipFill>
          <a:blip r:embed="rId3"/>
          <a:stretch>
            <a:fillRect/>
          </a:stretch>
        </p:blipFill>
        <p:spPr>
          <a:xfrm>
            <a:off x="8933688" y="2258568"/>
            <a:ext cx="1975104" cy="1975104"/>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BONUS · THE BRUSSELS BUBBLE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2</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000" b="1" i="0">
                <a:solidFill>
                  <a:srgbClr val="A86A14"/>
                </a:solidFill>
                <a:latin typeface="Calibri"/>
              </a:rPr>
              <a:t>“Scrutiny reservation” — on the Nature Restoration Law</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and.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BONUS · THE BRUSSELS BUBBLE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QUESTION 3 OF 3 · 1 POINT</a:t>
            </a:r>
          </a:p>
        </p:txBody>
      </p:sp>
      <p:sp>
        <p:nvSpPr>
          <p:cNvPr id="5" name="TextBox 4"/>
          <p:cNvSpPr txBox="1"/>
          <p:nvPr/>
        </p:nvSpPr>
        <p:spPr>
          <a:xfrm>
            <a:off x="640080" y="1417320"/>
            <a:ext cx="7223760" cy="4023360"/>
          </a:xfrm>
          <a:prstGeom prst="rect">
            <a:avLst/>
          </a:prstGeom>
          <a:noFill/>
        </p:spPr>
        <p:txBody>
          <a:bodyPr wrap="square" anchor="t" lIns="0" rIns="0" tIns="0" bIns="0">
            <a:spAutoFit/>
          </a:bodyPr>
          <a:lstStyle/>
          <a:p>
            <a:pPr algn="l">
              <a:lnSpc>
                <a:spcPct val="115000"/>
              </a:lnSpc>
            </a:pPr>
            <a:r>
              <a:rPr sz="2200" b="0" i="0">
                <a:solidFill>
                  <a:srgbClr val="1B1F29"/>
                </a:solidFill>
                <a:latin typeface="Calibri"/>
              </a:rPr>
              <a:t>1985: Lithuanian, Latvian and Estonian dissidents organised the Peace and Freedom Cruise aboard the ship Baltic Star — sailing from Stockholm along the edge of Soviet territorial waters and ending with a widely reported demonstration in Helsinki.
The Soviet Union tried to derail the voyage. What did it do?</a:t>
            </a:r>
          </a:p>
        </p:txBody>
      </p:sp>
      <p:sp>
        <p:nvSpPr>
          <p:cNvPr id="6" name="Oval 5"/>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p.png"/>
          <p:cNvPicPr>
            <a:picLocks noChangeAspect="1"/>
          </p:cNvPicPr>
          <p:nvPr/>
        </p:nvPicPr>
        <p:blipFill>
          <a:blip r:embed="rId3"/>
          <a:stretch>
            <a:fillRect/>
          </a:stretch>
        </p:blipFill>
        <p:spPr>
          <a:xfrm>
            <a:off x="8933688" y="2258568"/>
            <a:ext cx="1975104" cy="1975104"/>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6E7582"/>
                </a:solidFill>
                <a:latin typeface="Calibri"/>
              </a:rPr>
              <a:t>Quiz Night · 16 June 2026 · Permanent Representation of Lithuania to the EU</a:t>
            </a:r>
          </a:p>
        </p:txBody>
      </p:sp>
      <p:sp>
        <p:nvSpPr>
          <p:cNvPr id="3" name="TextBox 2"/>
          <p:cNvSpPr txBox="1"/>
          <p:nvPr/>
        </p:nvSpPr>
        <p:spPr>
          <a:xfrm>
            <a:off x="640080" y="502920"/>
            <a:ext cx="7772400" cy="320040"/>
          </a:xfrm>
          <a:prstGeom prst="rect">
            <a:avLst/>
          </a:prstGeom>
          <a:noFill/>
        </p:spPr>
        <p:txBody>
          <a:bodyPr wrap="square" anchor="t" lIns="0" rIns="0" tIns="0" bIns="0">
            <a:spAutoFit/>
          </a:bodyPr>
          <a:lstStyle/>
          <a:p>
            <a:pPr algn="l"/>
            <a:r>
              <a:rPr sz="1300" b="1" i="0">
                <a:solidFill>
                  <a:srgbClr val="A86A14"/>
                </a:solidFill>
                <a:latin typeface="Calibri"/>
              </a:rPr>
              <a:t>BONUS · THE BRUSSELS BUBBLE</a:t>
            </a:r>
          </a:p>
        </p:txBody>
      </p:sp>
      <p:sp>
        <p:nvSpPr>
          <p:cNvPr id="4" name="TextBox 3"/>
          <p:cNvSpPr txBox="1"/>
          <p:nvPr/>
        </p:nvSpPr>
        <p:spPr>
          <a:xfrm>
            <a:off x="8412480" y="502920"/>
            <a:ext cx="3136392" cy="320040"/>
          </a:xfrm>
          <a:prstGeom prst="rect">
            <a:avLst/>
          </a:prstGeom>
          <a:noFill/>
        </p:spPr>
        <p:txBody>
          <a:bodyPr wrap="square" anchor="t" lIns="0" rIns="0" tIns="0" bIns="0">
            <a:spAutoFit/>
          </a:bodyPr>
          <a:lstStyle/>
          <a:p>
            <a:pPr algn="r"/>
            <a:r>
              <a:rPr sz="1300" b="1" i="0">
                <a:solidFill>
                  <a:srgbClr val="6E7582"/>
                </a:solidFill>
                <a:latin typeface="Calibri"/>
              </a:rPr>
              <a:t>ANSWER · QUESTION 3</a:t>
            </a:r>
          </a:p>
        </p:txBody>
      </p:sp>
      <p:sp>
        <p:nvSpPr>
          <p:cNvPr id="5" name="TextBox 4"/>
          <p:cNvSpPr txBox="1"/>
          <p:nvPr/>
        </p:nvSpPr>
        <p:spPr>
          <a:xfrm>
            <a:off x="640080" y="1325880"/>
            <a:ext cx="7680960" cy="1554480"/>
          </a:xfrm>
          <a:prstGeom prst="rect">
            <a:avLst/>
          </a:prstGeom>
          <a:noFill/>
        </p:spPr>
        <p:txBody>
          <a:bodyPr wrap="square" anchor="t" lIns="0" rIns="0" tIns="0" bIns="0">
            <a:spAutoFit/>
          </a:bodyPr>
          <a:lstStyle/>
          <a:p>
            <a:pPr algn="l">
              <a:lnSpc>
                <a:spcPct val="105000"/>
              </a:lnSpc>
            </a:pPr>
            <a:r>
              <a:rPr sz="3200" b="1" i="0">
                <a:solidFill>
                  <a:srgbClr val="A86A14"/>
                </a:solidFill>
                <a:latin typeface="Calibri"/>
              </a:rPr>
              <a:t>A rumour that a bomb was on board</a:t>
            </a:r>
          </a:p>
        </p:txBody>
      </p:sp>
      <p:sp>
        <p:nvSpPr>
          <p:cNvPr id="6" name="Rounded Rectangle 5"/>
          <p:cNvSpPr/>
          <p:nvPr/>
        </p:nvSpPr>
        <p:spPr>
          <a:xfrm>
            <a:off x="640080" y="3337560"/>
            <a:ext cx="7223760" cy="2697480"/>
          </a:xfrm>
          <a:prstGeom prst="roundRect">
            <a:avLst>
              <a:gd name="adj" fmla="val 7000"/>
            </a:avLst>
          </a:prstGeom>
          <a:solidFill>
            <a:srgbClr val="F5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611879"/>
            <a:ext cx="6583680" cy="274320"/>
          </a:xfrm>
          <a:prstGeom prst="rect">
            <a:avLst/>
          </a:prstGeom>
          <a:noFill/>
        </p:spPr>
        <p:txBody>
          <a:bodyPr wrap="square" anchor="t" lIns="0" rIns="0" tIns="0" bIns="0">
            <a:spAutoFit/>
          </a:bodyPr>
          <a:lstStyle/>
          <a:p>
            <a:pPr algn="l"/>
            <a:r>
              <a:rPr sz="1250" b="1" i="0">
                <a:solidFill>
                  <a:srgbClr val="A86A14"/>
                </a:solidFill>
                <a:latin typeface="Calibri"/>
              </a:rPr>
              <a:t>DID YOU KNOW?</a:t>
            </a:r>
          </a:p>
        </p:txBody>
      </p:sp>
      <p:sp>
        <p:nvSpPr>
          <p:cNvPr id="8" name="TextBox 7"/>
          <p:cNvSpPr txBox="1"/>
          <p:nvPr/>
        </p:nvSpPr>
        <p:spPr>
          <a:xfrm>
            <a:off x="960119" y="3995928"/>
            <a:ext cx="6583680" cy="1783080"/>
          </a:xfrm>
          <a:prstGeom prst="rect">
            <a:avLst/>
          </a:prstGeom>
          <a:noFill/>
        </p:spPr>
        <p:txBody>
          <a:bodyPr wrap="square" anchor="t" lIns="0" rIns="0" tIns="0" bIns="0">
            <a:spAutoFit/>
          </a:bodyPr>
          <a:lstStyle/>
          <a:p>
            <a:pPr algn="l">
              <a:lnSpc>
                <a:spcPct val="115000"/>
              </a:lnSpc>
            </a:pPr>
            <a:r>
              <a:rPr sz="1600" b="0" i="0">
                <a:solidFill>
                  <a:srgbClr val="1B1F29"/>
                </a:solidFill>
                <a:latin typeface="Calibri"/>
              </a:rPr>
              <a:t>The rumour failed: the cruise went ahead, and the Helsinki demonstration was reported across the Scandinavian and wider European press — a loud reminder that the Baltic states had not been forgotten.</a:t>
            </a:r>
          </a:p>
        </p:txBody>
      </p:sp>
      <p:sp>
        <p:nvSpPr>
          <p:cNvPr id="9" name="Oval 8"/>
          <p:cNvSpPr/>
          <p:nvPr/>
        </p:nvSpPr>
        <p:spPr>
          <a:xfrm>
            <a:off x="8549640" y="1874520"/>
            <a:ext cx="2743200" cy="274320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newspaper.png"/>
          <p:cNvPicPr>
            <a:picLocks noChangeAspect="1"/>
          </p:cNvPicPr>
          <p:nvPr/>
        </p:nvPicPr>
        <p:blipFill>
          <a:blip r:embed="rId2"/>
          <a:stretch>
            <a:fillRect/>
          </a:stretch>
        </p:blipFill>
        <p:spPr>
          <a:xfrm>
            <a:off x="8933688" y="2258568"/>
            <a:ext cx="1975104" cy="1975104"/>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B1F29"/>
        </a:solidFill>
        <a:effectLst/>
      </p:bgPr>
    </p:bg>
    <p:spTree>
      <p:nvGrpSpPr>
        <p:cNvPr id="1" name=""/>
        <p:cNvGrpSpPr/>
        <p:nvPr/>
      </p:nvGrpSpPr>
      <p:grpSpPr/>
      <p:sp>
        <p:nvSpPr>
          <p:cNvPr id="2" name="TextBox 1"/>
          <p:cNvSpPr txBox="1"/>
          <p:nvPr/>
        </p:nvSpPr>
        <p:spPr>
          <a:xfrm>
            <a:off x="640080" y="6473952"/>
            <a:ext cx="9144000" cy="274320"/>
          </a:xfrm>
          <a:prstGeom prst="rect">
            <a:avLst/>
          </a:prstGeom>
          <a:noFill/>
        </p:spPr>
        <p:txBody>
          <a:bodyPr wrap="square" anchor="t" lIns="0" rIns="0" tIns="0" bIns="0">
            <a:spAutoFit/>
          </a:bodyPr>
          <a:lstStyle/>
          <a:p>
            <a:pPr algn="l"/>
            <a:r>
              <a:rPr sz="950" b="0" i="0">
                <a:solidFill>
                  <a:srgbClr val="9BA3B2"/>
                </a:solidFill>
                <a:latin typeface="Calibri"/>
              </a:rPr>
              <a:t>Quiz Night · 16 June 2026 · Permanent Representation of Lithuania to the EU</a:t>
            </a:r>
          </a:p>
        </p:txBody>
      </p:sp>
      <p:sp>
        <p:nvSpPr>
          <p:cNvPr id="3" name="Oval 2"/>
          <p:cNvSpPr/>
          <p:nvPr/>
        </p:nvSpPr>
        <p:spPr>
          <a:xfrm>
            <a:off x="5227167" y="1234440"/>
            <a:ext cx="1737360" cy="1737360"/>
          </a:xfrm>
          <a:prstGeom prst="ellipse">
            <a:avLst/>
          </a:prstGeom>
          <a:solidFill>
            <a:srgbClr val="F5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ophy.png"/>
          <p:cNvPicPr>
            <a:picLocks noChangeAspect="1"/>
          </p:cNvPicPr>
          <p:nvPr/>
        </p:nvPicPr>
        <p:blipFill>
          <a:blip r:embed="rId3"/>
          <a:stretch>
            <a:fillRect/>
          </a:stretch>
        </p:blipFill>
        <p:spPr>
          <a:xfrm>
            <a:off x="5470397" y="1477670"/>
            <a:ext cx="1250899" cy="1250899"/>
          </a:xfrm>
          <a:prstGeom prst="rect">
            <a:avLst/>
          </a:prstGeom>
        </p:spPr>
      </p:pic>
      <p:sp>
        <p:nvSpPr>
          <p:cNvPr id="5" name="TextBox 4"/>
          <p:cNvSpPr txBox="1"/>
          <p:nvPr/>
        </p:nvSpPr>
        <p:spPr>
          <a:xfrm>
            <a:off x="1371600" y="3383280"/>
            <a:ext cx="9445752" cy="914400"/>
          </a:xfrm>
          <a:prstGeom prst="rect">
            <a:avLst/>
          </a:prstGeom>
          <a:noFill/>
        </p:spPr>
        <p:txBody>
          <a:bodyPr wrap="square" anchor="t" lIns="0" rIns="0" tIns="0" bIns="0">
            <a:spAutoFit/>
          </a:bodyPr>
          <a:lstStyle/>
          <a:p>
            <a:pPr algn="ctr"/>
            <a:r>
              <a:rPr sz="4800" b="1" i="0">
                <a:solidFill>
                  <a:srgbClr val="FFFFFF"/>
                </a:solidFill>
                <a:latin typeface="Calibri"/>
              </a:rPr>
              <a:t>THANK YOU FOR PLAYING</a:t>
            </a:r>
          </a:p>
        </p:txBody>
      </p:sp>
      <p:sp>
        <p:nvSpPr>
          <p:cNvPr id="6" name="TextBox 5"/>
          <p:cNvSpPr txBox="1"/>
          <p:nvPr/>
        </p:nvSpPr>
        <p:spPr>
          <a:xfrm>
            <a:off x="1371600" y="4389120"/>
            <a:ext cx="9445752" cy="457200"/>
          </a:xfrm>
          <a:prstGeom prst="rect">
            <a:avLst/>
          </a:prstGeom>
          <a:noFill/>
        </p:spPr>
        <p:txBody>
          <a:bodyPr wrap="square" anchor="t" lIns="0" rIns="0" tIns="0" bIns="0">
            <a:spAutoFit/>
          </a:bodyPr>
          <a:lstStyle/>
          <a:p>
            <a:pPr algn="ctr"/>
            <a:r>
              <a:rPr sz="1900" b="0" i="0">
                <a:solidFill>
                  <a:srgbClr val="E8A33D"/>
                </a:solidFill>
                <a:latin typeface="Calibri"/>
              </a:rPr>
              <a:t>Time to count the points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