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embeddedFontLst>
    <p:embeddedFont>
      <p:font typeface="Montserrat" pitchFamily="34" charset="0"/>
      <p:regular r:id="rIdFont1"/>
      <p:bold r:id="rIdFont2"/>
      <p:italic r:id="rIdFont3"/>
    </p:embeddedFont>
    <p:embeddedFont>
      <p:font typeface="Montserrat Black" pitchFamily="34" charset="0"/>
      <p:regular r:id="rIdFont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notes: welcome everyone and explain the team draw — slips with names of Lithuanian rivers and lakes at the door.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assignment: everyone draws a slip when entering — the slips carry names of Lithuanian rivers and lakes.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https://www.theguardian.com/business/2016/may/04/500-euro-banknote-could-be-scrapped-crime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video: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https://www.youtube.com/watch?v=DBAdOlQPbwg — decide which part of the clip to show. Option: move this question to a music/visual 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Lena Valaitis as a fun fact, not a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full story and the exact years out loud; keep the slide short.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Politico: “Denmark no longer wants to be EU bacon factory”.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 version: show the centenary stamp (with some details removed) and ask what occasion it marks. Stamp: https://manoteises.lt/straipsnis/isleidziamas-pasto-zenklas-moteru-balsavimo-simtmeciui-lietuvoje-pamineti/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https://www.youtube.com/watch?v=YgvHcenDYcU — add English subtitles to the clip. Consider whether to keep “early 2000s” in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extra questions: the CBAM question about nails (still needs wording — a funny one); The Schumann Show about the institutions: https://www.youtube.com/watch?v=D0fBh-0Eiy0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be made multiple choice to make it easier — or harder, by also asking what the problem was.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hint: give the exact date — the 14 June Coreper I (or the earlier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per Tomas Venclova, Aleksandras Štromas was the cruise's spiritus movens; the Baltic Tribunal also took place in 1985. Keep names off the slide. Ship photo: Wikimedia Commons (M/S Birger Jarl, sailed as Baltic Star).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points and announce the winning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TextBox 2"/>
          <p:cNvSpPr txBox="1"/>
          <p:nvPr/>
        </p:nvSpPr>
        <p:spPr>
          <a:xfrm>
            <a:off x="9509760" y="0"/>
            <a:ext cx="2377440" cy="3108960"/>
          </a:xfrm>
          <a:prstGeom prst="rect">
            <a:avLst/>
          </a:prstGeom>
          <a:noFill/>
        </p:spPr>
        <p:txBody>
          <a:bodyPr wrap="square" anchor="t" lIns="0" rIns="0" tIns="0" bIns="0">
            <a:spAutoFit/>
          </a:bodyPr>
          <a:lstStyle/>
          <a:p>
            <a:pPr algn="r"/>
            <a:r>
              <a:rPr sz="23000" b="0" i="0">
                <a:solidFill>
                  <a:srgbClr val="322C19"/>
                </a:solidFill>
                <a:latin typeface="Montserrat Black"/>
              </a:rPr>
              <a:t>?</a:t>
            </a:r>
          </a:p>
        </p:txBody>
      </p:sp>
      <p:sp>
        <p:nvSpPr>
          <p:cNvPr id="4" name="TextBox 3"/>
          <p:cNvSpPr txBox="1"/>
          <p:nvPr/>
        </p:nvSpPr>
        <p:spPr>
          <a:xfrm>
            <a:off x="137160" y="4892040"/>
            <a:ext cx="2103120" cy="1965960"/>
          </a:xfrm>
          <a:prstGeom prst="rect">
            <a:avLst/>
          </a:prstGeom>
          <a:noFill/>
        </p:spPr>
        <p:txBody>
          <a:bodyPr wrap="square" anchor="t" lIns="0" rIns="0" tIns="0" bIns="0">
            <a:spAutoFit/>
          </a:bodyPr>
          <a:lstStyle/>
          <a:p>
            <a:pPr algn="l"/>
            <a:r>
              <a:rPr sz="19000" b="0" i="0">
                <a:solidFill>
                  <a:srgbClr val="322C19"/>
                </a:solidFill>
                <a:latin typeface="Montserrat Black"/>
              </a:rPr>
              <a:t>?</a:t>
            </a:r>
          </a:p>
        </p:txBody>
      </p:sp>
      <p:sp>
        <p:nvSpPr>
          <p:cNvPr id="5" name="TextBox 4"/>
          <p:cNvSpPr txBox="1"/>
          <p:nvPr/>
        </p:nvSpPr>
        <p:spPr>
          <a:xfrm>
            <a:off x="731520" y="2011680"/>
            <a:ext cx="10725912" cy="411480"/>
          </a:xfrm>
          <a:prstGeom prst="rect">
            <a:avLst/>
          </a:prstGeom>
          <a:noFill/>
        </p:spPr>
        <p:txBody>
          <a:bodyPr wrap="square" anchor="t" lIns="0" rIns="0" tIns="0" bIns="0">
            <a:spAutoFit/>
          </a:bodyPr>
          <a:lstStyle/>
          <a:p>
            <a:pPr algn="ctr"/>
            <a:r>
              <a:rPr sz="1600" b="1" i="0">
                <a:solidFill>
                  <a:srgbClr val="FFC92E"/>
                </a:solidFill>
                <a:latin typeface="Montserrat"/>
              </a:rPr>
              <a:t>BRUSSELS · 16 JUNE 2026</a:t>
            </a:r>
          </a:p>
        </p:txBody>
      </p:sp>
      <p:sp>
        <p:nvSpPr>
          <p:cNvPr id="6" name="TextBox 5"/>
          <p:cNvSpPr txBox="1"/>
          <p:nvPr/>
        </p:nvSpPr>
        <p:spPr>
          <a:xfrm>
            <a:off x="365760" y="2468880"/>
            <a:ext cx="11457432" cy="1508760"/>
          </a:xfrm>
          <a:prstGeom prst="rect">
            <a:avLst/>
          </a:prstGeom>
          <a:noFill/>
        </p:spPr>
        <p:txBody>
          <a:bodyPr wrap="square" anchor="t" lIns="0" rIns="0" tIns="0" bIns="0">
            <a:spAutoFit/>
          </a:bodyPr>
          <a:lstStyle/>
          <a:p>
            <a:pPr algn="ctr"/>
            <a:r>
              <a:rPr sz="9200" b="0" i="0">
                <a:solidFill>
                  <a:srgbClr val="FFFFFF"/>
                </a:solidFill>
                <a:latin typeface="Montserrat Black"/>
              </a:rPr>
              <a:t>TRIVIA NIGHT</a:t>
            </a:r>
          </a:p>
        </p:txBody>
      </p:sp>
      <p:sp>
        <p:nvSpPr>
          <p:cNvPr id="7" name="Rectangle 6"/>
          <p:cNvSpPr/>
          <p:nvPr/>
        </p:nvSpPr>
        <p:spPr>
          <a:xfrm>
            <a:off x="4472787" y="4206240"/>
            <a:ext cx="960120" cy="128016"/>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15787" y="4206240"/>
            <a:ext cx="960120" cy="128016"/>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58787" y="4206240"/>
            <a:ext cx="960120" cy="128016"/>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526280"/>
            <a:ext cx="9445752" cy="822960"/>
          </a:xfrm>
          <a:prstGeom prst="rect">
            <a:avLst/>
          </a:prstGeom>
          <a:noFill/>
        </p:spPr>
        <p:txBody>
          <a:bodyPr wrap="square" anchor="t" lIns="0" rIns="0" tIns="0" bIns="0">
            <a:spAutoFit/>
          </a:bodyPr>
          <a:lstStyle/>
          <a:p>
            <a:pPr algn="ctr">
              <a:lnSpc>
                <a:spcPct val="130000"/>
              </a:lnSpc>
            </a:pPr>
            <a:r>
              <a:rPr sz="1600" b="0" i="0">
                <a:solidFill>
                  <a:srgbClr val="959EAF"/>
                </a:solidFill>
                <a:latin typeface="Montserrat"/>
              </a:rPr>
              <a:t>Permanent Representation of Lithuania to the European Union</a:t>
            </a:r>
          </a:p>
          <a:p>
            <a:pPr algn="ctr">
              <a:lnSpc>
                <a:spcPct val="130000"/>
              </a:lnSpc>
            </a:pPr>
            <a:r>
              <a:rPr sz="1600" b="1" i="0">
                <a:solidFill>
                  <a:srgbClr val="DDE2EB"/>
                </a:solidFill>
                <a:latin typeface="Montserrat"/>
              </a:rPr>
              <a:t>Environment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TextBox 2"/>
          <p:cNvSpPr txBox="1"/>
          <p:nvPr/>
        </p:nvSpPr>
        <p:spPr>
          <a:xfrm>
            <a:off x="640080" y="548640"/>
            <a:ext cx="10972800" cy="777240"/>
          </a:xfrm>
          <a:prstGeom prst="rect">
            <a:avLst/>
          </a:prstGeom>
          <a:noFill/>
        </p:spPr>
        <p:txBody>
          <a:bodyPr wrap="square" anchor="t" lIns="0" rIns="0" tIns="0" bIns="0">
            <a:spAutoFit/>
          </a:bodyPr>
          <a:lstStyle/>
          <a:p>
            <a:pPr algn="l"/>
            <a:r>
              <a:rPr sz="3800" b="0" i="0">
                <a:solidFill>
                  <a:srgbClr val="FFFFFF"/>
                </a:solidFill>
                <a:latin typeface="Montserrat Black"/>
              </a:rPr>
              <a:t>HOW TONIGHT WORKS</a:t>
            </a:r>
          </a:p>
        </p:txBody>
      </p:sp>
      <p:sp>
        <p:nvSpPr>
          <p:cNvPr id="4" name="Rectangle 3"/>
          <p:cNvSpPr/>
          <p:nvPr/>
        </p:nvSpPr>
        <p:spPr>
          <a:xfrm>
            <a:off x="640080" y="1737360"/>
            <a:ext cx="5212080" cy="1874519"/>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64008" cy="1874519"/>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8700" y="2144268"/>
            <a:ext cx="1051560" cy="105156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ams.png"/>
          <p:cNvPicPr>
            <a:picLocks noChangeAspect="1"/>
          </p:cNvPicPr>
          <p:nvPr/>
        </p:nvPicPr>
        <p:blipFill>
          <a:blip r:embed="rId3"/>
          <a:stretch>
            <a:fillRect/>
          </a:stretch>
        </p:blipFill>
        <p:spPr>
          <a:xfrm>
            <a:off x="1175918" y="2291486"/>
            <a:ext cx="757123" cy="757123"/>
          </a:xfrm>
          <a:prstGeom prst="rect">
            <a:avLst/>
          </a:prstGeom>
        </p:spPr>
      </p:pic>
      <p:sp>
        <p:nvSpPr>
          <p:cNvPr id="8" name="TextBox 7"/>
          <p:cNvSpPr txBox="1"/>
          <p:nvPr/>
        </p:nvSpPr>
        <p:spPr>
          <a:xfrm>
            <a:off x="2331720" y="2084831"/>
            <a:ext cx="3337560" cy="384048"/>
          </a:xfrm>
          <a:prstGeom prst="rect">
            <a:avLst/>
          </a:prstGeom>
          <a:noFill/>
        </p:spPr>
        <p:txBody>
          <a:bodyPr wrap="square" anchor="t" lIns="0" rIns="0" tIns="0" bIns="0">
            <a:spAutoFit/>
          </a:bodyPr>
          <a:lstStyle/>
          <a:p>
            <a:pPr algn="l"/>
            <a:r>
              <a:rPr sz="1700" b="1" i="0">
                <a:solidFill>
                  <a:srgbClr val="7BA7FF"/>
                </a:solidFill>
                <a:latin typeface="Montserrat"/>
              </a:rPr>
              <a:t>TEAMS</a:t>
            </a:r>
          </a:p>
        </p:txBody>
      </p:sp>
      <p:sp>
        <p:nvSpPr>
          <p:cNvPr id="9" name="TextBox 8"/>
          <p:cNvSpPr txBox="1"/>
          <p:nvPr/>
        </p:nvSpPr>
        <p:spPr>
          <a:xfrm>
            <a:off x="2331720" y="2514600"/>
            <a:ext cx="3337560" cy="960120"/>
          </a:xfrm>
          <a:prstGeom prst="rect">
            <a:avLst/>
          </a:prstGeom>
          <a:noFill/>
        </p:spPr>
        <p:txBody>
          <a:bodyPr wrap="square" anchor="t" lIns="0" rIns="0" tIns="0" bIns="0">
            <a:spAutoFit/>
          </a:bodyPr>
          <a:lstStyle/>
          <a:p>
            <a:pPr algn="l">
              <a:lnSpc>
                <a:spcPct val="110000"/>
              </a:lnSpc>
            </a:pPr>
            <a:r>
              <a:rPr sz="1450" b="0" i="0">
                <a:solidFill>
                  <a:srgbClr val="DDE2EB"/>
                </a:solidFill>
                <a:latin typeface="Montserrat"/>
              </a:rPr>
              <a:t>Draw a slip at the door — the river or lake on it is your team.</a:t>
            </a:r>
          </a:p>
        </p:txBody>
      </p:sp>
      <p:sp>
        <p:nvSpPr>
          <p:cNvPr id="10" name="Rectangle 9"/>
          <p:cNvSpPr/>
          <p:nvPr/>
        </p:nvSpPr>
        <p:spPr>
          <a:xfrm>
            <a:off x="6355080" y="1737360"/>
            <a:ext cx="5212080" cy="1874519"/>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737360"/>
            <a:ext cx="64008" cy="1874519"/>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43700" y="2144268"/>
            <a:ext cx="1051560" cy="105156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rget.png"/>
          <p:cNvPicPr>
            <a:picLocks noChangeAspect="1"/>
          </p:cNvPicPr>
          <p:nvPr/>
        </p:nvPicPr>
        <p:blipFill>
          <a:blip r:embed="rId4"/>
          <a:stretch>
            <a:fillRect/>
          </a:stretch>
        </p:blipFill>
        <p:spPr>
          <a:xfrm>
            <a:off x="6890918" y="2291486"/>
            <a:ext cx="757123" cy="757123"/>
          </a:xfrm>
          <a:prstGeom prst="rect">
            <a:avLst/>
          </a:prstGeom>
        </p:spPr>
      </p:pic>
      <p:sp>
        <p:nvSpPr>
          <p:cNvPr id="14" name="TextBox 13"/>
          <p:cNvSpPr txBox="1"/>
          <p:nvPr/>
        </p:nvSpPr>
        <p:spPr>
          <a:xfrm>
            <a:off x="8046720" y="2084831"/>
            <a:ext cx="3337560" cy="384048"/>
          </a:xfrm>
          <a:prstGeom prst="rect">
            <a:avLst/>
          </a:prstGeom>
          <a:noFill/>
        </p:spPr>
        <p:txBody>
          <a:bodyPr wrap="square" anchor="t" lIns="0" rIns="0" tIns="0" bIns="0">
            <a:spAutoFit/>
          </a:bodyPr>
          <a:lstStyle/>
          <a:p>
            <a:pPr algn="l"/>
            <a:r>
              <a:rPr sz="1700" b="1" i="0">
                <a:solidFill>
                  <a:srgbClr val="FFC92E"/>
                </a:solidFill>
                <a:latin typeface="Montserrat"/>
              </a:rPr>
              <a:t>ROUNDS</a:t>
            </a:r>
          </a:p>
        </p:txBody>
      </p:sp>
      <p:sp>
        <p:nvSpPr>
          <p:cNvPr id="15" name="TextBox 14"/>
          <p:cNvSpPr txBox="1"/>
          <p:nvPr/>
        </p:nvSpPr>
        <p:spPr>
          <a:xfrm>
            <a:off x="8046720" y="2514600"/>
            <a:ext cx="3337560" cy="960120"/>
          </a:xfrm>
          <a:prstGeom prst="rect">
            <a:avLst/>
          </a:prstGeom>
          <a:noFill/>
        </p:spPr>
        <p:txBody>
          <a:bodyPr wrap="square" anchor="t" lIns="0" rIns="0" tIns="0" bIns="0">
            <a:spAutoFit/>
          </a:bodyPr>
          <a:lstStyle/>
          <a:p>
            <a:pPr algn="l">
              <a:lnSpc>
                <a:spcPct val="110000"/>
              </a:lnSpc>
            </a:pPr>
            <a:r>
              <a:rPr sz="1450" b="0" i="0">
                <a:solidFill>
                  <a:srgbClr val="DDE2EB"/>
                </a:solidFill>
                <a:latin typeface="Montserrat"/>
              </a:rPr>
              <a:t>Three rounds plus a bonus round. One point per question unless marked otherwise.</a:t>
            </a:r>
          </a:p>
        </p:txBody>
      </p:sp>
      <p:sp>
        <p:nvSpPr>
          <p:cNvPr id="16" name="Rectangle 15"/>
          <p:cNvSpPr/>
          <p:nvPr/>
        </p:nvSpPr>
        <p:spPr>
          <a:xfrm>
            <a:off x="640080" y="3977639"/>
            <a:ext cx="5212080" cy="1874519"/>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977639"/>
            <a:ext cx="64008" cy="1874519"/>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28700" y="4384547"/>
            <a:ext cx="1051560" cy="105156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emo.png"/>
          <p:cNvPicPr>
            <a:picLocks noChangeAspect="1"/>
          </p:cNvPicPr>
          <p:nvPr/>
        </p:nvPicPr>
        <p:blipFill>
          <a:blip r:embed="rId5"/>
          <a:stretch>
            <a:fillRect/>
          </a:stretch>
        </p:blipFill>
        <p:spPr>
          <a:xfrm>
            <a:off x="1175918" y="4531765"/>
            <a:ext cx="757123" cy="757123"/>
          </a:xfrm>
          <a:prstGeom prst="rect">
            <a:avLst/>
          </a:prstGeom>
        </p:spPr>
      </p:pic>
      <p:sp>
        <p:nvSpPr>
          <p:cNvPr id="20" name="TextBox 19"/>
          <p:cNvSpPr txBox="1"/>
          <p:nvPr/>
        </p:nvSpPr>
        <p:spPr>
          <a:xfrm>
            <a:off x="2331720" y="4325112"/>
            <a:ext cx="3337560" cy="384048"/>
          </a:xfrm>
          <a:prstGeom prst="rect">
            <a:avLst/>
          </a:prstGeom>
          <a:noFill/>
        </p:spPr>
        <p:txBody>
          <a:bodyPr wrap="square" anchor="t" lIns="0" rIns="0" tIns="0" bIns="0">
            <a:spAutoFit/>
          </a:bodyPr>
          <a:lstStyle/>
          <a:p>
            <a:pPr algn="l"/>
            <a:r>
              <a:rPr sz="1700" b="1" i="0">
                <a:solidFill>
                  <a:srgbClr val="46D290"/>
                </a:solidFill>
                <a:latin typeface="Montserrat"/>
              </a:rPr>
              <a:t>ANSWERS</a:t>
            </a:r>
          </a:p>
        </p:txBody>
      </p:sp>
      <p:sp>
        <p:nvSpPr>
          <p:cNvPr id="21" name="TextBox 20"/>
          <p:cNvSpPr txBox="1"/>
          <p:nvPr/>
        </p:nvSpPr>
        <p:spPr>
          <a:xfrm>
            <a:off x="2331720" y="4754879"/>
            <a:ext cx="3337560" cy="960120"/>
          </a:xfrm>
          <a:prstGeom prst="rect">
            <a:avLst/>
          </a:prstGeom>
          <a:noFill/>
        </p:spPr>
        <p:txBody>
          <a:bodyPr wrap="square" anchor="t" lIns="0" rIns="0" tIns="0" bIns="0">
            <a:spAutoFit/>
          </a:bodyPr>
          <a:lstStyle/>
          <a:p>
            <a:pPr algn="l">
              <a:lnSpc>
                <a:spcPct val="110000"/>
              </a:lnSpc>
            </a:pPr>
            <a:r>
              <a:rPr sz="1450" b="0" i="0">
                <a:solidFill>
                  <a:srgbClr val="DDE2EB"/>
                </a:solidFill>
                <a:latin typeface="Montserrat"/>
              </a:rPr>
              <a:t>Write your answers down — we reveal and score after each round.</a:t>
            </a:r>
          </a:p>
        </p:txBody>
      </p:sp>
      <p:sp>
        <p:nvSpPr>
          <p:cNvPr id="22" name="Rectangle 21"/>
          <p:cNvSpPr/>
          <p:nvPr/>
        </p:nvSpPr>
        <p:spPr>
          <a:xfrm>
            <a:off x="6355080" y="3977639"/>
            <a:ext cx="5212080" cy="1874519"/>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3977639"/>
            <a:ext cx="64008" cy="1874519"/>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43700" y="4384547"/>
            <a:ext cx="1051560" cy="105156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no_phone.png"/>
          <p:cNvPicPr>
            <a:picLocks noChangeAspect="1"/>
          </p:cNvPicPr>
          <p:nvPr/>
        </p:nvPicPr>
        <p:blipFill>
          <a:blip r:embed="rId6"/>
          <a:stretch>
            <a:fillRect/>
          </a:stretch>
        </p:blipFill>
        <p:spPr>
          <a:xfrm>
            <a:off x="6890918" y="4531765"/>
            <a:ext cx="757123" cy="757123"/>
          </a:xfrm>
          <a:prstGeom prst="rect">
            <a:avLst/>
          </a:prstGeom>
        </p:spPr>
      </p:pic>
      <p:sp>
        <p:nvSpPr>
          <p:cNvPr id="26" name="TextBox 25"/>
          <p:cNvSpPr txBox="1"/>
          <p:nvPr/>
        </p:nvSpPr>
        <p:spPr>
          <a:xfrm>
            <a:off x="8046720" y="4325112"/>
            <a:ext cx="3337560" cy="384048"/>
          </a:xfrm>
          <a:prstGeom prst="rect">
            <a:avLst/>
          </a:prstGeom>
          <a:noFill/>
        </p:spPr>
        <p:txBody>
          <a:bodyPr wrap="square" anchor="t" lIns="0" rIns="0" tIns="0" bIns="0">
            <a:spAutoFit/>
          </a:bodyPr>
          <a:lstStyle/>
          <a:p>
            <a:pPr algn="l"/>
            <a:r>
              <a:rPr sz="1700" b="1" i="0">
                <a:solidFill>
                  <a:srgbClr val="FF7061"/>
                </a:solidFill>
                <a:latin typeface="Montserrat"/>
              </a:rPr>
              <a:t>FAIR PLAY</a:t>
            </a:r>
          </a:p>
        </p:txBody>
      </p:sp>
      <p:sp>
        <p:nvSpPr>
          <p:cNvPr id="27" name="TextBox 26"/>
          <p:cNvSpPr txBox="1"/>
          <p:nvPr/>
        </p:nvSpPr>
        <p:spPr>
          <a:xfrm>
            <a:off x="8046720" y="4754879"/>
            <a:ext cx="3337560" cy="960120"/>
          </a:xfrm>
          <a:prstGeom prst="rect">
            <a:avLst/>
          </a:prstGeom>
          <a:noFill/>
        </p:spPr>
        <p:txBody>
          <a:bodyPr wrap="square" anchor="t" lIns="0" rIns="0" tIns="0" bIns="0">
            <a:spAutoFit/>
          </a:bodyPr>
          <a:lstStyle/>
          <a:p>
            <a:pPr algn="l">
              <a:lnSpc>
                <a:spcPct val="110000"/>
              </a:lnSpc>
            </a:pPr>
            <a:r>
              <a:rPr sz="1450" b="0" i="0">
                <a:solidFill>
                  <a:srgbClr val="DDE2EB"/>
                </a:solidFill>
                <a:latin typeface="Montserrat"/>
              </a:rPr>
              <a:t>No phones. Diplomatic immunity does not cover googling.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328C"/>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8498C6"/>
                </a:solidFill>
                <a:latin typeface="Montserrat"/>
              </a:rPr>
              <a:t>Trivia Night · 16 June 2026 · Permanent Representation of Lithuania to the EU</a:t>
            </a:r>
          </a:p>
        </p:txBody>
      </p:sp>
      <p:sp>
        <p:nvSpPr>
          <p:cNvPr id="3" name="TextBox 2"/>
          <p:cNvSpPr txBox="1"/>
          <p:nvPr/>
        </p:nvSpPr>
        <p:spPr>
          <a:xfrm>
            <a:off x="6217920" y="1828800"/>
            <a:ext cx="5330952" cy="5029200"/>
          </a:xfrm>
          <a:prstGeom prst="rect">
            <a:avLst/>
          </a:prstGeom>
          <a:noFill/>
        </p:spPr>
        <p:txBody>
          <a:bodyPr wrap="square" anchor="b" lIns="0" rIns="0" tIns="0" bIns="0">
            <a:spAutoFit/>
          </a:bodyPr>
          <a:lstStyle/>
          <a:p>
            <a:pPr algn="r"/>
            <a:r>
              <a:rPr sz="30000" b="0" i="0">
                <a:solidFill>
                  <a:srgbClr val="2F519D"/>
                </a:solidFill>
                <a:latin typeface="Montserrat Black"/>
              </a:rPr>
              <a:t>1</a:t>
            </a:r>
          </a:p>
        </p:txBody>
      </p:sp>
      <p:sp>
        <p:nvSpPr>
          <p:cNvPr id="4" name="TextBox 3"/>
          <p:cNvSpPr txBox="1"/>
          <p:nvPr/>
        </p:nvSpPr>
        <p:spPr>
          <a:xfrm>
            <a:off x="822960" y="1325880"/>
            <a:ext cx="9144000" cy="411480"/>
          </a:xfrm>
          <a:prstGeom prst="rect">
            <a:avLst/>
          </a:prstGeom>
          <a:noFill/>
        </p:spPr>
        <p:txBody>
          <a:bodyPr wrap="square" anchor="t" lIns="0" rIns="0" tIns="0" bIns="0">
            <a:spAutoFit/>
          </a:bodyPr>
          <a:lstStyle/>
          <a:p>
            <a:pPr algn="l"/>
            <a:r>
              <a:rPr sz="1700" b="1" i="0">
                <a:solidFill>
                  <a:srgbClr val="CED6E8"/>
                </a:solidFill>
                <a:latin typeface="Montserrat"/>
              </a:rPr>
              <a:t>ROUND 1</a:t>
            </a:r>
          </a:p>
        </p:txBody>
      </p:sp>
      <p:sp>
        <p:nvSpPr>
          <p:cNvPr id="5" name="TextBox 4"/>
          <p:cNvSpPr txBox="1"/>
          <p:nvPr/>
        </p:nvSpPr>
        <p:spPr>
          <a:xfrm>
            <a:off x="822960" y="1828800"/>
            <a:ext cx="10515600" cy="2103120"/>
          </a:xfrm>
          <a:prstGeom prst="rect">
            <a:avLst/>
          </a:prstGeom>
          <a:noFill/>
        </p:spPr>
        <p:txBody>
          <a:bodyPr wrap="square" anchor="t" lIns="0" rIns="0" tIns="0" bIns="0">
            <a:spAutoFit/>
          </a:bodyPr>
          <a:lstStyle/>
          <a:p>
            <a:pPr algn="l">
              <a:lnSpc>
                <a:spcPct val="102000"/>
              </a:lnSpc>
            </a:pPr>
            <a:r>
              <a:rPr sz="5400" b="0" i="0">
                <a:solidFill>
                  <a:srgbClr val="FFFFFF"/>
                </a:solidFill>
                <a:latin typeface="Montserrat Black"/>
              </a:rPr>
              <a:t>EUROPE &amp; FUN FACTS</a:t>
            </a:r>
          </a:p>
        </p:txBody>
      </p:sp>
      <p:sp>
        <p:nvSpPr>
          <p:cNvPr id="6" name="TextBox 5"/>
          <p:cNvSpPr txBox="1"/>
          <p:nvPr/>
        </p:nvSpPr>
        <p:spPr>
          <a:xfrm>
            <a:off x="822960" y="4114800"/>
            <a:ext cx="9144000" cy="411480"/>
          </a:xfrm>
          <a:prstGeom prst="rect">
            <a:avLst/>
          </a:prstGeom>
          <a:noFill/>
        </p:spPr>
        <p:txBody>
          <a:bodyPr wrap="square" anchor="t" lIns="0" rIns="0" tIns="0" bIns="0">
            <a:spAutoFit/>
          </a:bodyPr>
          <a:lstStyle/>
          <a:p>
            <a:pPr algn="l"/>
            <a:r>
              <a:rPr sz="1700" b="1" i="0">
                <a:solidFill>
                  <a:srgbClr val="C2CCE2"/>
                </a:solidFill>
                <a:latin typeface="Montserrat"/>
              </a:rPr>
              <a:t>Multiple choice · 6 questions · 1 point each</a:t>
            </a:r>
          </a:p>
        </p:txBody>
      </p:sp>
      <p:sp>
        <p:nvSpPr>
          <p:cNvPr id="7" name="Rectangle 6"/>
          <p:cNvSpPr/>
          <p:nvPr/>
        </p:nvSpPr>
        <p:spPr>
          <a:xfrm>
            <a:off x="8229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lobe.png"/>
          <p:cNvPicPr>
            <a:picLocks noChangeAspect="1"/>
          </p:cNvPicPr>
          <p:nvPr/>
        </p:nvPicPr>
        <p:blipFill>
          <a:blip r:embed="rId2"/>
          <a:stretch>
            <a:fillRect/>
          </a:stretch>
        </p:blipFill>
        <p:spPr>
          <a:xfrm>
            <a:off x="963778" y="5124298"/>
            <a:ext cx="724204" cy="724204"/>
          </a:xfrm>
          <a:prstGeom prst="rect">
            <a:avLst/>
          </a:prstGeom>
        </p:spPr>
      </p:pic>
      <p:sp>
        <p:nvSpPr>
          <p:cNvPr id="9" name="Rectangle 8"/>
          <p:cNvSpPr/>
          <p:nvPr/>
        </p:nvSpPr>
        <p:spPr>
          <a:xfrm>
            <a:off x="21945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uro_note.png"/>
          <p:cNvPicPr>
            <a:picLocks noChangeAspect="1"/>
          </p:cNvPicPr>
          <p:nvPr/>
        </p:nvPicPr>
        <p:blipFill>
          <a:blip r:embed="rId3"/>
          <a:stretch>
            <a:fillRect/>
          </a:stretch>
        </p:blipFill>
        <p:spPr>
          <a:xfrm>
            <a:off x="2335378" y="5124298"/>
            <a:ext cx="724204" cy="724204"/>
          </a:xfrm>
          <a:prstGeom prst="rect">
            <a:avLst/>
          </a:prstGeom>
        </p:spPr>
      </p:pic>
      <p:sp>
        <p:nvSpPr>
          <p:cNvPr id="11" name="Rectangle 10"/>
          <p:cNvSpPr/>
          <p:nvPr/>
        </p:nvSpPr>
        <p:spPr>
          <a:xfrm>
            <a:off x="35661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jeans.png"/>
          <p:cNvPicPr>
            <a:picLocks noChangeAspect="1"/>
          </p:cNvPicPr>
          <p:nvPr/>
        </p:nvPicPr>
        <p:blipFill>
          <a:blip r:embed="rId4"/>
          <a:stretch>
            <a:fillRect/>
          </a:stretch>
        </p:blipFill>
        <p:spPr>
          <a:xfrm>
            <a:off x="3706978" y="5124298"/>
            <a:ext cx="724204" cy="72420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1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1</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600" b="1" i="0">
                <a:solidFill>
                  <a:srgbClr val="FFFFFF"/>
                </a:solidFill>
                <a:latin typeface="Montserrat"/>
              </a:rPr>
              <a:t>Which European island changes sovereignty every six months?</a:t>
            </a:r>
          </a:p>
        </p:txBody>
      </p:sp>
      <p:sp>
        <p:nvSpPr>
          <p:cNvPr id="8" name="Rectangle 7"/>
          <p:cNvSpPr/>
          <p:nvPr/>
        </p:nvSpPr>
        <p:spPr>
          <a:xfrm>
            <a:off x="640080"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Heligoland</a:t>
            </a:r>
          </a:p>
        </p:txBody>
      </p:sp>
      <p:sp>
        <p:nvSpPr>
          <p:cNvPr id="11" name="Rectangle 10"/>
          <p:cNvSpPr/>
          <p:nvPr/>
        </p:nvSpPr>
        <p:spPr>
          <a:xfrm>
            <a:off x="6199632"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Pheasant Island</a:t>
            </a:r>
          </a:p>
        </p:txBody>
      </p:sp>
      <p:sp>
        <p:nvSpPr>
          <p:cNvPr id="14" name="Rectangle 13"/>
          <p:cNvSpPr/>
          <p:nvPr/>
        </p:nvSpPr>
        <p:spPr>
          <a:xfrm>
            <a:off x="640080"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Jersey</a:t>
            </a:r>
          </a:p>
        </p:txBody>
      </p:sp>
      <p:sp>
        <p:nvSpPr>
          <p:cNvPr id="17" name="Rectangle 16"/>
          <p:cNvSpPr/>
          <p:nvPr/>
        </p:nvSpPr>
        <p:spPr>
          <a:xfrm>
            <a:off x="6199632"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Bornholm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1</a:t>
            </a:r>
          </a:p>
        </p:txBody>
      </p:sp>
      <p:pic>
        <p:nvPicPr>
          <p:cNvPr id="6" name="Picture 5" descr="pheasant_island.jpg"/>
          <p:cNvPicPr>
            <a:picLocks noChangeAspect="1"/>
          </p:cNvPicPr>
          <p:nvPr/>
        </p:nvPicPr>
        <p:blipFill>
          <a:blip r:embed="rId2"/>
          <a:stretch>
            <a:fillRect/>
          </a:stretch>
        </p:blipFill>
        <p:spPr>
          <a:xfrm>
            <a:off x="7040880" y="2053459"/>
            <a:ext cx="5111495" cy="2495048"/>
          </a:xfrm>
          <a:prstGeom prst="rect">
            <a:avLst/>
          </a:prstGeom>
          <a:ln w="15875">
            <a:solidFill>
              <a:srgbClr val="7BA7FF"/>
            </a:solidFill>
          </a:ln>
          <a:effectLst/>
        </p:spPr>
      </p:pic>
      <p:sp>
        <p:nvSpPr>
          <p:cNvPr id="7" name="TextBox 6"/>
          <p:cNvSpPr txBox="1"/>
          <p:nvPr/>
        </p:nvSpPr>
        <p:spPr>
          <a:xfrm>
            <a:off x="7040880" y="4612516"/>
            <a:ext cx="4967935" cy="274320"/>
          </a:xfrm>
          <a:prstGeom prst="rect">
            <a:avLst/>
          </a:prstGeom>
          <a:noFill/>
        </p:spPr>
        <p:txBody>
          <a:bodyPr wrap="square" anchor="t" lIns="0" rIns="0" tIns="0" bIns="0">
            <a:spAutoFit/>
          </a:bodyPr>
          <a:lstStyle/>
          <a:p>
            <a:pPr algn="r"/>
            <a:r>
              <a:rPr sz="850" b="0" i="0">
                <a:solidFill>
                  <a:srgbClr val="959EAF"/>
                </a:solidFill>
                <a:latin typeface="Montserrat"/>
              </a:rPr>
              <a:t>Photo: Wikimedia Commons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7BA7FF"/>
                </a:solidFill>
                <a:latin typeface="Montserrat"/>
              </a:rPr>
              <a:t>B — Pheasant Island</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Under the 1659 Treaty of the Pyrenees, France and Spain share this tiny uninhabited island in the Bidasoa river. Administration alternates between the two countries every six months — the world's oldest condominium.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2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2</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600" b="1" i="0">
                <a:solidFill>
                  <a:srgbClr val="FFFFFF"/>
                </a:solidFill>
                <a:latin typeface="Montserrat"/>
              </a:rPr>
              <a:t>Which EU symbol was publicly unveiled about 40 years ago?</a:t>
            </a:r>
          </a:p>
        </p:txBody>
      </p:sp>
      <p:sp>
        <p:nvSpPr>
          <p:cNvPr id="8" name="Rectangle 7"/>
          <p:cNvSpPr/>
          <p:nvPr/>
        </p:nvSpPr>
        <p:spPr>
          <a:xfrm>
            <a:off x="640080"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Euro coins</a:t>
            </a:r>
          </a:p>
        </p:txBody>
      </p:sp>
      <p:sp>
        <p:nvSpPr>
          <p:cNvPr id="11" name="Rectangle 10"/>
          <p:cNvSpPr/>
          <p:nvPr/>
        </p:nvSpPr>
        <p:spPr>
          <a:xfrm>
            <a:off x="6199632"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European flag</a:t>
            </a:r>
          </a:p>
        </p:txBody>
      </p:sp>
      <p:sp>
        <p:nvSpPr>
          <p:cNvPr id="14" name="Rectangle 13"/>
          <p:cNvSpPr/>
          <p:nvPr/>
        </p:nvSpPr>
        <p:spPr>
          <a:xfrm>
            <a:off x="640080"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European anthem</a:t>
            </a:r>
          </a:p>
        </p:txBody>
      </p:sp>
      <p:sp>
        <p:nvSpPr>
          <p:cNvPr id="17" name="Rectangle 16"/>
          <p:cNvSpPr/>
          <p:nvPr/>
        </p:nvSpPr>
        <p:spPr>
          <a:xfrm>
            <a:off x="6199632"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Schengen passport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2</a:t>
            </a:r>
          </a:p>
        </p:txBody>
      </p:sp>
      <p:pic>
        <p:nvPicPr>
          <p:cNvPr id="6" name="Picture 5" descr="berlaymont_flag_1986.jpg"/>
          <p:cNvPicPr>
            <a:picLocks noChangeAspect="1"/>
          </p:cNvPicPr>
          <p:nvPr/>
        </p:nvPicPr>
        <p:blipFill>
          <a:blip r:embed="rId2"/>
          <a:stretch>
            <a:fillRect/>
          </a:stretch>
        </p:blipFill>
        <p:spPr>
          <a:xfrm>
            <a:off x="7040880" y="745236"/>
            <a:ext cx="5111495" cy="5111495"/>
          </a:xfrm>
          <a:prstGeom prst="rect">
            <a:avLst/>
          </a:prstGeom>
          <a:ln w="15875">
            <a:solidFill>
              <a:srgbClr val="7BA7FF"/>
            </a:solidFill>
          </a:ln>
          <a:effectLst/>
        </p:spPr>
      </p:pic>
      <p:sp>
        <p:nvSpPr>
          <p:cNvPr id="7" name="TextBox 6"/>
          <p:cNvSpPr txBox="1"/>
          <p:nvPr/>
        </p:nvSpPr>
        <p:spPr>
          <a:xfrm>
            <a:off x="7040880" y="5920740"/>
            <a:ext cx="4967935" cy="274320"/>
          </a:xfrm>
          <a:prstGeom prst="rect">
            <a:avLst/>
          </a:prstGeom>
          <a:noFill/>
        </p:spPr>
        <p:txBody>
          <a:bodyPr wrap="square" anchor="t" lIns="0" rIns="0" tIns="0" bIns="0">
            <a:spAutoFit/>
          </a:bodyPr>
          <a:lstStyle/>
          <a:p>
            <a:pPr algn="r"/>
            <a:r>
              <a:rPr sz="850" b="0" i="0">
                <a:solidFill>
                  <a:srgbClr val="959EAF"/>
                </a:solidFill>
                <a:latin typeface="Montserrat"/>
              </a:rPr>
              <a:t>Photo: © European Communities, 1986</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7BA7FF"/>
                </a:solidFill>
                <a:latin typeface="Montserrat"/>
              </a:rPr>
              <a:t>B — The European flag</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In May 1986 the European flag was raised for the first time outside the Berlaymont building — twelve gold stars in a circle, a symbol of unity, unchanged ever since.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3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3</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600" b="1" i="0">
                <a:solidFill>
                  <a:srgbClr val="FFFFFF"/>
                </a:solidFill>
                <a:latin typeface="Montserrat"/>
              </a:rPr>
              <a:t>What major international award did the European Union receive in 2012?</a:t>
            </a:r>
          </a:p>
        </p:txBody>
      </p:sp>
      <p:sp>
        <p:nvSpPr>
          <p:cNvPr id="8" name="Rectangle 7"/>
          <p:cNvSpPr/>
          <p:nvPr/>
        </p:nvSpPr>
        <p:spPr>
          <a:xfrm>
            <a:off x="640080"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Sakharov Prize</a:t>
            </a:r>
          </a:p>
        </p:txBody>
      </p:sp>
      <p:sp>
        <p:nvSpPr>
          <p:cNvPr id="11" name="Rectangle 10"/>
          <p:cNvSpPr/>
          <p:nvPr/>
        </p:nvSpPr>
        <p:spPr>
          <a:xfrm>
            <a:off x="6199632"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Nobel Peace Prize</a:t>
            </a:r>
          </a:p>
        </p:txBody>
      </p:sp>
      <p:sp>
        <p:nvSpPr>
          <p:cNvPr id="14" name="Rectangle 13"/>
          <p:cNvSpPr/>
          <p:nvPr/>
        </p:nvSpPr>
        <p:spPr>
          <a:xfrm>
            <a:off x="640080"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Charlemagne Prize</a:t>
            </a:r>
          </a:p>
        </p:txBody>
      </p:sp>
      <p:sp>
        <p:nvSpPr>
          <p:cNvPr id="17" name="Rectangle 16"/>
          <p:cNvSpPr/>
          <p:nvPr/>
        </p:nvSpPr>
        <p:spPr>
          <a:xfrm>
            <a:off x="6199632"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Right Livelihood Award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3</a:t>
            </a:r>
          </a:p>
        </p:txBody>
      </p:sp>
      <p:pic>
        <p:nvPicPr>
          <p:cNvPr id="6" name="Picture 5" descr="nobel_peace_prize_2012.jpg"/>
          <p:cNvPicPr>
            <a:picLocks noChangeAspect="1"/>
          </p:cNvPicPr>
          <p:nvPr/>
        </p:nvPicPr>
        <p:blipFill>
          <a:blip r:embed="rId2"/>
          <a:stretch>
            <a:fillRect/>
          </a:stretch>
        </p:blipFill>
        <p:spPr>
          <a:xfrm>
            <a:off x="8573334" y="2295144"/>
            <a:ext cx="3579041" cy="2011680"/>
          </a:xfrm>
          <a:prstGeom prst="rect">
            <a:avLst/>
          </a:prstGeom>
          <a:ln w="15875">
            <a:solidFill>
              <a:srgbClr val="7BA7FF"/>
            </a:solidFill>
          </a:ln>
          <a:effectLst/>
        </p:spPr>
      </p:pic>
      <p:sp>
        <p:nvSpPr>
          <p:cNvPr id="7" name="TextBox 6"/>
          <p:cNvSpPr txBox="1"/>
          <p:nvPr/>
        </p:nvSpPr>
        <p:spPr>
          <a:xfrm>
            <a:off x="8573334" y="4370832"/>
            <a:ext cx="3435480" cy="274320"/>
          </a:xfrm>
          <a:prstGeom prst="rect">
            <a:avLst/>
          </a:prstGeom>
          <a:noFill/>
        </p:spPr>
        <p:txBody>
          <a:bodyPr wrap="square" anchor="t" lIns="0" rIns="0" tIns="0" bIns="0">
            <a:spAutoFit/>
          </a:bodyPr>
          <a:lstStyle/>
          <a:p>
            <a:pPr algn="r"/>
            <a:r>
              <a:rPr sz="850" b="0" i="0">
                <a:solidFill>
                  <a:srgbClr val="959EAF"/>
                </a:solidFill>
                <a:latin typeface="Montserrat"/>
              </a:rPr>
              <a:t>Photo: Reuters</a:t>
            </a:r>
          </a:p>
        </p:txBody>
      </p:sp>
      <p:sp>
        <p:nvSpPr>
          <p:cNvPr id="8" name="TextBox 7"/>
          <p:cNvSpPr txBox="1"/>
          <p:nvPr/>
        </p:nvSpPr>
        <p:spPr>
          <a:xfrm>
            <a:off x="640080" y="1325880"/>
            <a:ext cx="7567494" cy="1554480"/>
          </a:xfrm>
          <a:prstGeom prst="rect">
            <a:avLst/>
          </a:prstGeom>
          <a:noFill/>
        </p:spPr>
        <p:txBody>
          <a:bodyPr wrap="square" anchor="t" lIns="0" rIns="0" tIns="0" bIns="0">
            <a:spAutoFit/>
          </a:bodyPr>
          <a:lstStyle/>
          <a:p>
            <a:pPr algn="l">
              <a:lnSpc>
                <a:spcPct val="105000"/>
              </a:lnSpc>
            </a:pPr>
            <a:r>
              <a:rPr sz="3800" b="1" i="0">
                <a:solidFill>
                  <a:srgbClr val="7BA7FF"/>
                </a:solidFill>
                <a:latin typeface="Montserrat"/>
              </a:rPr>
              <a:t>B — The Nobel Peace Prize</a:t>
            </a:r>
          </a:p>
        </p:txBody>
      </p:sp>
      <p:sp>
        <p:nvSpPr>
          <p:cNvPr id="9" name="Rectangle 8"/>
          <p:cNvSpPr/>
          <p:nvPr/>
        </p:nvSpPr>
        <p:spPr>
          <a:xfrm>
            <a:off x="640080" y="3337560"/>
            <a:ext cx="7567494"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6881694"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2" name="TextBox 11"/>
          <p:cNvSpPr txBox="1"/>
          <p:nvPr/>
        </p:nvSpPr>
        <p:spPr>
          <a:xfrm>
            <a:off x="1005840" y="3995928"/>
            <a:ext cx="6881694"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Awarded to the EU in 2012 for over six decades of advancing peace, reconciliation, democracy and human rights in Europe.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4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4</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600" b="1" i="0">
                <a:solidFill>
                  <a:srgbClr val="FFFFFF"/>
                </a:solidFill>
                <a:latin typeface="Montserrat"/>
              </a:rPr>
              <a:t>Which euro banknote was nicknamed “Bin Laden”?</a:t>
            </a:r>
          </a:p>
        </p:txBody>
      </p:sp>
      <p:sp>
        <p:nvSpPr>
          <p:cNvPr id="8" name="Rectangle 7"/>
          <p:cNvSpPr/>
          <p:nvPr/>
        </p:nvSpPr>
        <p:spPr>
          <a:xfrm>
            <a:off x="640080"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€50</a:t>
            </a:r>
          </a:p>
        </p:txBody>
      </p:sp>
      <p:sp>
        <p:nvSpPr>
          <p:cNvPr id="11" name="Rectangle 10"/>
          <p:cNvSpPr/>
          <p:nvPr/>
        </p:nvSpPr>
        <p:spPr>
          <a:xfrm>
            <a:off x="6199632"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345186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€100</a:t>
            </a:r>
          </a:p>
        </p:txBody>
      </p:sp>
      <p:sp>
        <p:nvSpPr>
          <p:cNvPr id="14" name="Rectangle 13"/>
          <p:cNvSpPr/>
          <p:nvPr/>
        </p:nvSpPr>
        <p:spPr>
          <a:xfrm>
            <a:off x="640080"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€200</a:t>
            </a:r>
          </a:p>
        </p:txBody>
      </p:sp>
      <p:sp>
        <p:nvSpPr>
          <p:cNvPr id="17" name="Rectangle 16"/>
          <p:cNvSpPr/>
          <p:nvPr/>
        </p:nvSpPr>
        <p:spPr>
          <a:xfrm>
            <a:off x="6199632"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454914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4</a:t>
            </a:r>
          </a:p>
        </p:txBody>
      </p:sp>
      <p:pic>
        <p:nvPicPr>
          <p:cNvPr id="6" name="Picture 5" descr="euro_500_note.jpg"/>
          <p:cNvPicPr>
            <a:picLocks noChangeAspect="1"/>
          </p:cNvPicPr>
          <p:nvPr/>
        </p:nvPicPr>
        <p:blipFill>
          <a:blip r:embed="rId2"/>
          <a:stretch>
            <a:fillRect/>
          </a:stretch>
        </p:blipFill>
        <p:spPr>
          <a:xfrm>
            <a:off x="8584355" y="2240280"/>
            <a:ext cx="3568020" cy="2377440"/>
          </a:xfrm>
          <a:prstGeom prst="rect">
            <a:avLst/>
          </a:prstGeom>
          <a:ln w="15875">
            <a:solidFill>
              <a:srgbClr val="7BA7FF"/>
            </a:solidFill>
          </a:ln>
          <a:effectLst/>
        </p:spPr>
      </p:pic>
      <p:sp>
        <p:nvSpPr>
          <p:cNvPr id="7" name="TextBox 6"/>
          <p:cNvSpPr txBox="1"/>
          <p:nvPr/>
        </p:nvSpPr>
        <p:spPr>
          <a:xfrm>
            <a:off x="640080" y="1325880"/>
            <a:ext cx="7578515" cy="1554480"/>
          </a:xfrm>
          <a:prstGeom prst="rect">
            <a:avLst/>
          </a:prstGeom>
          <a:noFill/>
        </p:spPr>
        <p:txBody>
          <a:bodyPr wrap="square" anchor="t" lIns="0" rIns="0" tIns="0" bIns="0">
            <a:spAutoFit/>
          </a:bodyPr>
          <a:lstStyle/>
          <a:p>
            <a:pPr algn="l">
              <a:lnSpc>
                <a:spcPct val="105000"/>
              </a:lnSpc>
            </a:pPr>
            <a:r>
              <a:rPr sz="3800" b="1" i="0">
                <a:solidFill>
                  <a:srgbClr val="7BA7FF"/>
                </a:solidFill>
                <a:latin typeface="Montserrat"/>
              </a:rPr>
              <a:t>D — The €500 note</a:t>
            </a:r>
          </a:p>
        </p:txBody>
      </p:sp>
      <p:sp>
        <p:nvSpPr>
          <p:cNvPr id="8" name="Rectangle 7"/>
          <p:cNvSpPr/>
          <p:nvPr/>
        </p:nvSpPr>
        <p:spPr>
          <a:xfrm>
            <a:off x="640080" y="3337560"/>
            <a:ext cx="7578515"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6892715"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1" name="TextBox 10"/>
          <p:cNvSpPr txBox="1"/>
          <p:nvPr/>
        </p:nvSpPr>
        <p:spPr>
          <a:xfrm>
            <a:off x="1005840" y="3995928"/>
            <a:ext cx="6892715"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The ECB stopped issuing the €500 note in 2019 over its popularity with money launderers — and because, like its namesake, everyone knew what it looked like but almost no one had ever seen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5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5</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100" b="1" i="0">
                <a:solidFill>
                  <a:srgbClr val="FFFFFF"/>
                </a:solidFill>
                <a:latin typeface="Montserrat"/>
              </a:rPr>
              <a:t>In 1984, former Nigerian minister Umaru Dikko was kidnapped in London. His captors planned to smuggle him out of the UK in a diplomatic crate, relying on the Vienna Convention rule that diplomatic bags cannot be opened or detained.
What went wrong?</a:t>
            </a:r>
          </a:p>
        </p:txBody>
      </p:sp>
      <p:sp>
        <p:nvSpPr>
          <p:cNvPr id="8" name="Rectangle 7"/>
          <p:cNvSpPr/>
          <p:nvPr/>
        </p:nvSpPr>
        <p:spPr>
          <a:xfrm>
            <a:off x="640080" y="3657600"/>
            <a:ext cx="10908792" cy="713232"/>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9536" y="3803904"/>
            <a:ext cx="420624" cy="420624"/>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481328" y="3657600"/>
            <a:ext cx="9784080" cy="713232"/>
          </a:xfrm>
          <a:prstGeom prst="rect">
            <a:avLst/>
          </a:prstGeom>
          <a:noFill/>
        </p:spPr>
        <p:txBody>
          <a:bodyPr wrap="square" anchor="ctr" lIns="0" rIns="0" tIns="0" bIns="0">
            <a:spAutoFit/>
          </a:bodyPr>
          <a:lstStyle/>
          <a:p>
            <a:pPr algn="l"/>
            <a:r>
              <a:rPr sz="1700" b="1" i="0">
                <a:solidFill>
                  <a:srgbClr val="DDE2EB"/>
                </a:solidFill>
                <a:latin typeface="Montserrat"/>
              </a:rPr>
              <a:t>The crate was improperly labelled as diplomatic baggage</a:t>
            </a:r>
          </a:p>
        </p:txBody>
      </p:sp>
      <p:sp>
        <p:nvSpPr>
          <p:cNvPr id="11" name="Rectangle 10"/>
          <p:cNvSpPr/>
          <p:nvPr/>
        </p:nvSpPr>
        <p:spPr>
          <a:xfrm>
            <a:off x="640080" y="4517136"/>
            <a:ext cx="10908792" cy="713232"/>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9536" y="4663440"/>
            <a:ext cx="420624" cy="420624"/>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1481328" y="4517136"/>
            <a:ext cx="9784080" cy="713232"/>
          </a:xfrm>
          <a:prstGeom prst="rect">
            <a:avLst/>
          </a:prstGeom>
          <a:noFill/>
        </p:spPr>
        <p:txBody>
          <a:bodyPr wrap="square" anchor="ctr" lIns="0" rIns="0" tIns="0" bIns="0">
            <a:spAutoFit/>
          </a:bodyPr>
          <a:lstStyle/>
          <a:p>
            <a:pPr algn="l"/>
            <a:r>
              <a:rPr sz="1700" b="1" i="0">
                <a:solidFill>
                  <a:srgbClr val="DDE2EB"/>
                </a:solidFill>
                <a:latin typeface="Montserrat"/>
              </a:rPr>
              <a:t>Dikko did not fit inside the crate</a:t>
            </a:r>
          </a:p>
        </p:txBody>
      </p:sp>
      <p:sp>
        <p:nvSpPr>
          <p:cNvPr id="14" name="Rectangle 13"/>
          <p:cNvSpPr/>
          <p:nvPr/>
        </p:nvSpPr>
        <p:spPr>
          <a:xfrm>
            <a:off x="640080" y="5376671"/>
            <a:ext cx="10908792" cy="713232"/>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 y="5522975"/>
            <a:ext cx="420624" cy="420624"/>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481328" y="5376671"/>
            <a:ext cx="9784080" cy="713232"/>
          </a:xfrm>
          <a:prstGeom prst="rect">
            <a:avLst/>
          </a:prstGeom>
          <a:noFill/>
        </p:spPr>
        <p:txBody>
          <a:bodyPr wrap="square" anchor="ctr" lIns="0" rIns="0" tIns="0" bIns="0">
            <a:spAutoFit/>
          </a:bodyPr>
          <a:lstStyle/>
          <a:p>
            <a:pPr algn="l"/>
            <a:r>
              <a:rPr sz="1700" b="1" i="0">
                <a:solidFill>
                  <a:srgbClr val="DDE2EB"/>
                </a:solidFill>
                <a:latin typeface="Montserrat"/>
              </a:rPr>
              <a:t>The aircraft meant to transport him never arrived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5</a:t>
            </a:r>
          </a:p>
        </p:txBody>
      </p:sp>
      <p:pic>
        <p:nvPicPr>
          <p:cNvPr id="6" name="Picture 5" descr="dikko_crate_stansted_1984.jpg"/>
          <p:cNvPicPr>
            <a:picLocks noChangeAspect="1"/>
          </p:cNvPicPr>
          <p:nvPr/>
        </p:nvPicPr>
        <p:blipFill>
          <a:blip r:embed="rId3"/>
          <a:stretch>
            <a:fillRect/>
          </a:stretch>
        </p:blipFill>
        <p:spPr>
          <a:xfrm>
            <a:off x="7040880" y="1605504"/>
            <a:ext cx="5111495" cy="3390959"/>
          </a:xfrm>
          <a:prstGeom prst="rect">
            <a:avLst/>
          </a:prstGeom>
          <a:ln w="15875">
            <a:solidFill>
              <a:srgbClr val="7BA7FF"/>
            </a:solidFill>
          </a:ln>
          <a:effectLst/>
        </p:spPr>
      </p:pic>
      <p:sp>
        <p:nvSpPr>
          <p:cNvPr id="7" name="TextBox 6"/>
          <p:cNvSpPr txBox="1"/>
          <p:nvPr/>
        </p:nvSpPr>
        <p:spPr>
          <a:xfrm>
            <a:off x="7040880" y="5060471"/>
            <a:ext cx="4967935" cy="274320"/>
          </a:xfrm>
          <a:prstGeom prst="rect">
            <a:avLst/>
          </a:prstGeom>
          <a:noFill/>
        </p:spPr>
        <p:txBody>
          <a:bodyPr wrap="square" anchor="t" lIns="0" rIns="0" tIns="0" bIns="0">
            <a:spAutoFit/>
          </a:bodyPr>
          <a:lstStyle/>
          <a:p>
            <a:pPr algn="r"/>
            <a:r>
              <a:rPr sz="850" b="0" i="0">
                <a:solidFill>
                  <a:srgbClr val="959EAF"/>
                </a:solidFill>
                <a:latin typeface="Montserrat"/>
              </a:rPr>
              <a:t>Press photo, Stansted 1984 — likely PA Images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200" b="1" i="0">
                <a:solidFill>
                  <a:srgbClr val="7BA7FF"/>
                </a:solidFill>
                <a:latin typeface="Montserrat"/>
              </a:rPr>
              <a:t>A — The crate was improperly labelled</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With no official diplomatic markings, customs officers at Stansted were entitled to open the crate — and found Dikko unconscious, accompanied by an anaesthetist.</a:t>
            </a:r>
          </a:p>
        </p:txBody>
      </p:sp>
      <p:sp>
        <p:nvSpPr>
          <p:cNvPr id="13" name="Rectangle 12"/>
          <p:cNvSpPr/>
          <p:nvPr/>
        </p:nvSpPr>
        <p:spPr>
          <a:xfrm>
            <a:off x="640080" y="2606040"/>
            <a:ext cx="2331720" cy="420624"/>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0E15"/>
                </a:solidFill>
                <a:latin typeface="Montserrat"/>
              </a:rPr>
              <a:t>▶   Watch the story</a:t>
            </a:r>
          </a:p>
        </p:txBody>
      </p:sp>
      <p:sp>
        <p:nvSpPr>
          <p:cNvPr id="14" name="TextBox 13"/>
          <p:cNvSpPr txBox="1"/>
          <p:nvPr/>
        </p:nvSpPr>
        <p:spPr>
          <a:xfrm>
            <a:off x="3154680" y="2706624"/>
            <a:ext cx="3703320" cy="274320"/>
          </a:xfrm>
          <a:prstGeom prst="rect">
            <a:avLst/>
          </a:prstGeom>
          <a:noFill/>
        </p:spPr>
        <p:txBody>
          <a:bodyPr wrap="square" anchor="t" lIns="0" rIns="0" tIns="0" bIns="0">
            <a:spAutoFit/>
          </a:bodyPr>
          <a:lstStyle/>
          <a:p>
            <a:pPr algn="l"/>
            <a:r>
              <a:rPr sz="1200" b="0" i="0">
                <a:solidFill>
                  <a:srgbClr val="959EAF"/>
                </a:solidFill>
                <a:latin typeface="Montserrat"/>
              </a:rPr>
              <a:t>youtube.com/watch?v=N83Idy9IOmU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6 OF 6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212D44"/>
                </a:solidFill>
                <a:latin typeface="Montserrat Black"/>
              </a:rPr>
              <a:t>6</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200" b="1" i="0">
                <a:solidFill>
                  <a:srgbClr val="FFFFFF"/>
                </a:solidFill>
                <a:latin typeface="Montserrat"/>
              </a:rPr>
              <a:t>One of the inventors of modern blue jeans was born in present-day Latvia. He developed a way to make work trousers much more durable and partnered with Levi Strauss to patent the idea.
What simple innovation made the trousers famous?</a:t>
            </a:r>
          </a:p>
        </p:txBody>
      </p:sp>
      <p:sp>
        <p:nvSpPr>
          <p:cNvPr id="8" name="Rectangle 7"/>
          <p:cNvSpPr/>
          <p:nvPr/>
        </p:nvSpPr>
        <p:spPr>
          <a:xfrm>
            <a:off x="640080" y="379476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400050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79476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A zipper</a:t>
            </a:r>
          </a:p>
        </p:txBody>
      </p:sp>
      <p:sp>
        <p:nvSpPr>
          <p:cNvPr id="11" name="Rectangle 10"/>
          <p:cNvSpPr/>
          <p:nvPr/>
        </p:nvSpPr>
        <p:spPr>
          <a:xfrm>
            <a:off x="6199632" y="379476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400050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79476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Metal rivets</a:t>
            </a:r>
          </a:p>
        </p:txBody>
      </p:sp>
      <p:sp>
        <p:nvSpPr>
          <p:cNvPr id="14" name="Rectangle 13"/>
          <p:cNvSpPr/>
          <p:nvPr/>
        </p:nvSpPr>
        <p:spPr>
          <a:xfrm>
            <a:off x="640080" y="489204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509778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89204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Waterproof fabric</a:t>
            </a:r>
          </a:p>
        </p:txBody>
      </p:sp>
      <p:sp>
        <p:nvSpPr>
          <p:cNvPr id="17" name="Rectangle 16"/>
          <p:cNvSpPr/>
          <p:nvPr/>
        </p:nvSpPr>
        <p:spPr>
          <a:xfrm>
            <a:off x="6199632" y="489204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5097780"/>
            <a:ext cx="457200" cy="4572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89204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Belt loops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7BA7FF"/>
                </a:solidFill>
                <a:latin typeface="Montserrat"/>
              </a:rPr>
              <a:t>ROUND 1 · EUROPE &amp; FUN FACTS</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6</a:t>
            </a:r>
          </a:p>
        </p:txBody>
      </p:sp>
      <p:pic>
        <p:nvPicPr>
          <p:cNvPr id="6" name="Picture 5" descr="jeans_rivets.jpg"/>
          <p:cNvPicPr>
            <a:picLocks noChangeAspect="1"/>
          </p:cNvPicPr>
          <p:nvPr/>
        </p:nvPicPr>
        <p:blipFill>
          <a:blip r:embed="rId2"/>
          <a:stretch>
            <a:fillRect/>
          </a:stretch>
        </p:blipFill>
        <p:spPr>
          <a:xfrm>
            <a:off x="7040880" y="1512189"/>
            <a:ext cx="5111495" cy="3833622"/>
          </a:xfrm>
          <a:prstGeom prst="rect">
            <a:avLst/>
          </a:prstGeom>
          <a:ln w="15875">
            <a:solidFill>
              <a:srgbClr val="7BA7FF"/>
            </a:solidFill>
          </a:ln>
          <a:effectLst/>
        </p:spPr>
      </p:pic>
      <p:sp>
        <p:nvSpPr>
          <p:cNvPr id="7" name="TextBox 6"/>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7BA7FF"/>
                </a:solidFill>
                <a:latin typeface="Montserrat"/>
              </a:rPr>
              <a:t>B — Metal rivets</a:t>
            </a:r>
          </a:p>
        </p:txBody>
      </p:sp>
      <p:sp>
        <p:nvSpPr>
          <p:cNvPr id="8" name="Rectangle 7"/>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7B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7BA7FF"/>
                </a:solidFill>
                <a:latin typeface="Montserrat"/>
              </a:rPr>
              <a:t>DID YOU KNOW?</a:t>
            </a:r>
          </a:p>
        </p:txBody>
      </p:sp>
      <p:sp>
        <p:nvSpPr>
          <p:cNvPr id="11" name="TextBox 10"/>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Jacob Davis, a tailor born in Riga in 1831, reinforced the stress points of work trousers with copper rivets. He and Levi Strauss patented the idea in 1873 — and blue jeans were born.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B913"/>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866616"/>
                </a:solidFill>
                <a:latin typeface="Montserrat"/>
              </a:rPr>
              <a:t>Trivia Night · 16 June 2026 · Permanent Representation of Lithuania to the EU</a:t>
            </a:r>
          </a:p>
        </p:txBody>
      </p:sp>
      <p:sp>
        <p:nvSpPr>
          <p:cNvPr id="3" name="TextBox 2"/>
          <p:cNvSpPr txBox="1"/>
          <p:nvPr/>
        </p:nvSpPr>
        <p:spPr>
          <a:xfrm>
            <a:off x="6217920" y="1828800"/>
            <a:ext cx="5330952" cy="5029200"/>
          </a:xfrm>
          <a:prstGeom prst="rect">
            <a:avLst/>
          </a:prstGeom>
          <a:noFill/>
        </p:spPr>
        <p:txBody>
          <a:bodyPr wrap="square" anchor="b" lIns="0" rIns="0" tIns="0" bIns="0">
            <a:spAutoFit/>
          </a:bodyPr>
          <a:lstStyle/>
          <a:p>
            <a:pPr algn="r"/>
            <a:r>
              <a:rPr sz="30000" b="0" i="0">
                <a:solidFill>
                  <a:srgbClr val="D9A014"/>
                </a:solidFill>
                <a:latin typeface="Montserrat Black"/>
              </a:rPr>
              <a:t>2</a:t>
            </a:r>
          </a:p>
        </p:txBody>
      </p:sp>
      <p:sp>
        <p:nvSpPr>
          <p:cNvPr id="4" name="TextBox 3"/>
          <p:cNvSpPr txBox="1"/>
          <p:nvPr/>
        </p:nvSpPr>
        <p:spPr>
          <a:xfrm>
            <a:off x="822960" y="1325880"/>
            <a:ext cx="9144000" cy="411480"/>
          </a:xfrm>
          <a:prstGeom prst="rect">
            <a:avLst/>
          </a:prstGeom>
          <a:noFill/>
        </p:spPr>
        <p:txBody>
          <a:bodyPr wrap="square" anchor="t" lIns="0" rIns="0" tIns="0" bIns="0">
            <a:spAutoFit/>
          </a:bodyPr>
          <a:lstStyle/>
          <a:p>
            <a:pPr algn="l"/>
            <a:r>
              <a:rPr sz="1700" b="1" i="0">
                <a:solidFill>
                  <a:srgbClr val="3F3417"/>
                </a:solidFill>
                <a:latin typeface="Montserrat"/>
              </a:rPr>
              <a:t>ROUND 2</a:t>
            </a:r>
          </a:p>
        </p:txBody>
      </p:sp>
      <p:sp>
        <p:nvSpPr>
          <p:cNvPr id="5" name="TextBox 4"/>
          <p:cNvSpPr txBox="1"/>
          <p:nvPr/>
        </p:nvSpPr>
        <p:spPr>
          <a:xfrm>
            <a:off x="822960" y="1828800"/>
            <a:ext cx="10515600" cy="2103120"/>
          </a:xfrm>
          <a:prstGeom prst="rect">
            <a:avLst/>
          </a:prstGeom>
          <a:noFill/>
        </p:spPr>
        <p:txBody>
          <a:bodyPr wrap="square" anchor="t" lIns="0" rIns="0" tIns="0" bIns="0">
            <a:spAutoFit/>
          </a:bodyPr>
          <a:lstStyle/>
          <a:p>
            <a:pPr algn="l">
              <a:lnSpc>
                <a:spcPct val="102000"/>
              </a:lnSpc>
            </a:pPr>
            <a:r>
              <a:rPr sz="7600" b="0" i="0">
                <a:solidFill>
                  <a:srgbClr val="101318"/>
                </a:solidFill>
                <a:latin typeface="Montserrat Black"/>
              </a:rPr>
              <a:t>LITHUANIA</a:t>
            </a:r>
          </a:p>
        </p:txBody>
      </p:sp>
      <p:sp>
        <p:nvSpPr>
          <p:cNvPr id="6" name="TextBox 5"/>
          <p:cNvSpPr txBox="1"/>
          <p:nvPr/>
        </p:nvSpPr>
        <p:spPr>
          <a:xfrm>
            <a:off x="822960" y="4114800"/>
            <a:ext cx="9144000" cy="411480"/>
          </a:xfrm>
          <a:prstGeom prst="rect">
            <a:avLst/>
          </a:prstGeom>
          <a:noFill/>
        </p:spPr>
        <p:txBody>
          <a:bodyPr wrap="square" anchor="t" lIns="0" rIns="0" tIns="0" bIns="0">
            <a:spAutoFit/>
          </a:bodyPr>
          <a:lstStyle/>
          <a:p>
            <a:pPr algn="l"/>
            <a:r>
              <a:rPr sz="1700" b="1" i="0">
                <a:solidFill>
                  <a:srgbClr val="4B3C17"/>
                </a:solidFill>
                <a:latin typeface="Montserrat"/>
              </a:rPr>
              <a:t>8 questions · 1 point each</a:t>
            </a:r>
          </a:p>
        </p:txBody>
      </p:sp>
      <p:sp>
        <p:nvSpPr>
          <p:cNvPr id="7" name="Rectangle 6"/>
          <p:cNvSpPr/>
          <p:nvPr/>
        </p:nvSpPr>
        <p:spPr>
          <a:xfrm>
            <a:off x="8229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crophone.png"/>
          <p:cNvPicPr>
            <a:picLocks noChangeAspect="1"/>
          </p:cNvPicPr>
          <p:nvPr/>
        </p:nvPicPr>
        <p:blipFill>
          <a:blip r:embed="rId2"/>
          <a:stretch>
            <a:fillRect/>
          </a:stretch>
        </p:blipFill>
        <p:spPr>
          <a:xfrm>
            <a:off x="963778" y="5124298"/>
            <a:ext cx="724204" cy="724204"/>
          </a:xfrm>
          <a:prstGeom prst="rect">
            <a:avLst/>
          </a:prstGeom>
        </p:spPr>
      </p:pic>
      <p:sp>
        <p:nvSpPr>
          <p:cNvPr id="9" name="Rectangle 8"/>
          <p:cNvSpPr/>
          <p:nvPr/>
        </p:nvSpPr>
        <p:spPr>
          <a:xfrm>
            <a:off x="21945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untain.png"/>
          <p:cNvPicPr>
            <a:picLocks noChangeAspect="1"/>
          </p:cNvPicPr>
          <p:nvPr/>
        </p:nvPicPr>
        <p:blipFill>
          <a:blip r:embed="rId3"/>
          <a:stretch>
            <a:fillRect/>
          </a:stretch>
        </p:blipFill>
        <p:spPr>
          <a:xfrm>
            <a:off x="2335378" y="5124298"/>
            <a:ext cx="724204" cy="724204"/>
          </a:xfrm>
          <a:prstGeom prst="rect">
            <a:avLst/>
          </a:prstGeom>
        </p:spPr>
      </p:pic>
      <p:sp>
        <p:nvSpPr>
          <p:cNvPr id="11" name="Rectangle 10"/>
          <p:cNvSpPr/>
          <p:nvPr/>
        </p:nvSpPr>
        <p:spPr>
          <a:xfrm>
            <a:off x="35661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oup.png"/>
          <p:cNvPicPr>
            <a:picLocks noChangeAspect="1"/>
          </p:cNvPicPr>
          <p:nvPr/>
        </p:nvPicPr>
        <p:blipFill>
          <a:blip r:embed="rId4"/>
          <a:stretch>
            <a:fillRect/>
          </a:stretch>
        </p:blipFill>
        <p:spPr>
          <a:xfrm>
            <a:off x="3706978" y="5124298"/>
            <a:ext cx="724204" cy="72420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1 OF 8 · 1 POINT</a:t>
            </a:r>
          </a:p>
        </p:txBody>
      </p:sp>
      <p:pic>
        <p:nvPicPr>
          <p:cNvPr id="6" name="Picture 5" descr="eurovision_logo_white.png"/>
          <p:cNvPicPr>
            <a:picLocks noChangeAspect="1"/>
          </p:cNvPicPr>
          <p:nvPr/>
        </p:nvPicPr>
        <p:blipFill>
          <a:blip r:embed="rId3"/>
          <a:stretch>
            <a:fillRect/>
          </a:stretch>
        </p:blipFill>
        <p:spPr>
          <a:xfrm>
            <a:off x="8114076" y="2811780"/>
            <a:ext cx="3709115" cy="1234440"/>
          </a:xfrm>
          <a:prstGeom prst="rect">
            <a:avLst/>
          </a:prstGeom>
          <a:effectLst/>
        </p:spPr>
      </p:pic>
      <p:sp>
        <p:nvSpPr>
          <p:cNvPr id="7" name="TextBox 6"/>
          <p:cNvSpPr txBox="1"/>
          <p:nvPr/>
        </p:nvSpPr>
        <p:spPr>
          <a:xfrm>
            <a:off x="640080" y="1417320"/>
            <a:ext cx="7108236" cy="4023360"/>
          </a:xfrm>
          <a:prstGeom prst="rect">
            <a:avLst/>
          </a:prstGeom>
          <a:noFill/>
        </p:spPr>
        <p:txBody>
          <a:bodyPr wrap="square" anchor="t" lIns="0" rIns="0" tIns="0" bIns="0">
            <a:spAutoFit/>
          </a:bodyPr>
          <a:lstStyle/>
          <a:p>
            <a:pPr algn="l">
              <a:lnSpc>
                <a:spcPct val="115000"/>
              </a:lnSpc>
            </a:pPr>
            <a:r>
              <a:rPr sz="2200" b="1" i="0">
                <a:solidFill>
                  <a:srgbClr val="FFFFFF"/>
                </a:solidFill>
                <a:latin typeface="Montserrat"/>
              </a:rPr>
              <a:t>Every year Lithuania plans to win Eurovision — although officially we never have.
In 2006, however, Lithuania tried a different strategy: entering a song that simply declared victory before the contest was even over.
What was the title of the song?</a:t>
            </a:r>
          </a:p>
        </p:txBody>
      </p:sp>
      <p:sp>
        <p:nvSpPr>
          <p:cNvPr id="8" name="Rectangle 7"/>
          <p:cNvSpPr/>
          <p:nvPr/>
        </p:nvSpPr>
        <p:spPr>
          <a:xfrm>
            <a:off x="640080" y="5440680"/>
            <a:ext cx="2331720" cy="420624"/>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0E15"/>
                </a:solidFill>
                <a:latin typeface="Montserrat"/>
              </a:rPr>
              <a:t>▶   Play the clip</a:t>
            </a:r>
          </a:p>
        </p:txBody>
      </p:sp>
      <p:sp>
        <p:nvSpPr>
          <p:cNvPr id="9" name="TextBox 8"/>
          <p:cNvSpPr txBox="1"/>
          <p:nvPr/>
        </p:nvSpPr>
        <p:spPr>
          <a:xfrm>
            <a:off x="3154680" y="5541264"/>
            <a:ext cx="4776516" cy="274320"/>
          </a:xfrm>
          <a:prstGeom prst="rect">
            <a:avLst/>
          </a:prstGeom>
          <a:noFill/>
        </p:spPr>
        <p:txBody>
          <a:bodyPr wrap="square" anchor="t" lIns="0" rIns="0" tIns="0" bIns="0">
            <a:spAutoFit/>
          </a:bodyPr>
          <a:lstStyle/>
          <a:p>
            <a:pPr algn="l"/>
            <a:r>
              <a:rPr sz="1200" b="0" i="0">
                <a:solidFill>
                  <a:srgbClr val="959EAF"/>
                </a:solidFill>
                <a:latin typeface="Montserrat"/>
              </a:rPr>
              <a:t>youtube.com/watch?v=DBAdOlQPbwg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1</a:t>
            </a:r>
          </a:p>
        </p:txBody>
      </p:sp>
      <p:pic>
        <p:nvPicPr>
          <p:cNvPr id="6" name="Picture 5" descr="lt_united_eurovision_2006.jpg"/>
          <p:cNvPicPr>
            <a:picLocks noChangeAspect="1"/>
          </p:cNvPicPr>
          <p:nvPr/>
        </p:nvPicPr>
        <p:blipFill>
          <a:blip r:embed="rId3"/>
          <a:stretch>
            <a:fillRect/>
          </a:stretch>
        </p:blipFill>
        <p:spPr>
          <a:xfrm>
            <a:off x="7223760" y="365328"/>
            <a:ext cx="4928615" cy="2789782"/>
          </a:xfrm>
          <a:prstGeom prst="rect">
            <a:avLst/>
          </a:prstGeom>
          <a:ln w="15875">
            <a:solidFill>
              <a:srgbClr val="FFC92E"/>
            </a:solidFill>
          </a:ln>
          <a:effectLst/>
        </p:spPr>
      </p:pic>
      <p:pic>
        <p:nvPicPr>
          <p:cNvPr id="7" name="Picture 6" descr="lena_valaitis_1981.jpg"/>
          <p:cNvPicPr>
            <a:picLocks noChangeAspect="1"/>
          </p:cNvPicPr>
          <p:nvPr/>
        </p:nvPicPr>
        <p:blipFill>
          <a:blip r:embed="rId4"/>
          <a:stretch>
            <a:fillRect/>
          </a:stretch>
        </p:blipFill>
        <p:spPr>
          <a:xfrm>
            <a:off x="7223760" y="3557587"/>
            <a:ext cx="4928615" cy="3080384"/>
          </a:xfrm>
          <a:prstGeom prst="rect">
            <a:avLst/>
          </a:prstGeom>
          <a:ln w="15875">
            <a:solidFill>
              <a:srgbClr val="FFC92E"/>
            </a:solidFill>
          </a:ln>
          <a:effectLst/>
        </p:spPr>
      </p:pic>
      <p:sp>
        <p:nvSpPr>
          <p:cNvPr id="8" name="TextBox 7"/>
          <p:cNvSpPr txBox="1"/>
          <p:nvPr/>
        </p:nvSpPr>
        <p:spPr>
          <a:xfrm>
            <a:off x="7223760" y="6565392"/>
            <a:ext cx="4785055" cy="274320"/>
          </a:xfrm>
          <a:prstGeom prst="rect">
            <a:avLst/>
          </a:prstGeom>
          <a:noFill/>
        </p:spPr>
        <p:txBody>
          <a:bodyPr wrap="square" anchor="t" lIns="0" rIns="0" tIns="0" bIns="0">
            <a:spAutoFit/>
          </a:bodyPr>
          <a:lstStyle/>
          <a:p>
            <a:pPr algn="r"/>
            <a:r>
              <a:rPr sz="850" b="0" i="0">
                <a:solidFill>
                  <a:srgbClr val="959EAF"/>
                </a:solidFill>
                <a:latin typeface="Montserrat"/>
              </a:rPr>
              <a:t>Photos: EBU / eurovision.tv</a:t>
            </a:r>
          </a:p>
        </p:txBody>
      </p:sp>
      <p:sp>
        <p:nvSpPr>
          <p:cNvPr id="9" name="TextBox 8"/>
          <p:cNvSpPr txBox="1"/>
          <p:nvPr/>
        </p:nvSpPr>
        <p:spPr>
          <a:xfrm>
            <a:off x="640080" y="1325880"/>
            <a:ext cx="621792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“We Are The Winners”</a:t>
            </a:r>
          </a:p>
        </p:txBody>
      </p:sp>
      <p:sp>
        <p:nvSpPr>
          <p:cNvPr id="10" name="Rectangle 9"/>
          <p:cNvSpPr/>
          <p:nvPr/>
        </p:nvSpPr>
        <p:spPr>
          <a:xfrm>
            <a:off x="640080" y="3337560"/>
            <a:ext cx="621792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611879"/>
            <a:ext cx="553212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3" name="TextBox 12"/>
          <p:cNvSpPr txBox="1"/>
          <p:nvPr/>
        </p:nvSpPr>
        <p:spPr>
          <a:xfrm>
            <a:off x="1005840" y="3995928"/>
            <a:ext cx="553212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Honourable mention: Lithuanian-German singer Lena Valaitis took second place at Eurovision 1981 — proof that we keep looking for that victory by all possible means.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2 OF 8 · 1 POINT</a:t>
            </a:r>
          </a:p>
        </p:txBody>
      </p:sp>
      <p:pic>
        <p:nvPicPr>
          <p:cNvPr id="6" name="Picture 5" descr="mount_everest.jpg"/>
          <p:cNvPicPr>
            <a:picLocks noChangeAspect="1"/>
          </p:cNvPicPr>
          <p:nvPr/>
        </p:nvPicPr>
        <p:blipFill>
          <a:blip r:embed="rId3"/>
          <a:stretch>
            <a:fillRect/>
          </a:stretch>
        </p:blipFill>
        <p:spPr>
          <a:xfrm>
            <a:off x="7315200" y="1748081"/>
            <a:ext cx="4837175" cy="3361837"/>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Two Lithuanian mountaineers carried a symbolic national object to the summit of Mount Everest and scattered it from the world's highest peak.
What was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2</a:t>
            </a:r>
          </a:p>
        </p:txBody>
      </p:sp>
      <p:pic>
        <p:nvPicPr>
          <p:cNvPr id="6" name="Picture 5" descr="vitkauskas_everest_1995.jpg"/>
          <p:cNvPicPr>
            <a:picLocks noChangeAspect="1"/>
          </p:cNvPicPr>
          <p:nvPr/>
        </p:nvPicPr>
        <p:blipFill>
          <a:blip r:embed="rId2"/>
          <a:stretch>
            <a:fillRect/>
          </a:stretch>
        </p:blipFill>
        <p:spPr>
          <a:xfrm>
            <a:off x="7485896" y="137160"/>
            <a:ext cx="4666479" cy="3246120"/>
          </a:xfrm>
          <a:prstGeom prst="rect">
            <a:avLst/>
          </a:prstGeom>
          <a:ln w="15875">
            <a:solidFill>
              <a:srgbClr val="FFC92E"/>
            </a:solidFill>
          </a:ln>
          <a:effectLst/>
        </p:spPr>
      </p:pic>
      <p:pic>
        <p:nvPicPr>
          <p:cNvPr id="7" name="Picture 6" descr="baltic_amber.jpg"/>
          <p:cNvPicPr>
            <a:picLocks noChangeAspect="1"/>
          </p:cNvPicPr>
          <p:nvPr/>
        </p:nvPicPr>
        <p:blipFill>
          <a:blip r:embed="rId3"/>
          <a:stretch>
            <a:fillRect/>
          </a:stretch>
        </p:blipFill>
        <p:spPr>
          <a:xfrm>
            <a:off x="7223760" y="3711606"/>
            <a:ext cx="4928615" cy="2772346"/>
          </a:xfrm>
          <a:prstGeom prst="rect">
            <a:avLst/>
          </a:prstGeom>
          <a:ln w="15875">
            <a:solidFill>
              <a:srgbClr val="FFC92E"/>
            </a:solidFill>
          </a:ln>
          <a:effectLst/>
        </p:spPr>
      </p:pic>
      <p:sp>
        <p:nvSpPr>
          <p:cNvPr id="8" name="TextBox 7"/>
          <p:cNvSpPr txBox="1"/>
          <p:nvPr/>
        </p:nvSpPr>
        <p:spPr>
          <a:xfrm>
            <a:off x="7223760" y="6547961"/>
            <a:ext cx="4785055" cy="274320"/>
          </a:xfrm>
          <a:prstGeom prst="rect">
            <a:avLst/>
          </a:prstGeom>
          <a:noFill/>
        </p:spPr>
        <p:txBody>
          <a:bodyPr wrap="square" anchor="t" lIns="0" rIns="0" tIns="0" bIns="0">
            <a:spAutoFit/>
          </a:bodyPr>
          <a:lstStyle/>
          <a:p>
            <a:pPr algn="r"/>
            <a:r>
              <a:rPr sz="850" b="0" i="0">
                <a:solidFill>
                  <a:srgbClr val="959EAF"/>
                </a:solidFill>
                <a:latin typeface="Montserrat"/>
              </a:rPr>
              <a:t>Top photo: V. Vitkauskas archive</a:t>
            </a:r>
          </a:p>
        </p:txBody>
      </p:sp>
      <p:sp>
        <p:nvSpPr>
          <p:cNvPr id="9" name="TextBox 8"/>
          <p:cNvSpPr txBox="1"/>
          <p:nvPr/>
        </p:nvSpPr>
        <p:spPr>
          <a:xfrm>
            <a:off x="640080" y="1325880"/>
            <a:ext cx="621792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Amber</a:t>
            </a:r>
          </a:p>
        </p:txBody>
      </p:sp>
      <p:sp>
        <p:nvSpPr>
          <p:cNvPr id="10" name="Rectangle 9"/>
          <p:cNvSpPr/>
          <p:nvPr/>
        </p:nvSpPr>
        <p:spPr>
          <a:xfrm>
            <a:off x="640080" y="3337560"/>
            <a:ext cx="621792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611879"/>
            <a:ext cx="553212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3" name="TextBox 12"/>
          <p:cNvSpPr txBox="1"/>
          <p:nvPr/>
        </p:nvSpPr>
        <p:spPr>
          <a:xfrm>
            <a:off x="1005840" y="3995928"/>
            <a:ext cx="553212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Vladas Vitkauskas (1995) and Saulius Vilius (2003) both carried Baltic amber to the top of the world and scattered it from the summit.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3 OF 8 · 1 POINT</a:t>
            </a:r>
          </a:p>
        </p:txBody>
      </p:sp>
      <p:pic>
        <p:nvPicPr>
          <p:cNvPr id="6" name="Picture 5" descr="butter.jpg"/>
          <p:cNvPicPr>
            <a:picLocks noChangeAspect="1"/>
          </p:cNvPicPr>
          <p:nvPr/>
        </p:nvPicPr>
        <p:blipFill>
          <a:blip r:embed="rId2"/>
          <a:stretch>
            <a:fillRect/>
          </a:stretch>
        </p:blipFill>
        <p:spPr>
          <a:xfrm>
            <a:off x="7315200" y="2068544"/>
            <a:ext cx="4837175" cy="2720911"/>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200" b="1" i="0">
                <a:solidFill>
                  <a:srgbClr val="FFFFFF"/>
                </a:solidFill>
                <a:latin typeface="Montserrat"/>
              </a:rPr>
              <a:t>When Lithuanians learn about the interwar period, one statistic is proudly repeated in schools: in 1938, Lithuania ranked second in Europe in butter and bacon production — despite being one of the poorest countries on the continent.
Which country ranked first?</a:t>
            </a:r>
          </a:p>
        </p:txBody>
      </p:sp>
      <p:sp>
        <p:nvSpPr>
          <p:cNvPr id="8" name="TextBox 7"/>
          <p:cNvSpPr txBox="1"/>
          <p:nvPr/>
        </p:nvSpPr>
        <p:spPr>
          <a:xfrm>
            <a:off x="640080" y="5897880"/>
            <a:ext cx="10881360" cy="365760"/>
          </a:xfrm>
          <a:prstGeom prst="rect">
            <a:avLst/>
          </a:prstGeom>
          <a:noFill/>
        </p:spPr>
        <p:txBody>
          <a:bodyPr wrap="square" anchor="t" lIns="0" rIns="0" tIns="0" bIns="0">
            <a:spAutoFit/>
          </a:bodyPr>
          <a:lstStyle/>
          <a:p>
            <a:pPr algn="l"/>
            <a:r>
              <a:rPr sz="1400" b="1" i="0">
                <a:solidFill>
                  <a:srgbClr val="FFC92E"/>
                </a:solidFill>
                <a:latin typeface="Montserrat"/>
              </a:rPr>
              <a:t>HINT   </a:t>
            </a:r>
            <a:r>
              <a:rPr sz="1400" b="0" i="1">
                <a:solidFill>
                  <a:srgbClr val="959EAF"/>
                </a:solidFill>
                <a:latin typeface="Montserrat"/>
              </a:rPr>
              <a:t>Think of a recent Council Presidency.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3</a:t>
            </a:r>
          </a:p>
        </p:txBody>
      </p:sp>
      <p:pic>
        <p:nvPicPr>
          <p:cNvPr id="6" name="Picture 5" descr="interwar_lithuania_1930s.jpg"/>
          <p:cNvPicPr>
            <a:picLocks noChangeAspect="1"/>
          </p:cNvPicPr>
          <p:nvPr/>
        </p:nvPicPr>
        <p:blipFill>
          <a:blip r:embed="rId3"/>
          <a:stretch>
            <a:fillRect/>
          </a:stretch>
        </p:blipFill>
        <p:spPr>
          <a:xfrm>
            <a:off x="7040880" y="1914719"/>
            <a:ext cx="5111495" cy="3028561"/>
          </a:xfrm>
          <a:prstGeom prst="rect">
            <a:avLst/>
          </a:prstGeom>
          <a:ln w="15875">
            <a:solidFill>
              <a:srgbClr val="FFC92E"/>
            </a:solidFill>
          </a:ln>
          <a:effectLst/>
        </p:spPr>
      </p:pic>
      <p:sp>
        <p:nvSpPr>
          <p:cNvPr id="7" name="TextBox 6"/>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Denmark</a:t>
            </a:r>
          </a:p>
        </p:txBody>
      </p:sp>
      <p:sp>
        <p:nvSpPr>
          <p:cNvPr id="8" name="Rectangle 7"/>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1" name="TextBox 10"/>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A statistic still celebrated in Lithuanian classrooms. Denmark, for its part, no longer wants to be the EU's bacon factory — as Politico once put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4 OF 8 · 1 POINT</a:t>
            </a:r>
          </a:p>
        </p:txBody>
      </p:sp>
      <p:pic>
        <p:nvPicPr>
          <p:cNvPr id="6" name="Picture 5" descr="midsummer_bonfire.jpg"/>
          <p:cNvPicPr>
            <a:picLocks noChangeAspect="1"/>
          </p:cNvPicPr>
          <p:nvPr/>
        </p:nvPicPr>
        <p:blipFill>
          <a:blip r:embed="rId2"/>
          <a:stretch>
            <a:fillRect/>
          </a:stretch>
        </p:blipFill>
        <p:spPr>
          <a:xfrm>
            <a:off x="7315200" y="1816608"/>
            <a:ext cx="4837175" cy="3224783"/>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Across Europe people celebrate Midsummer with bonfires.
In Lithuania, one tradition involves searching for a mythical flower that supposedly blooms only on that night.
Which flower?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4</a:t>
            </a:r>
          </a:p>
        </p:txBody>
      </p:sp>
      <p:pic>
        <p:nvPicPr>
          <p:cNvPr id="6" name="Picture 5" descr="fern_fiddleheads.jpg"/>
          <p:cNvPicPr>
            <a:picLocks noChangeAspect="1"/>
          </p:cNvPicPr>
          <p:nvPr/>
        </p:nvPicPr>
        <p:blipFill>
          <a:blip r:embed="rId2"/>
          <a:stretch>
            <a:fillRect/>
          </a:stretch>
        </p:blipFill>
        <p:spPr>
          <a:xfrm>
            <a:off x="7040880" y="745236"/>
            <a:ext cx="5111495" cy="5111495"/>
          </a:xfrm>
          <a:prstGeom prst="rect">
            <a:avLst/>
          </a:prstGeom>
          <a:ln w="15875">
            <a:solidFill>
              <a:srgbClr val="FFC92E"/>
            </a:solidFill>
          </a:ln>
          <a:effectLst/>
        </p:spPr>
      </p:pic>
      <p:sp>
        <p:nvSpPr>
          <p:cNvPr id="7" name="TextBox 6"/>
          <p:cNvSpPr txBox="1"/>
          <p:nvPr/>
        </p:nvSpPr>
        <p:spPr>
          <a:xfrm>
            <a:off x="7040880" y="5920740"/>
            <a:ext cx="4967935" cy="274320"/>
          </a:xfrm>
          <a:prstGeom prst="rect">
            <a:avLst/>
          </a:prstGeom>
          <a:noFill/>
        </p:spPr>
        <p:txBody>
          <a:bodyPr wrap="square" anchor="t" lIns="0" rIns="0" tIns="0" bIns="0">
            <a:spAutoFit/>
          </a:bodyPr>
          <a:lstStyle/>
          <a:p>
            <a:pPr algn="r"/>
            <a:r>
              <a:rPr sz="850" b="0" i="0">
                <a:solidFill>
                  <a:srgbClr val="959EAF"/>
                </a:solidFill>
                <a:latin typeface="Montserrat"/>
              </a:rPr>
              <a:t>Photo: Wikimedia Commons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The fern flower</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According to tradition, the fern blooms only on Midsummer night — whoever finds it gains happiness and wisdom. Botanists remain unconvinced.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5 OF 8 · 1 POINT</a:t>
            </a:r>
          </a:p>
        </p:txBody>
      </p:sp>
      <p:pic>
        <p:nvPicPr>
          <p:cNvPr id="6" name="Picture 5" descr="signatories_1918.jpg"/>
          <p:cNvPicPr>
            <a:picLocks noChangeAspect="1"/>
          </p:cNvPicPr>
          <p:nvPr/>
        </p:nvPicPr>
        <p:blipFill>
          <a:blip r:embed="rId3"/>
          <a:stretch>
            <a:fillRect/>
          </a:stretch>
        </p:blipFill>
        <p:spPr>
          <a:xfrm>
            <a:off x="7315200" y="1752112"/>
            <a:ext cx="4837175" cy="3353775"/>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1918 was a big year for Lithuania — also for democracy.
Lithuanian women gained something that many women in Western Europe had to wait decades for.
What was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5</a:t>
            </a:r>
          </a:p>
        </p:txBody>
      </p:sp>
      <p:pic>
        <p:nvPicPr>
          <p:cNvPr id="6" name="Picture 5" descr="suffrage_stamp_2018.jpg"/>
          <p:cNvPicPr>
            <a:picLocks noChangeAspect="1"/>
          </p:cNvPicPr>
          <p:nvPr/>
        </p:nvPicPr>
        <p:blipFill>
          <a:blip r:embed="rId2"/>
          <a:stretch>
            <a:fillRect/>
          </a:stretch>
        </p:blipFill>
        <p:spPr>
          <a:xfrm>
            <a:off x="7040880" y="209813"/>
            <a:ext cx="5111495" cy="6182340"/>
          </a:xfrm>
          <a:prstGeom prst="rect">
            <a:avLst/>
          </a:prstGeom>
          <a:ln w="15875">
            <a:solidFill>
              <a:srgbClr val="FFC92E"/>
            </a:solidFill>
          </a:ln>
          <a:effectLst/>
        </p:spPr>
      </p:pic>
      <p:sp>
        <p:nvSpPr>
          <p:cNvPr id="7" name="TextBox 6"/>
          <p:cNvSpPr txBox="1"/>
          <p:nvPr/>
        </p:nvSpPr>
        <p:spPr>
          <a:xfrm>
            <a:off x="7040880" y="6456162"/>
            <a:ext cx="4967935" cy="274320"/>
          </a:xfrm>
          <a:prstGeom prst="rect">
            <a:avLst/>
          </a:prstGeom>
          <a:noFill/>
        </p:spPr>
        <p:txBody>
          <a:bodyPr wrap="square" anchor="t" lIns="0" rIns="0" tIns="0" bIns="0">
            <a:spAutoFit/>
          </a:bodyPr>
          <a:lstStyle/>
          <a:p>
            <a:pPr algn="r"/>
            <a:r>
              <a:rPr sz="850" b="0" i="0">
                <a:solidFill>
                  <a:srgbClr val="959EAF"/>
                </a:solidFill>
                <a:latin typeface="Montserrat"/>
              </a:rPr>
              <a:t>Stamp: Lietuvos paštas, 2018 · design J. Dadonas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Voting rights</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Lithuanian women gained the vote on 2 November 1918, when the provisional constitution enshrined equal suffrage — ahead of much of Western Europe. A commemorative stamp marked the centenary.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6 OF 8 · 1 POINT</a:t>
            </a:r>
          </a:p>
        </p:txBody>
      </p:sp>
      <p:pic>
        <p:nvPicPr>
          <p:cNvPr id="6" name="Picture 5" descr="aswan_egypt_nile.jpg"/>
          <p:cNvPicPr>
            <a:picLocks noChangeAspect="1"/>
          </p:cNvPicPr>
          <p:nvPr/>
        </p:nvPicPr>
        <p:blipFill>
          <a:blip r:embed="rId2"/>
          <a:stretch>
            <a:fillRect/>
          </a:stretch>
        </p:blipFill>
        <p:spPr>
          <a:xfrm>
            <a:off x="7315200" y="2328732"/>
            <a:ext cx="4837175" cy="2200534"/>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400" b="1" i="0">
                <a:solidFill>
                  <a:srgbClr val="FFFFFF"/>
                </a:solidFill>
                <a:latin typeface="Montserrat"/>
              </a:rPr>
              <a:t>A 16th-century Lithuanian nobleman travelled through Egypt and bought several unusual souvenirs.
During a storm at sea, terrified sailors blamed the bad weather on them and threw them overboard.
What were the souvenirs?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6</a:t>
            </a:r>
          </a:p>
        </p:txBody>
      </p:sp>
      <p:pic>
        <p:nvPicPr>
          <p:cNvPr id="6" name="Picture 5" descr="radvila_the_orphan.jpg"/>
          <p:cNvPicPr>
            <a:picLocks noChangeAspect="1"/>
          </p:cNvPicPr>
          <p:nvPr/>
        </p:nvPicPr>
        <p:blipFill>
          <a:blip r:embed="rId2"/>
          <a:stretch>
            <a:fillRect/>
          </a:stretch>
        </p:blipFill>
        <p:spPr>
          <a:xfrm>
            <a:off x="7104945" y="182880"/>
            <a:ext cx="5047430" cy="6236207"/>
          </a:xfrm>
          <a:prstGeom prst="rect">
            <a:avLst/>
          </a:prstGeom>
          <a:ln w="15875">
            <a:solidFill>
              <a:srgbClr val="FFC92E"/>
            </a:solidFill>
          </a:ln>
          <a:effectLst/>
        </p:spPr>
      </p:pic>
      <p:sp>
        <p:nvSpPr>
          <p:cNvPr id="7" name="TextBox 6"/>
          <p:cNvSpPr txBox="1"/>
          <p:nvPr/>
        </p:nvSpPr>
        <p:spPr>
          <a:xfrm>
            <a:off x="7104945" y="6483096"/>
            <a:ext cx="4903870" cy="274320"/>
          </a:xfrm>
          <a:prstGeom prst="rect">
            <a:avLst/>
          </a:prstGeom>
          <a:noFill/>
        </p:spPr>
        <p:txBody>
          <a:bodyPr wrap="square" anchor="t" lIns="0" rIns="0" tIns="0" bIns="0">
            <a:spAutoFit/>
          </a:bodyPr>
          <a:lstStyle/>
          <a:p>
            <a:pPr algn="r"/>
            <a:r>
              <a:rPr sz="850" b="0" i="0">
                <a:solidFill>
                  <a:srgbClr val="959EAF"/>
                </a:solidFill>
                <a:latin typeface="Montserrat"/>
              </a:rPr>
              <a:t>Anonymous portrait, c. 1590 (public domain)</a:t>
            </a:r>
          </a:p>
        </p:txBody>
      </p:sp>
      <p:sp>
        <p:nvSpPr>
          <p:cNvPr id="8" name="TextBox 7"/>
          <p:cNvSpPr txBox="1"/>
          <p:nvPr/>
        </p:nvSpPr>
        <p:spPr>
          <a:xfrm>
            <a:off x="640080" y="1325880"/>
            <a:ext cx="6099105"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Egyptian mummies</a:t>
            </a:r>
          </a:p>
        </p:txBody>
      </p:sp>
      <p:sp>
        <p:nvSpPr>
          <p:cNvPr id="9" name="Rectangle 8"/>
          <p:cNvSpPr/>
          <p:nvPr/>
        </p:nvSpPr>
        <p:spPr>
          <a:xfrm>
            <a:off x="640080" y="3337560"/>
            <a:ext cx="6099105"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413305"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2" name="TextBox 11"/>
          <p:cNvSpPr txBox="1"/>
          <p:nvPr/>
        </p:nvSpPr>
        <p:spPr>
          <a:xfrm>
            <a:off x="1005840" y="3995928"/>
            <a:ext cx="5413305"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Mikalojus Kristupas Radvila the Orphan brought two mummies back from his pilgrimage. When storms battered the ship, the crew blamed the cargo — and overboard they went. His travel diary became a European bestseller.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7 OF 8 · 1 POINT</a:t>
            </a:r>
          </a:p>
        </p:txBody>
      </p:sp>
      <p:pic>
        <p:nvPicPr>
          <p:cNvPr id="6" name="Picture 5" descr="cepelinai.jpg"/>
          <p:cNvPicPr>
            <a:picLocks noChangeAspect="1"/>
          </p:cNvPicPr>
          <p:nvPr/>
        </p:nvPicPr>
        <p:blipFill>
          <a:blip r:embed="rId3"/>
          <a:stretch>
            <a:fillRect/>
          </a:stretch>
        </p:blipFill>
        <p:spPr>
          <a:xfrm>
            <a:off x="7315200" y="1816608"/>
            <a:ext cx="4837175" cy="3224783"/>
          </a:xfrm>
          <a:prstGeom prst="rect">
            <a:avLst/>
          </a:prstGeom>
          <a:ln w="15875">
            <a:solidFill>
              <a:srgbClr val="FFC92E"/>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200" b="1" i="0">
                <a:solidFill>
                  <a:srgbClr val="FFFFFF"/>
                </a:solidFill>
                <a:latin typeface="Montserrat"/>
              </a:rPr>
              <a:t>In a humorous Lithuanian promotional video from the early 2000s, traditional dishes such as cepelinai are discussed with the idea that they might one day become popular across Europe as street food.
The video reflects a moment when Lithuania was preparing for a major change. What event was approaching?</a:t>
            </a:r>
          </a:p>
        </p:txBody>
      </p:sp>
      <p:sp>
        <p:nvSpPr>
          <p:cNvPr id="8" name="Rectangle 7"/>
          <p:cNvSpPr/>
          <p:nvPr/>
        </p:nvSpPr>
        <p:spPr>
          <a:xfrm>
            <a:off x="640080" y="5440680"/>
            <a:ext cx="2331720" cy="420624"/>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0E15"/>
                </a:solidFill>
                <a:latin typeface="Montserrat"/>
              </a:rPr>
              <a:t>▶   Play the clip</a:t>
            </a:r>
          </a:p>
        </p:txBody>
      </p:sp>
      <p:sp>
        <p:nvSpPr>
          <p:cNvPr id="9" name="TextBox 8"/>
          <p:cNvSpPr txBox="1"/>
          <p:nvPr/>
        </p:nvSpPr>
        <p:spPr>
          <a:xfrm>
            <a:off x="3154680" y="5541264"/>
            <a:ext cx="3977639" cy="274320"/>
          </a:xfrm>
          <a:prstGeom prst="rect">
            <a:avLst/>
          </a:prstGeom>
          <a:noFill/>
        </p:spPr>
        <p:txBody>
          <a:bodyPr wrap="square" anchor="t" lIns="0" rIns="0" tIns="0" bIns="0">
            <a:spAutoFit/>
          </a:bodyPr>
          <a:lstStyle/>
          <a:p>
            <a:pPr algn="l"/>
            <a:r>
              <a:rPr sz="1200" b="0" i="0">
                <a:solidFill>
                  <a:srgbClr val="959EAF"/>
                </a:solidFill>
                <a:latin typeface="Montserrat"/>
              </a:rPr>
              <a:t>youtube.com/watch?v=YgvHcenDYcU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7</a:t>
            </a:r>
          </a:p>
        </p:txBody>
      </p:sp>
      <p:pic>
        <p:nvPicPr>
          <p:cNvPr id="6" name="Picture 5" descr="eu_enlargement_2004_map.png"/>
          <p:cNvPicPr>
            <a:picLocks noChangeAspect="1"/>
          </p:cNvPicPr>
          <p:nvPr/>
        </p:nvPicPr>
        <p:blipFill>
          <a:blip r:embed="rId2"/>
          <a:stretch>
            <a:fillRect/>
          </a:stretch>
        </p:blipFill>
        <p:spPr>
          <a:xfrm>
            <a:off x="7040880" y="1346236"/>
            <a:ext cx="5111495" cy="3909495"/>
          </a:xfrm>
          <a:prstGeom prst="rect">
            <a:avLst/>
          </a:prstGeom>
          <a:ln w="15875">
            <a:solidFill>
              <a:srgbClr val="FFC92E"/>
            </a:solidFill>
          </a:ln>
          <a:effectLst/>
        </p:spPr>
      </p:pic>
      <p:sp>
        <p:nvSpPr>
          <p:cNvPr id="7" name="TextBox 6"/>
          <p:cNvSpPr txBox="1"/>
          <p:nvPr/>
        </p:nvSpPr>
        <p:spPr>
          <a:xfrm>
            <a:off x="7040880" y="5319739"/>
            <a:ext cx="4967935" cy="274320"/>
          </a:xfrm>
          <a:prstGeom prst="rect">
            <a:avLst/>
          </a:prstGeom>
          <a:noFill/>
        </p:spPr>
        <p:txBody>
          <a:bodyPr wrap="square" anchor="t" lIns="0" rIns="0" tIns="0" bIns="0">
            <a:spAutoFit/>
          </a:bodyPr>
          <a:lstStyle/>
          <a:p>
            <a:pPr algn="r"/>
            <a:r>
              <a:rPr sz="850" b="0" i="0">
                <a:solidFill>
                  <a:srgbClr val="959EAF"/>
                </a:solidFill>
                <a:latin typeface="Montserrat"/>
              </a:rPr>
              <a:t>Map: Wikimedia Commons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400" b="1" i="0">
                <a:solidFill>
                  <a:srgbClr val="FFC92E"/>
                </a:solidFill>
                <a:latin typeface="Montserrat"/>
              </a:rPr>
              <a:t>Joining the European Union</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Lithuania joined the EU on 1 May 2004, in the largest enlargement in the Union's history — ten countries at once. The cepelinai street-food revolution is still pending.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8 OF 8 · 1 POINT</a:t>
            </a:r>
          </a:p>
        </p:txBody>
      </p:sp>
      <p:sp>
        <p:nvSpPr>
          <p:cNvPr id="6" name="TextBox 5"/>
          <p:cNvSpPr txBox="1"/>
          <p:nvPr/>
        </p:nvSpPr>
        <p:spPr>
          <a:xfrm>
            <a:off x="9692640" y="411480"/>
            <a:ext cx="2130552" cy="1920240"/>
          </a:xfrm>
          <a:prstGeom prst="rect">
            <a:avLst/>
          </a:prstGeom>
          <a:noFill/>
        </p:spPr>
        <p:txBody>
          <a:bodyPr wrap="square" anchor="t" lIns="0" rIns="0" tIns="0" bIns="0">
            <a:spAutoFit/>
          </a:bodyPr>
          <a:lstStyle/>
          <a:p>
            <a:pPr algn="r"/>
            <a:r>
              <a:rPr sz="14000" b="0" i="0">
                <a:solidFill>
                  <a:srgbClr val="3C331A"/>
                </a:solidFill>
                <a:latin typeface="Montserrat Black"/>
              </a:rPr>
              <a:t>8</a:t>
            </a:r>
          </a:p>
        </p:txBody>
      </p:sp>
      <p:sp>
        <p:nvSpPr>
          <p:cNvPr id="7" name="TextBox 6"/>
          <p:cNvSpPr txBox="1"/>
          <p:nvPr/>
        </p:nvSpPr>
        <p:spPr>
          <a:xfrm>
            <a:off x="640080" y="1143000"/>
            <a:ext cx="8869680" cy="2194560"/>
          </a:xfrm>
          <a:prstGeom prst="rect">
            <a:avLst/>
          </a:prstGeom>
          <a:noFill/>
        </p:spPr>
        <p:txBody>
          <a:bodyPr wrap="square" anchor="t" lIns="0" rIns="0" tIns="0" bIns="0">
            <a:spAutoFit/>
          </a:bodyPr>
          <a:lstStyle/>
          <a:p>
            <a:pPr algn="l">
              <a:lnSpc>
                <a:spcPct val="112000"/>
              </a:lnSpc>
            </a:pPr>
            <a:r>
              <a:rPr sz="2600" b="1" i="0">
                <a:solidFill>
                  <a:srgbClr val="FFFFFF"/>
                </a:solidFill>
                <a:latin typeface="Montserrat"/>
              </a:rPr>
              <a:t>Pink is strongly associated with Lithuania because of a traditional summer dish.
Which dish?</a:t>
            </a:r>
          </a:p>
        </p:txBody>
      </p:sp>
      <p:sp>
        <p:nvSpPr>
          <p:cNvPr id="8" name="Rectangle 7"/>
          <p:cNvSpPr/>
          <p:nvPr/>
        </p:nvSpPr>
        <p:spPr>
          <a:xfrm>
            <a:off x="640080"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6968" y="3451860"/>
            <a:ext cx="457200" cy="4572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A</a:t>
            </a:r>
          </a:p>
        </p:txBody>
      </p:sp>
      <p:sp>
        <p:nvSpPr>
          <p:cNvPr id="10" name="TextBox 9"/>
          <p:cNvSpPr txBox="1"/>
          <p:nvPr/>
        </p:nvSpPr>
        <p:spPr>
          <a:xfrm>
            <a:off x="1572768"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Cepelinai</a:t>
            </a:r>
          </a:p>
        </p:txBody>
      </p:sp>
      <p:sp>
        <p:nvSpPr>
          <p:cNvPr id="11" name="Rectangle 10"/>
          <p:cNvSpPr/>
          <p:nvPr/>
        </p:nvSpPr>
        <p:spPr>
          <a:xfrm>
            <a:off x="6199632" y="324612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3451860"/>
            <a:ext cx="457200" cy="4572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B</a:t>
            </a:r>
          </a:p>
        </p:txBody>
      </p:sp>
      <p:sp>
        <p:nvSpPr>
          <p:cNvPr id="13" name="TextBox 12"/>
          <p:cNvSpPr txBox="1"/>
          <p:nvPr/>
        </p:nvSpPr>
        <p:spPr>
          <a:xfrm>
            <a:off x="7132320" y="324612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Šakotis</a:t>
            </a:r>
          </a:p>
        </p:txBody>
      </p:sp>
      <p:sp>
        <p:nvSpPr>
          <p:cNvPr id="14" name="Rectangle 13"/>
          <p:cNvSpPr/>
          <p:nvPr/>
        </p:nvSpPr>
        <p:spPr>
          <a:xfrm>
            <a:off x="640080"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6968" y="4549140"/>
            <a:ext cx="457200" cy="4572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C</a:t>
            </a:r>
          </a:p>
        </p:txBody>
      </p:sp>
      <p:sp>
        <p:nvSpPr>
          <p:cNvPr id="16" name="TextBox 15"/>
          <p:cNvSpPr txBox="1"/>
          <p:nvPr/>
        </p:nvSpPr>
        <p:spPr>
          <a:xfrm>
            <a:off x="1572768"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Šaltibarščiai</a:t>
            </a:r>
          </a:p>
        </p:txBody>
      </p:sp>
      <p:sp>
        <p:nvSpPr>
          <p:cNvPr id="17" name="Rectangle 16"/>
          <p:cNvSpPr/>
          <p:nvPr/>
        </p:nvSpPr>
        <p:spPr>
          <a:xfrm>
            <a:off x="6199632" y="4343400"/>
            <a:ext cx="5349240" cy="8686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4549140"/>
            <a:ext cx="457200" cy="4572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a:solidFill>
                  <a:srgbClr val="0B0E15"/>
                </a:solidFill>
                <a:latin typeface="Montserrat Black"/>
              </a:rPr>
              <a:t>D</a:t>
            </a:r>
          </a:p>
        </p:txBody>
      </p:sp>
      <p:sp>
        <p:nvSpPr>
          <p:cNvPr id="19" name="TextBox 18"/>
          <p:cNvSpPr txBox="1"/>
          <p:nvPr/>
        </p:nvSpPr>
        <p:spPr>
          <a:xfrm>
            <a:off x="7132320" y="4343400"/>
            <a:ext cx="4206240" cy="868680"/>
          </a:xfrm>
          <a:prstGeom prst="rect">
            <a:avLst/>
          </a:prstGeom>
          <a:noFill/>
        </p:spPr>
        <p:txBody>
          <a:bodyPr wrap="square" anchor="ctr" lIns="0" rIns="0" tIns="0" bIns="0">
            <a:spAutoFit/>
          </a:bodyPr>
          <a:lstStyle/>
          <a:p>
            <a:pPr algn="l"/>
            <a:r>
              <a:rPr sz="1800" b="1" i="0">
                <a:solidFill>
                  <a:srgbClr val="DDE2EB"/>
                </a:solidFill>
                <a:latin typeface="Montserrat"/>
              </a:rPr>
              <a:t>Kibinai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C92E"/>
                </a:solidFill>
                <a:latin typeface="Montserrat"/>
              </a:rPr>
              <a:t>ROUND 2 · LITHUANIA</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8</a:t>
            </a:r>
          </a:p>
        </p:txBody>
      </p:sp>
      <p:pic>
        <p:nvPicPr>
          <p:cNvPr id="6" name="Picture 5" descr="saltibarsciai.jpg"/>
          <p:cNvPicPr>
            <a:picLocks noChangeAspect="1"/>
          </p:cNvPicPr>
          <p:nvPr/>
        </p:nvPicPr>
        <p:blipFill>
          <a:blip r:embed="rId2"/>
          <a:stretch>
            <a:fillRect/>
          </a:stretch>
        </p:blipFill>
        <p:spPr>
          <a:xfrm>
            <a:off x="7040880" y="1725168"/>
            <a:ext cx="5111495" cy="3407663"/>
          </a:xfrm>
          <a:prstGeom prst="rect">
            <a:avLst/>
          </a:prstGeom>
          <a:ln w="15875">
            <a:solidFill>
              <a:srgbClr val="FFC92E"/>
            </a:solidFill>
          </a:ln>
          <a:effectLst/>
        </p:spPr>
      </p:pic>
      <p:sp>
        <p:nvSpPr>
          <p:cNvPr id="7" name="TextBox 6"/>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FFC92E"/>
                </a:solidFill>
                <a:latin typeface="Montserrat"/>
              </a:rPr>
              <a:t>C — Šaltibarščiai</a:t>
            </a:r>
          </a:p>
        </p:txBody>
      </p:sp>
      <p:sp>
        <p:nvSpPr>
          <p:cNvPr id="8" name="Rectangle 7"/>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FFC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C92E"/>
                </a:solidFill>
                <a:latin typeface="Montserrat"/>
              </a:rPr>
              <a:t>DID YOU KNOW?</a:t>
            </a:r>
          </a:p>
        </p:txBody>
      </p:sp>
      <p:sp>
        <p:nvSpPr>
          <p:cNvPr id="11" name="TextBox 10"/>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The electric-pink cold beet soup is Lithuania's unofficial summer flag — best served with hot potatoes and a sunny terrace.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6A44"/>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80B4A2"/>
                </a:solidFill>
                <a:latin typeface="Montserrat"/>
              </a:rPr>
              <a:t>Trivia Night · 16 June 2026 · Permanent Representation of Lithuania to the EU</a:t>
            </a:r>
          </a:p>
        </p:txBody>
      </p:sp>
      <p:sp>
        <p:nvSpPr>
          <p:cNvPr id="3" name="TextBox 2"/>
          <p:cNvSpPr txBox="1"/>
          <p:nvPr/>
        </p:nvSpPr>
        <p:spPr>
          <a:xfrm>
            <a:off x="6217920" y="1828800"/>
            <a:ext cx="5330952" cy="5029200"/>
          </a:xfrm>
          <a:prstGeom prst="rect">
            <a:avLst/>
          </a:prstGeom>
          <a:noFill/>
        </p:spPr>
        <p:txBody>
          <a:bodyPr wrap="square" anchor="b" lIns="0" rIns="0" tIns="0" bIns="0">
            <a:spAutoFit/>
          </a:bodyPr>
          <a:lstStyle/>
          <a:p>
            <a:pPr algn="r"/>
            <a:r>
              <a:rPr sz="30000" b="0" i="0">
                <a:solidFill>
                  <a:srgbClr val="268060"/>
                </a:solidFill>
                <a:latin typeface="Montserrat Black"/>
              </a:rPr>
              <a:t>3</a:t>
            </a:r>
          </a:p>
        </p:txBody>
      </p:sp>
      <p:sp>
        <p:nvSpPr>
          <p:cNvPr id="4" name="TextBox 3"/>
          <p:cNvSpPr txBox="1"/>
          <p:nvPr/>
        </p:nvSpPr>
        <p:spPr>
          <a:xfrm>
            <a:off x="822960" y="1325880"/>
            <a:ext cx="9144000" cy="411480"/>
          </a:xfrm>
          <a:prstGeom prst="rect">
            <a:avLst/>
          </a:prstGeom>
          <a:noFill/>
        </p:spPr>
        <p:txBody>
          <a:bodyPr wrap="square" anchor="t" lIns="0" rIns="0" tIns="0" bIns="0">
            <a:spAutoFit/>
          </a:bodyPr>
          <a:lstStyle/>
          <a:p>
            <a:pPr algn="l"/>
            <a:r>
              <a:rPr sz="1700" b="1" i="0">
                <a:solidFill>
                  <a:srgbClr val="CCE1DA"/>
                </a:solidFill>
                <a:latin typeface="Montserrat"/>
              </a:rPr>
              <a:t>ROUND 3</a:t>
            </a:r>
          </a:p>
        </p:txBody>
      </p:sp>
      <p:sp>
        <p:nvSpPr>
          <p:cNvPr id="5" name="TextBox 4"/>
          <p:cNvSpPr txBox="1"/>
          <p:nvPr/>
        </p:nvSpPr>
        <p:spPr>
          <a:xfrm>
            <a:off x="822960" y="1828800"/>
            <a:ext cx="10515600" cy="2103120"/>
          </a:xfrm>
          <a:prstGeom prst="rect">
            <a:avLst/>
          </a:prstGeom>
          <a:noFill/>
        </p:spPr>
        <p:txBody>
          <a:bodyPr wrap="square" anchor="t" lIns="0" rIns="0" tIns="0" bIns="0">
            <a:spAutoFit/>
          </a:bodyPr>
          <a:lstStyle/>
          <a:p>
            <a:pPr algn="l">
              <a:lnSpc>
                <a:spcPct val="102000"/>
              </a:lnSpc>
            </a:pPr>
            <a:r>
              <a:rPr sz="5000" b="0" i="0">
                <a:solidFill>
                  <a:srgbClr val="FFFFFF"/>
                </a:solidFill>
                <a:latin typeface="Montserrat Black"/>
              </a:rPr>
              <a:t>ENVIRONMENT &amp; NATURE</a:t>
            </a:r>
          </a:p>
        </p:txBody>
      </p:sp>
      <p:sp>
        <p:nvSpPr>
          <p:cNvPr id="6" name="TextBox 5"/>
          <p:cNvSpPr txBox="1"/>
          <p:nvPr/>
        </p:nvSpPr>
        <p:spPr>
          <a:xfrm>
            <a:off x="822960" y="4114800"/>
            <a:ext cx="9144000" cy="411480"/>
          </a:xfrm>
          <a:prstGeom prst="rect">
            <a:avLst/>
          </a:prstGeom>
          <a:noFill/>
        </p:spPr>
        <p:txBody>
          <a:bodyPr wrap="square" anchor="t" lIns="0" rIns="0" tIns="0" bIns="0">
            <a:spAutoFit/>
          </a:bodyPr>
          <a:lstStyle/>
          <a:p>
            <a:pPr algn="l"/>
            <a:r>
              <a:rPr sz="1700" b="1" i="0">
                <a:solidFill>
                  <a:srgbClr val="BFDAD0"/>
                </a:solidFill>
                <a:latin typeface="Montserrat"/>
              </a:rPr>
              <a:t>4 questions · 1 point each</a:t>
            </a:r>
          </a:p>
        </p:txBody>
      </p:sp>
      <p:sp>
        <p:nvSpPr>
          <p:cNvPr id="7" name="Rectangle 6"/>
          <p:cNvSpPr/>
          <p:nvPr/>
        </p:nvSpPr>
        <p:spPr>
          <a:xfrm>
            <a:off x="8229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ee.png"/>
          <p:cNvPicPr>
            <a:picLocks noChangeAspect="1"/>
          </p:cNvPicPr>
          <p:nvPr/>
        </p:nvPicPr>
        <p:blipFill>
          <a:blip r:embed="rId2"/>
          <a:stretch>
            <a:fillRect/>
          </a:stretch>
        </p:blipFill>
        <p:spPr>
          <a:xfrm>
            <a:off x="963778" y="5124298"/>
            <a:ext cx="724204" cy="724204"/>
          </a:xfrm>
          <a:prstGeom prst="rect">
            <a:avLst/>
          </a:prstGeom>
        </p:spPr>
      </p:pic>
      <p:sp>
        <p:nvSpPr>
          <p:cNvPr id="9" name="Rectangle 8"/>
          <p:cNvSpPr/>
          <p:nvPr/>
        </p:nvSpPr>
        <p:spPr>
          <a:xfrm>
            <a:off x="21945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ern.png"/>
          <p:cNvPicPr>
            <a:picLocks noChangeAspect="1"/>
          </p:cNvPicPr>
          <p:nvPr/>
        </p:nvPicPr>
        <p:blipFill>
          <a:blip r:embed="rId3"/>
          <a:stretch>
            <a:fillRect/>
          </a:stretch>
        </p:blipFill>
        <p:spPr>
          <a:xfrm>
            <a:off x="2335378" y="5124298"/>
            <a:ext cx="724204" cy="724204"/>
          </a:xfrm>
          <a:prstGeom prst="rect">
            <a:avLst/>
          </a:prstGeom>
        </p:spPr>
      </p:pic>
      <p:sp>
        <p:nvSpPr>
          <p:cNvPr id="11" name="Rectangle 10"/>
          <p:cNvSpPr/>
          <p:nvPr/>
        </p:nvSpPr>
        <p:spPr>
          <a:xfrm>
            <a:off x="35661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eer.png"/>
          <p:cNvPicPr>
            <a:picLocks noChangeAspect="1"/>
          </p:cNvPicPr>
          <p:nvPr/>
        </p:nvPicPr>
        <p:blipFill>
          <a:blip r:embed="rId4"/>
          <a:stretch>
            <a:fillRect/>
          </a:stretch>
        </p:blipFill>
        <p:spPr>
          <a:xfrm>
            <a:off x="3706978" y="5124298"/>
            <a:ext cx="724204" cy="72420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1 OF 4 · 1 POINT</a:t>
            </a:r>
          </a:p>
        </p:txBody>
      </p:sp>
      <p:pic>
        <p:nvPicPr>
          <p:cNvPr id="6" name="Picture 5" descr="metallica_freeze_em_all.jpg"/>
          <p:cNvPicPr>
            <a:picLocks noChangeAspect="1"/>
          </p:cNvPicPr>
          <p:nvPr/>
        </p:nvPicPr>
        <p:blipFill>
          <a:blip r:embed="rId2"/>
          <a:stretch>
            <a:fillRect/>
          </a:stretch>
        </p:blipFill>
        <p:spPr>
          <a:xfrm>
            <a:off x="7315200" y="2068544"/>
            <a:ext cx="4837175" cy="2720911"/>
          </a:xfrm>
          <a:prstGeom prst="rect">
            <a:avLst/>
          </a:prstGeom>
          <a:ln w="15875">
            <a:solidFill>
              <a:srgbClr val="46D290"/>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In 2013 Metallica became the first band to perform on all seven continents.
During their Antarctic concert, the audience used 120 of what?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1</a:t>
            </a:r>
          </a:p>
        </p:txBody>
      </p:sp>
      <p:pic>
        <p:nvPicPr>
          <p:cNvPr id="6" name="Picture 5" descr="metallica_antarctica_2013.jpg"/>
          <p:cNvPicPr>
            <a:picLocks noChangeAspect="1"/>
          </p:cNvPicPr>
          <p:nvPr/>
        </p:nvPicPr>
        <p:blipFill>
          <a:blip r:embed="rId2"/>
          <a:stretch>
            <a:fillRect/>
          </a:stretch>
        </p:blipFill>
        <p:spPr>
          <a:xfrm>
            <a:off x="7040880" y="1595820"/>
            <a:ext cx="5111495" cy="3410326"/>
          </a:xfrm>
          <a:prstGeom prst="rect">
            <a:avLst/>
          </a:prstGeom>
          <a:ln w="15875">
            <a:solidFill>
              <a:srgbClr val="46D290"/>
            </a:solidFill>
          </a:ln>
          <a:effectLst/>
        </p:spPr>
      </p:pic>
      <p:sp>
        <p:nvSpPr>
          <p:cNvPr id="7" name="TextBox 6"/>
          <p:cNvSpPr txBox="1"/>
          <p:nvPr/>
        </p:nvSpPr>
        <p:spPr>
          <a:xfrm>
            <a:off x="7040880" y="5070155"/>
            <a:ext cx="4967935" cy="274320"/>
          </a:xfrm>
          <a:prstGeom prst="rect">
            <a:avLst/>
          </a:prstGeom>
          <a:noFill/>
        </p:spPr>
        <p:txBody>
          <a:bodyPr wrap="square" anchor="t" lIns="0" rIns="0" tIns="0" bIns="0">
            <a:spAutoFit/>
          </a:bodyPr>
          <a:lstStyle/>
          <a:p>
            <a:pPr algn="r"/>
            <a:r>
              <a:rPr sz="850" b="0" i="0">
                <a:solidFill>
                  <a:srgbClr val="959EAF"/>
                </a:solidFill>
                <a:latin typeface="Montserrat"/>
              </a:rPr>
              <a:t>Photo: Metallica (freezeemall.com)</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46D290"/>
                </a:solidFill>
                <a:latin typeface="Montserrat"/>
              </a:rPr>
              <a:t>Headphones</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46D290"/>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To comply with Antarctic environmental rules, the band played without amplifiers — the audience of about 120 listened through headphones. The concert was fittingly called “Freeze 'Em All”.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2 OF 4 · 1 POINT</a:t>
            </a:r>
          </a:p>
        </p:txBody>
      </p:sp>
      <p:pic>
        <p:nvPicPr>
          <p:cNvPr id="6" name="Picture 5" descr="trimates_goodall_fossey_galdikas.jpg"/>
          <p:cNvPicPr>
            <a:picLocks noChangeAspect="1"/>
          </p:cNvPicPr>
          <p:nvPr/>
        </p:nvPicPr>
        <p:blipFill>
          <a:blip r:embed="rId2"/>
          <a:stretch>
            <a:fillRect/>
          </a:stretch>
        </p:blipFill>
        <p:spPr>
          <a:xfrm>
            <a:off x="7315200" y="1703913"/>
            <a:ext cx="4837175" cy="3450172"/>
          </a:xfrm>
          <a:prstGeom prst="rect">
            <a:avLst/>
          </a:prstGeom>
          <a:ln w="15875">
            <a:solidFill>
              <a:srgbClr val="46D290"/>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400" b="1" i="0">
                <a:solidFill>
                  <a:srgbClr val="FFFFFF"/>
                </a:solidFill>
                <a:latin typeface="Montserrat"/>
              </a:rPr>
              <a:t>Three famous scientists — Birutė Galdikas, Dian Fossey and Jane Goodall — devoted their careers to studying these animals in the wild.
Collectively, they became known as the “Trimates”.
What group of animals are these?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2</a:t>
            </a:r>
          </a:p>
        </p:txBody>
      </p:sp>
      <p:pic>
        <p:nvPicPr>
          <p:cNvPr id="6" name="Picture 5" descr="great_apes_collage.jpg"/>
          <p:cNvPicPr>
            <a:picLocks noChangeAspect="1"/>
          </p:cNvPicPr>
          <p:nvPr/>
        </p:nvPicPr>
        <p:blipFill>
          <a:blip r:embed="rId2"/>
          <a:stretch>
            <a:fillRect/>
          </a:stretch>
        </p:blipFill>
        <p:spPr>
          <a:xfrm>
            <a:off x="7040880" y="1597152"/>
            <a:ext cx="5111495" cy="3407663"/>
          </a:xfrm>
          <a:prstGeom prst="rect">
            <a:avLst/>
          </a:prstGeom>
          <a:ln w="15875">
            <a:solidFill>
              <a:srgbClr val="46D290"/>
            </a:solidFill>
          </a:ln>
          <a:effectLst/>
        </p:spPr>
      </p:pic>
      <p:sp>
        <p:nvSpPr>
          <p:cNvPr id="7" name="TextBox 6"/>
          <p:cNvSpPr txBox="1"/>
          <p:nvPr/>
        </p:nvSpPr>
        <p:spPr>
          <a:xfrm>
            <a:off x="7040880" y="5068824"/>
            <a:ext cx="4967935" cy="274320"/>
          </a:xfrm>
          <a:prstGeom prst="rect">
            <a:avLst/>
          </a:prstGeom>
          <a:noFill/>
        </p:spPr>
        <p:txBody>
          <a:bodyPr wrap="square" anchor="t" lIns="0" rIns="0" tIns="0" bIns="0">
            <a:spAutoFit/>
          </a:bodyPr>
          <a:lstStyle/>
          <a:p>
            <a:pPr algn="r"/>
            <a:r>
              <a:rPr sz="850" b="0" i="0">
                <a:solidFill>
                  <a:srgbClr val="959EAF"/>
                </a:solidFill>
                <a:latin typeface="Montserrat"/>
              </a:rPr>
              <a:t>Collage: The New York Times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46D290"/>
                </a:solidFill>
                <a:latin typeface="Montserrat"/>
              </a:rPr>
              <a:t>Great apes</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46D290"/>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Goodall (chimpanzees), Fossey (gorillas) and Galdikas (orangutans) were recruited by Louis Leakey — hence also “Leakey's Angels”. Galdikas, of Lithuanian descent, still works in Borneo. “Orangutan” means “person of the forest”.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3 OF 4 · 1 POINT</a:t>
            </a:r>
          </a:p>
        </p:txBody>
      </p:sp>
      <p:pic>
        <p:nvPicPr>
          <p:cNvPr id="6" name="Picture 5" descr="pabrade_recovery_2025.jpg"/>
          <p:cNvPicPr>
            <a:picLocks noChangeAspect="1"/>
          </p:cNvPicPr>
          <p:nvPr/>
        </p:nvPicPr>
        <p:blipFill>
          <a:blip r:embed="rId2"/>
          <a:stretch>
            <a:fillRect/>
          </a:stretch>
        </p:blipFill>
        <p:spPr>
          <a:xfrm>
            <a:off x="7315200" y="1815888"/>
            <a:ext cx="4837175" cy="3226223"/>
          </a:xfrm>
          <a:prstGeom prst="rect">
            <a:avLst/>
          </a:prstGeom>
          <a:ln w="15875">
            <a:solidFill>
              <a:srgbClr val="46D290"/>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Which EU law unexpectedly entered the headlines after the deaths of four US soldiers, whose vehicle sank in a military training area near the Lithuanian–Belarusian border?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3</a:t>
            </a:r>
          </a:p>
        </p:txBody>
      </p:sp>
      <p:pic>
        <p:nvPicPr>
          <p:cNvPr id="6" name="Picture 5" descr="cepkeliai_marsh.jpg"/>
          <p:cNvPicPr>
            <a:picLocks noChangeAspect="1"/>
          </p:cNvPicPr>
          <p:nvPr/>
        </p:nvPicPr>
        <p:blipFill>
          <a:blip r:embed="rId2"/>
          <a:stretch>
            <a:fillRect/>
          </a:stretch>
        </p:blipFill>
        <p:spPr>
          <a:xfrm>
            <a:off x="7040880" y="1607800"/>
            <a:ext cx="5111495" cy="3386366"/>
          </a:xfrm>
          <a:prstGeom prst="rect">
            <a:avLst/>
          </a:prstGeom>
          <a:ln w="15875">
            <a:solidFill>
              <a:srgbClr val="46D290"/>
            </a:solidFill>
          </a:ln>
          <a:effectLst/>
        </p:spPr>
      </p:pic>
      <p:sp>
        <p:nvSpPr>
          <p:cNvPr id="7" name="TextBox 6"/>
          <p:cNvSpPr txBox="1"/>
          <p:nvPr/>
        </p:nvSpPr>
        <p:spPr>
          <a:xfrm>
            <a:off x="7040880" y="5058175"/>
            <a:ext cx="4967935" cy="274320"/>
          </a:xfrm>
          <a:prstGeom prst="rect">
            <a:avLst/>
          </a:prstGeom>
          <a:noFill/>
        </p:spPr>
        <p:txBody>
          <a:bodyPr wrap="square" anchor="t" lIns="0" rIns="0" tIns="0" bIns="0">
            <a:spAutoFit/>
          </a:bodyPr>
          <a:lstStyle/>
          <a:p>
            <a:pPr algn="r"/>
            <a:r>
              <a:rPr sz="850" b="0" i="0">
                <a:solidFill>
                  <a:srgbClr val="959EAF"/>
                </a:solidFill>
                <a:latin typeface="Montserrat"/>
              </a:rPr>
              <a:t>Photo: Wikimedia Commons</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400" b="1" i="0">
                <a:solidFill>
                  <a:srgbClr val="46D290"/>
                </a:solidFill>
                <a:latin typeface="Montserrat"/>
              </a:rPr>
              <a:t>The Nature Restoration Law</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46D290"/>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Commentary on the 2025 tragedy near Pabradė linked the swampy terrain to wetlands restored under EU environmental policy — putting the Nature Restoration Law unexpectedly in the news.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4 OF 4 · 1 POINT</a:t>
            </a:r>
          </a:p>
        </p:txBody>
      </p:sp>
      <p:pic>
        <p:nvPicPr>
          <p:cNvPr id="6" name="Picture 5" descr="pond_ecosystem.jpg"/>
          <p:cNvPicPr>
            <a:picLocks noChangeAspect="1"/>
          </p:cNvPicPr>
          <p:nvPr/>
        </p:nvPicPr>
        <p:blipFill>
          <a:blip r:embed="rId2"/>
          <a:stretch>
            <a:fillRect/>
          </a:stretch>
        </p:blipFill>
        <p:spPr>
          <a:xfrm>
            <a:off x="7315200" y="1901258"/>
            <a:ext cx="4837175" cy="3055482"/>
          </a:xfrm>
          <a:prstGeom prst="rect">
            <a:avLst/>
          </a:prstGeom>
          <a:ln w="15875">
            <a:solidFill>
              <a:srgbClr val="46D290"/>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This animal is often called an “ecosystem engineer” because it creates wetlands that benefit countless other species.
What animal is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46D290"/>
                </a:solidFill>
                <a:latin typeface="Montserrat"/>
              </a:rPr>
              <a:t>ROUND 3 · ENVIRONMENT &amp; NATURE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4</a:t>
            </a:r>
          </a:p>
        </p:txBody>
      </p:sp>
      <p:pic>
        <p:nvPicPr>
          <p:cNvPr id="6" name="Picture 5" descr="beaver_at_dam.jpg"/>
          <p:cNvPicPr>
            <a:picLocks noChangeAspect="1"/>
          </p:cNvPicPr>
          <p:nvPr/>
        </p:nvPicPr>
        <p:blipFill>
          <a:blip r:embed="rId2"/>
          <a:stretch>
            <a:fillRect/>
          </a:stretch>
        </p:blipFill>
        <p:spPr>
          <a:xfrm>
            <a:off x="7040880" y="1724336"/>
            <a:ext cx="5111495" cy="3409327"/>
          </a:xfrm>
          <a:prstGeom prst="rect">
            <a:avLst/>
          </a:prstGeom>
          <a:ln w="15875">
            <a:solidFill>
              <a:srgbClr val="46D290"/>
            </a:solidFill>
          </a:ln>
          <a:effectLst/>
        </p:spPr>
      </p:pic>
      <p:sp>
        <p:nvSpPr>
          <p:cNvPr id="7" name="TextBox 6"/>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800" b="1" i="0">
                <a:solidFill>
                  <a:srgbClr val="46D290"/>
                </a:solidFill>
                <a:latin typeface="Montserrat"/>
              </a:rPr>
              <a:t>The beaver</a:t>
            </a:r>
          </a:p>
        </p:txBody>
      </p:sp>
      <p:sp>
        <p:nvSpPr>
          <p:cNvPr id="8" name="Rectangle 7"/>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46D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46D290"/>
                </a:solidFill>
                <a:latin typeface="Montserrat"/>
              </a:rPr>
              <a:t>DID YOU KNOW?</a:t>
            </a:r>
          </a:p>
        </p:txBody>
      </p:sp>
      <p:sp>
        <p:nvSpPr>
          <p:cNvPr id="11" name="TextBox 10"/>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Beaver dams create wetlands that store water, filter pollution and host countless species. Lithuania's beaver population has grown from near extinction to one of the densest in Europe.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C1272D"/>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E09396"/>
                </a:solidFill>
                <a:latin typeface="Montserrat"/>
              </a:rPr>
              <a:t>Trivia Night · 16 June 2026 · Permanent Representation of Lithuania to the EU</a:t>
            </a:r>
          </a:p>
        </p:txBody>
      </p:sp>
      <p:sp>
        <p:nvSpPr>
          <p:cNvPr id="3" name="TextBox 2"/>
          <p:cNvSpPr txBox="1"/>
          <p:nvPr/>
        </p:nvSpPr>
        <p:spPr>
          <a:xfrm>
            <a:off x="6217920" y="1828800"/>
            <a:ext cx="5330952" cy="5029200"/>
          </a:xfrm>
          <a:prstGeom prst="rect">
            <a:avLst/>
          </a:prstGeom>
          <a:noFill/>
        </p:spPr>
        <p:txBody>
          <a:bodyPr wrap="square" anchor="b" lIns="0" rIns="0" tIns="0" bIns="0">
            <a:spAutoFit/>
          </a:bodyPr>
          <a:lstStyle/>
          <a:p>
            <a:pPr algn="r"/>
            <a:r>
              <a:rPr sz="30000" b="0" i="0">
                <a:solidFill>
                  <a:srgbClr val="CA474C"/>
                </a:solidFill>
                <a:latin typeface="Montserrat Black"/>
              </a:rPr>
              <a:t>B</a:t>
            </a:r>
          </a:p>
        </p:txBody>
      </p:sp>
      <p:sp>
        <p:nvSpPr>
          <p:cNvPr id="4" name="TextBox 3"/>
          <p:cNvSpPr txBox="1"/>
          <p:nvPr/>
        </p:nvSpPr>
        <p:spPr>
          <a:xfrm>
            <a:off x="822960" y="1325880"/>
            <a:ext cx="9144000" cy="411480"/>
          </a:xfrm>
          <a:prstGeom prst="rect">
            <a:avLst/>
          </a:prstGeom>
          <a:noFill/>
        </p:spPr>
        <p:txBody>
          <a:bodyPr wrap="square" anchor="t" lIns="0" rIns="0" tIns="0" bIns="0">
            <a:spAutoFit/>
          </a:bodyPr>
          <a:lstStyle/>
          <a:p>
            <a:pPr algn="l"/>
            <a:r>
              <a:rPr sz="1700" b="1" i="0">
                <a:solidFill>
                  <a:srgbClr val="F3D4D5"/>
                </a:solidFill>
                <a:latin typeface="Montserrat"/>
              </a:rPr>
              <a:t>BONUS ROUND</a:t>
            </a:r>
          </a:p>
        </p:txBody>
      </p:sp>
      <p:sp>
        <p:nvSpPr>
          <p:cNvPr id="5" name="TextBox 4"/>
          <p:cNvSpPr txBox="1"/>
          <p:nvPr/>
        </p:nvSpPr>
        <p:spPr>
          <a:xfrm>
            <a:off x="822960" y="1828800"/>
            <a:ext cx="10515600" cy="2103120"/>
          </a:xfrm>
          <a:prstGeom prst="rect">
            <a:avLst/>
          </a:prstGeom>
          <a:noFill/>
        </p:spPr>
        <p:txBody>
          <a:bodyPr wrap="square" anchor="t" lIns="0" rIns="0" tIns="0" bIns="0">
            <a:spAutoFit/>
          </a:bodyPr>
          <a:lstStyle/>
          <a:p>
            <a:pPr algn="l">
              <a:lnSpc>
                <a:spcPct val="102000"/>
              </a:lnSpc>
            </a:pPr>
            <a:r>
              <a:rPr sz="5000" b="0" i="0">
                <a:solidFill>
                  <a:srgbClr val="FFFFFF"/>
                </a:solidFill>
                <a:latin typeface="Montserrat Black"/>
              </a:rPr>
              <a:t>THE BRUSSELS BUBBLE</a:t>
            </a:r>
          </a:p>
        </p:txBody>
      </p:sp>
      <p:sp>
        <p:nvSpPr>
          <p:cNvPr id="6" name="TextBox 5"/>
          <p:cNvSpPr txBox="1"/>
          <p:nvPr/>
        </p:nvSpPr>
        <p:spPr>
          <a:xfrm>
            <a:off x="822960" y="4114800"/>
            <a:ext cx="9144000" cy="411480"/>
          </a:xfrm>
          <a:prstGeom prst="rect">
            <a:avLst/>
          </a:prstGeom>
          <a:noFill/>
        </p:spPr>
        <p:txBody>
          <a:bodyPr wrap="square" anchor="t" lIns="0" rIns="0" tIns="0" bIns="0">
            <a:spAutoFit/>
          </a:bodyPr>
          <a:lstStyle/>
          <a:p>
            <a:pPr algn="l"/>
            <a:r>
              <a:rPr sz="1700" b="1" i="0">
                <a:solidFill>
                  <a:srgbClr val="F0C9CA"/>
                </a:solidFill>
                <a:latin typeface="Montserrat"/>
              </a:rPr>
              <a:t>Insider questions · for those who were in the room</a:t>
            </a:r>
          </a:p>
        </p:txBody>
      </p:sp>
      <p:sp>
        <p:nvSpPr>
          <p:cNvPr id="7" name="Rectangle 6"/>
          <p:cNvSpPr/>
          <p:nvPr/>
        </p:nvSpPr>
        <p:spPr>
          <a:xfrm>
            <a:off x="8229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cycle.png"/>
          <p:cNvPicPr>
            <a:picLocks noChangeAspect="1"/>
          </p:cNvPicPr>
          <p:nvPr/>
        </p:nvPicPr>
        <p:blipFill>
          <a:blip r:embed="rId3"/>
          <a:stretch>
            <a:fillRect/>
          </a:stretch>
        </p:blipFill>
        <p:spPr>
          <a:xfrm>
            <a:off x="963778" y="5124298"/>
            <a:ext cx="724204" cy="724204"/>
          </a:xfrm>
          <a:prstGeom prst="rect">
            <a:avLst/>
          </a:prstGeom>
        </p:spPr>
      </p:pic>
      <p:sp>
        <p:nvSpPr>
          <p:cNvPr id="9" name="Rectangle 8"/>
          <p:cNvSpPr/>
          <p:nvPr/>
        </p:nvSpPr>
        <p:spPr>
          <a:xfrm>
            <a:off x="21945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peech.png"/>
          <p:cNvPicPr>
            <a:picLocks noChangeAspect="1"/>
          </p:cNvPicPr>
          <p:nvPr/>
        </p:nvPicPr>
        <p:blipFill>
          <a:blip r:embed="rId4"/>
          <a:stretch>
            <a:fillRect/>
          </a:stretch>
        </p:blipFill>
        <p:spPr>
          <a:xfrm>
            <a:off x="2335378" y="5124298"/>
            <a:ext cx="724204" cy="724204"/>
          </a:xfrm>
          <a:prstGeom prst="rect">
            <a:avLst/>
          </a:prstGeom>
        </p:spPr>
      </p:pic>
      <p:sp>
        <p:nvSpPr>
          <p:cNvPr id="11" name="Rectangle 10"/>
          <p:cNvSpPr/>
          <p:nvPr/>
        </p:nvSpPr>
        <p:spPr>
          <a:xfrm>
            <a:off x="3566160" y="4983480"/>
            <a:ext cx="1005840" cy="100584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p.png"/>
          <p:cNvPicPr>
            <a:picLocks noChangeAspect="1"/>
          </p:cNvPicPr>
          <p:nvPr/>
        </p:nvPicPr>
        <p:blipFill>
          <a:blip r:embed="rId5"/>
          <a:stretch>
            <a:fillRect/>
          </a:stretch>
        </p:blipFill>
        <p:spPr>
          <a:xfrm>
            <a:off x="3706978" y="5124298"/>
            <a:ext cx="724204" cy="72420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1 OF 3 · 1 POINT</a:t>
            </a:r>
          </a:p>
        </p:txBody>
      </p:sp>
      <p:sp>
        <p:nvSpPr>
          <p:cNvPr id="6" name="TextBox 5"/>
          <p:cNvSpPr txBox="1"/>
          <p:nvPr/>
        </p:nvSpPr>
        <p:spPr>
          <a:xfrm>
            <a:off x="9692640" y="411480"/>
            <a:ext cx="2130552" cy="1737360"/>
          </a:xfrm>
          <a:prstGeom prst="rect">
            <a:avLst/>
          </a:prstGeom>
          <a:noFill/>
        </p:spPr>
        <p:txBody>
          <a:bodyPr wrap="square" anchor="t" lIns="0" rIns="0" tIns="0" bIns="0">
            <a:spAutoFit/>
          </a:bodyPr>
          <a:lstStyle/>
          <a:p>
            <a:pPr algn="r"/>
            <a:r>
              <a:rPr sz="12000" b="0" i="0">
                <a:solidFill>
                  <a:srgbClr val="3C2224"/>
                </a:solidFill>
                <a:latin typeface="Montserrat Black"/>
              </a:rPr>
              <a:t>1</a:t>
            </a:r>
          </a:p>
        </p:txBody>
      </p:sp>
      <p:sp>
        <p:nvSpPr>
          <p:cNvPr id="7" name="Rectangle 6"/>
          <p:cNvSpPr/>
          <p:nvPr/>
        </p:nvSpPr>
        <p:spPr>
          <a:xfrm>
            <a:off x="8686800" y="2514599"/>
            <a:ext cx="2468880" cy="246888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eech.png"/>
          <p:cNvPicPr>
            <a:picLocks noChangeAspect="1"/>
          </p:cNvPicPr>
          <p:nvPr/>
        </p:nvPicPr>
        <p:blipFill>
          <a:blip r:embed="rId3"/>
          <a:stretch>
            <a:fillRect/>
          </a:stretch>
        </p:blipFill>
        <p:spPr>
          <a:xfrm>
            <a:off x="9032443" y="2860242"/>
            <a:ext cx="1777593" cy="1777593"/>
          </a:xfrm>
          <a:prstGeom prst="rect">
            <a:avLst/>
          </a:prstGeom>
        </p:spPr>
      </p:pic>
      <p:sp>
        <p:nvSpPr>
          <p:cNvPr id="9" name="TextBox 8"/>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1" i="0">
                <a:solidFill>
                  <a:srgbClr val="FFFFFF"/>
                </a:solidFill>
                <a:latin typeface="Montserrat"/>
              </a:rPr>
              <a:t>During negotiations on which file did Violeta Dragu (Romania) say:
“I have never seen Lithuania being so active during the negotiations”?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1</a:t>
            </a:r>
          </a:p>
        </p:txBody>
      </p:sp>
      <p:pic>
        <p:nvPicPr>
          <p:cNvPr id="6" name="Picture 5" descr="waste_sorting_bins.png"/>
          <p:cNvPicPr>
            <a:picLocks noChangeAspect="1"/>
          </p:cNvPicPr>
          <p:nvPr/>
        </p:nvPicPr>
        <p:blipFill>
          <a:blip r:embed="rId2"/>
          <a:stretch>
            <a:fillRect/>
          </a:stretch>
        </p:blipFill>
        <p:spPr>
          <a:xfrm>
            <a:off x="7040880" y="1965705"/>
            <a:ext cx="5111495" cy="2670556"/>
          </a:xfrm>
          <a:prstGeom prst="rect">
            <a:avLst/>
          </a:prstGeom>
          <a:ln w="15875">
            <a:solidFill>
              <a:srgbClr val="FF7061"/>
            </a:solidFill>
          </a:ln>
          <a:effectLst/>
        </p:spPr>
      </p:pic>
      <p:sp>
        <p:nvSpPr>
          <p:cNvPr id="7" name="TextBox 6"/>
          <p:cNvSpPr txBox="1"/>
          <p:nvPr/>
        </p:nvSpPr>
        <p:spPr>
          <a:xfrm>
            <a:off x="7040880" y="4700270"/>
            <a:ext cx="4967935" cy="274320"/>
          </a:xfrm>
          <a:prstGeom prst="rect">
            <a:avLst/>
          </a:prstGeom>
          <a:noFill/>
        </p:spPr>
        <p:txBody>
          <a:bodyPr wrap="square" anchor="t" lIns="0" rIns="0" tIns="0" bIns="0">
            <a:spAutoFit/>
          </a:bodyPr>
          <a:lstStyle/>
          <a:p>
            <a:pPr algn="r"/>
            <a:r>
              <a:rPr sz="850" b="0" i="0">
                <a:solidFill>
                  <a:srgbClr val="959EAF"/>
                </a:solidFill>
                <a:latin typeface="Montserrat"/>
              </a:rPr>
              <a:t>Illustration: EPRS briefing, European Parliament</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400" b="1" i="0">
                <a:solidFill>
                  <a:srgbClr val="FF7061"/>
                </a:solidFill>
                <a:latin typeface="Montserrat"/>
              </a:rPr>
              <a:t>The Waste Framework Directive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2 OF 3 · 2 POINTS</a:t>
            </a:r>
          </a:p>
        </p:txBody>
      </p:sp>
      <p:sp>
        <p:nvSpPr>
          <p:cNvPr id="6" name="TextBox 5"/>
          <p:cNvSpPr txBox="1"/>
          <p:nvPr/>
        </p:nvSpPr>
        <p:spPr>
          <a:xfrm>
            <a:off x="9692640" y="411480"/>
            <a:ext cx="2130552" cy="1737360"/>
          </a:xfrm>
          <a:prstGeom prst="rect">
            <a:avLst/>
          </a:prstGeom>
          <a:noFill/>
        </p:spPr>
        <p:txBody>
          <a:bodyPr wrap="square" anchor="t" lIns="0" rIns="0" tIns="0" bIns="0">
            <a:spAutoFit/>
          </a:bodyPr>
          <a:lstStyle/>
          <a:p>
            <a:pPr algn="r"/>
            <a:r>
              <a:rPr sz="12000" b="0" i="0">
                <a:solidFill>
                  <a:srgbClr val="3C2224"/>
                </a:solidFill>
                <a:latin typeface="Montserrat Black"/>
              </a:rPr>
              <a:t>2</a:t>
            </a:r>
          </a:p>
        </p:txBody>
      </p:sp>
      <p:sp>
        <p:nvSpPr>
          <p:cNvPr id="7" name="Rectangle 6"/>
          <p:cNvSpPr/>
          <p:nvPr/>
        </p:nvSpPr>
        <p:spPr>
          <a:xfrm>
            <a:off x="8686800" y="2514599"/>
            <a:ext cx="2468880" cy="2468880"/>
          </a:xfrm>
          <a:prstGeom prst="rect">
            <a:avLst/>
          </a:prstGeom>
          <a:solidFill>
            <a:srgbClr val="F7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bacus.png"/>
          <p:cNvPicPr>
            <a:picLocks noChangeAspect="1"/>
          </p:cNvPicPr>
          <p:nvPr/>
        </p:nvPicPr>
        <p:blipFill>
          <a:blip r:embed="rId3"/>
          <a:stretch>
            <a:fillRect/>
          </a:stretch>
        </p:blipFill>
        <p:spPr>
          <a:xfrm>
            <a:off x="9032443" y="2860242"/>
            <a:ext cx="1777593" cy="1777593"/>
          </a:xfrm>
          <a:prstGeom prst="rect">
            <a:avLst/>
          </a:prstGeom>
        </p:spPr>
      </p:pic>
      <p:sp>
        <p:nvSpPr>
          <p:cNvPr id="9" name="TextBox 8"/>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300" b="1" i="0">
                <a:solidFill>
                  <a:srgbClr val="FFFFFF"/>
                </a:solidFill>
                <a:latin typeface="Montserrat"/>
              </a:rPr>
              <a:t>During a Coreper I meeting, the Council was split on a legislative file, with both sides carefully counting votes.
The Deputy Permanent Representative of Lithuania intervened and said… what?
And which file was being discussed?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2</a:t>
            </a:r>
          </a:p>
        </p:txBody>
      </p:sp>
      <p:pic>
        <p:nvPicPr>
          <p:cNvPr id="6" name="Picture 5" descr="europa_building_room.jpg"/>
          <p:cNvPicPr>
            <a:picLocks noChangeAspect="1"/>
          </p:cNvPicPr>
          <p:nvPr/>
        </p:nvPicPr>
        <p:blipFill>
          <a:blip r:embed="rId2"/>
          <a:stretch>
            <a:fillRect/>
          </a:stretch>
        </p:blipFill>
        <p:spPr>
          <a:xfrm>
            <a:off x="7040880" y="1723038"/>
            <a:ext cx="5111495" cy="3411923"/>
          </a:xfrm>
          <a:prstGeom prst="rect">
            <a:avLst/>
          </a:prstGeom>
          <a:ln w="15875">
            <a:solidFill>
              <a:srgbClr val="FF7061"/>
            </a:solidFill>
          </a:ln>
          <a:effectLst/>
        </p:spPr>
      </p:pic>
      <p:sp>
        <p:nvSpPr>
          <p:cNvPr id="7" name="TextBox 6"/>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000" b="1" i="0">
                <a:solidFill>
                  <a:srgbClr val="FF7061"/>
                </a:solidFill>
                <a:latin typeface="Montserrat"/>
              </a:rPr>
              <a:t>“Scrutiny reservation” — on the Nature Restoration Law</a:t>
            </a:r>
          </a:p>
        </p:txBody>
      </p:sp>
      <p:sp>
        <p:nvSpPr>
          <p:cNvPr id="8" name="Rectangle 7"/>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65576"/>
            <a:ext cx="64008" cy="2441448"/>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7061"/>
                </a:solidFill>
                <a:latin typeface="Montserrat"/>
              </a:rPr>
              <a:t>DID YOU KNOW?</a:t>
            </a:r>
          </a:p>
        </p:txBody>
      </p:sp>
      <p:sp>
        <p:nvSpPr>
          <p:cNvPr id="11" name="TextBox 10"/>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A scrutiny reservation lets a member state hold its position while procedures are completed back home — a small phrase that can pause a finely balanced vote. Pictured: the Europa building, where Coreper meets.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QUESTION 3 OF 3 · 1 POINT</a:t>
            </a:r>
          </a:p>
        </p:txBody>
      </p:sp>
      <p:pic>
        <p:nvPicPr>
          <p:cNvPr id="6" name="Picture 5" descr="baltic_star_birger_jarl.jpg"/>
          <p:cNvPicPr>
            <a:picLocks noChangeAspect="1"/>
          </p:cNvPicPr>
          <p:nvPr/>
        </p:nvPicPr>
        <p:blipFill>
          <a:blip r:embed="rId3"/>
          <a:stretch>
            <a:fillRect/>
          </a:stretch>
        </p:blipFill>
        <p:spPr>
          <a:xfrm>
            <a:off x="7315200" y="1810057"/>
            <a:ext cx="4837175" cy="3237884"/>
          </a:xfrm>
          <a:prstGeom prst="rect">
            <a:avLst/>
          </a:prstGeom>
          <a:ln w="15875">
            <a:solidFill>
              <a:srgbClr val="FF7061"/>
            </a:solidFill>
          </a:ln>
          <a:effectLst/>
        </p:spPr>
      </p:pic>
      <p:sp>
        <p:nvSpPr>
          <p:cNvPr id="7" name="TextBox 6"/>
          <p:cNvSpPr txBox="1"/>
          <p:nvPr/>
        </p:nvSpPr>
        <p:spPr>
          <a:xfrm>
            <a:off x="640080" y="1417320"/>
            <a:ext cx="6309359" cy="4023360"/>
          </a:xfrm>
          <a:prstGeom prst="rect">
            <a:avLst/>
          </a:prstGeom>
          <a:noFill/>
        </p:spPr>
        <p:txBody>
          <a:bodyPr wrap="square" anchor="t" lIns="0" rIns="0" tIns="0" bIns="0">
            <a:spAutoFit/>
          </a:bodyPr>
          <a:lstStyle/>
          <a:p>
            <a:pPr algn="l">
              <a:lnSpc>
                <a:spcPct val="115000"/>
              </a:lnSpc>
            </a:pPr>
            <a:r>
              <a:rPr sz="2200" b="1" i="0">
                <a:solidFill>
                  <a:srgbClr val="FFFFFF"/>
                </a:solidFill>
                <a:latin typeface="Montserrat"/>
              </a:rPr>
              <a:t>1985: Lithuanian, Latvian and Estonian dissidents organised the Peace and Freedom Cruise aboard the ship Baltic Star — sailing from Stockholm along the edge of Soviet territorial waters and ending with a widely reported demonstration in Helsinki.
The Soviet Union tried to derail the voyage. What did it do?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sp>
        <p:nvSpPr>
          <p:cNvPr id="3" name="Rectangle 2"/>
          <p:cNvSpPr/>
          <p:nvPr/>
        </p:nvSpPr>
        <p:spPr>
          <a:xfrm>
            <a:off x="0" y="0"/>
            <a:ext cx="128016" cy="6858000"/>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FF7061"/>
                </a:solidFill>
                <a:latin typeface="Montserrat"/>
              </a:rPr>
              <a:t>BONUS · THE BRUSSELS BUBBLE</a:t>
            </a:r>
          </a:p>
        </p:txBody>
      </p:sp>
      <p:sp>
        <p:nvSpPr>
          <p:cNvPr id="5" name="TextBox 4"/>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959EAF"/>
                </a:solidFill>
                <a:latin typeface="Montserrat"/>
              </a:rPr>
              <a:t>ANSWER · QUESTION 3</a:t>
            </a:r>
          </a:p>
        </p:txBody>
      </p:sp>
      <p:pic>
        <p:nvPicPr>
          <p:cNvPr id="6" name="Picture 5" descr="baltic_cruise_cartoon_1985.jpg"/>
          <p:cNvPicPr>
            <a:picLocks noChangeAspect="1"/>
          </p:cNvPicPr>
          <p:nvPr/>
        </p:nvPicPr>
        <p:blipFill>
          <a:blip r:embed="rId2"/>
          <a:stretch>
            <a:fillRect/>
          </a:stretch>
        </p:blipFill>
        <p:spPr>
          <a:xfrm>
            <a:off x="7040880" y="1569464"/>
            <a:ext cx="5111495" cy="3463038"/>
          </a:xfrm>
          <a:prstGeom prst="rect">
            <a:avLst/>
          </a:prstGeom>
          <a:ln w="15875">
            <a:solidFill>
              <a:srgbClr val="FF7061"/>
            </a:solidFill>
          </a:ln>
          <a:effectLst/>
        </p:spPr>
      </p:pic>
      <p:sp>
        <p:nvSpPr>
          <p:cNvPr id="7" name="TextBox 6"/>
          <p:cNvSpPr txBox="1"/>
          <p:nvPr/>
        </p:nvSpPr>
        <p:spPr>
          <a:xfrm>
            <a:off x="7040880" y="5096511"/>
            <a:ext cx="4967935" cy="274320"/>
          </a:xfrm>
          <a:prstGeom prst="rect">
            <a:avLst/>
          </a:prstGeom>
          <a:noFill/>
        </p:spPr>
        <p:txBody>
          <a:bodyPr wrap="square" anchor="t" lIns="0" rIns="0" tIns="0" bIns="0">
            <a:spAutoFit/>
          </a:bodyPr>
          <a:lstStyle/>
          <a:p>
            <a:pPr algn="r"/>
            <a:r>
              <a:rPr sz="850" b="0" i="0">
                <a:solidFill>
                  <a:srgbClr val="959EAF"/>
                </a:solidFill>
                <a:latin typeface="Montserrat"/>
              </a:rPr>
              <a:t>Cartoon, 1985 — exile press, via X</a:t>
            </a:r>
          </a:p>
        </p:txBody>
      </p:sp>
      <p:sp>
        <p:nvSpPr>
          <p:cNvPr id="8" name="TextBox 7"/>
          <p:cNvSpPr txBox="1"/>
          <p:nvPr/>
        </p:nvSpPr>
        <p:spPr>
          <a:xfrm>
            <a:off x="640080" y="1325880"/>
            <a:ext cx="6035040" cy="1554480"/>
          </a:xfrm>
          <a:prstGeom prst="rect">
            <a:avLst/>
          </a:prstGeom>
          <a:noFill/>
        </p:spPr>
        <p:txBody>
          <a:bodyPr wrap="square" anchor="t" lIns="0" rIns="0" tIns="0" bIns="0">
            <a:spAutoFit/>
          </a:bodyPr>
          <a:lstStyle/>
          <a:p>
            <a:pPr algn="l">
              <a:lnSpc>
                <a:spcPct val="105000"/>
              </a:lnSpc>
            </a:pPr>
            <a:r>
              <a:rPr sz="3200" b="1" i="0">
                <a:solidFill>
                  <a:srgbClr val="FF7061"/>
                </a:solidFill>
                <a:latin typeface="Montserrat"/>
              </a:rPr>
              <a:t>A rumour that a bomb was on board</a:t>
            </a:r>
          </a:p>
        </p:txBody>
      </p:sp>
      <p:sp>
        <p:nvSpPr>
          <p:cNvPr id="9" name="Rectangle 8"/>
          <p:cNvSpPr/>
          <p:nvPr/>
        </p:nvSpPr>
        <p:spPr>
          <a:xfrm>
            <a:off x="640080" y="3337560"/>
            <a:ext cx="6035040" cy="2697480"/>
          </a:xfrm>
          <a:prstGeom prst="rect">
            <a:avLst/>
          </a:prstGeom>
          <a:solidFill>
            <a:srgbClr val="171C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65576"/>
            <a:ext cx="64008" cy="2441448"/>
          </a:xfrm>
          <a:prstGeom prst="rect">
            <a:avLst/>
          </a:prstGeom>
          <a:solidFill>
            <a:srgbClr val="FF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11879"/>
            <a:ext cx="5349240" cy="274320"/>
          </a:xfrm>
          <a:prstGeom prst="rect">
            <a:avLst/>
          </a:prstGeom>
          <a:noFill/>
        </p:spPr>
        <p:txBody>
          <a:bodyPr wrap="square" anchor="t" lIns="0" rIns="0" tIns="0" bIns="0">
            <a:spAutoFit/>
          </a:bodyPr>
          <a:lstStyle/>
          <a:p>
            <a:pPr algn="l"/>
            <a:r>
              <a:rPr sz="1250" b="1" i="0">
                <a:solidFill>
                  <a:srgbClr val="FF7061"/>
                </a:solidFill>
                <a:latin typeface="Montserrat"/>
              </a:rPr>
              <a:t>DID YOU KNOW?</a:t>
            </a:r>
          </a:p>
        </p:txBody>
      </p:sp>
      <p:sp>
        <p:nvSpPr>
          <p:cNvPr id="12" name="TextBox 11"/>
          <p:cNvSpPr txBox="1"/>
          <p:nvPr/>
        </p:nvSpPr>
        <p:spPr>
          <a:xfrm>
            <a:off x="1005840" y="3995928"/>
            <a:ext cx="5349240" cy="1783080"/>
          </a:xfrm>
          <a:prstGeom prst="rect">
            <a:avLst/>
          </a:prstGeom>
          <a:noFill/>
        </p:spPr>
        <p:txBody>
          <a:bodyPr wrap="square" anchor="t" lIns="0" rIns="0" tIns="0" bIns="0">
            <a:spAutoFit/>
          </a:bodyPr>
          <a:lstStyle/>
          <a:p>
            <a:pPr algn="l">
              <a:lnSpc>
                <a:spcPct val="115000"/>
              </a:lnSpc>
            </a:pPr>
            <a:r>
              <a:rPr sz="1500" b="0" i="0">
                <a:solidFill>
                  <a:srgbClr val="DDE2EB"/>
                </a:solidFill>
                <a:latin typeface="Montserrat"/>
              </a:rPr>
              <a:t>The rumour failed: the cruise went ahead, and the Helsinki demonstration was reported across the Scandinavian and wider European press — a loud reminder that the Baltic states had not been forgotten.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0E15"/>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56C79"/>
                </a:solidFill>
                <a:latin typeface="Montserrat"/>
              </a:rPr>
              <a:t>Trivia Night · 16 June 2026 · Permanent Representation of Lithuania to the EU</a:t>
            </a:r>
          </a:p>
        </p:txBody>
      </p:sp>
      <p:pic>
        <p:nvPicPr>
          <p:cNvPr id="3" name="Picture 2" descr="confetti_popper.jpg"/>
          <p:cNvPicPr>
            <a:picLocks noChangeAspect="1"/>
          </p:cNvPicPr>
          <p:nvPr/>
        </p:nvPicPr>
        <p:blipFill>
          <a:blip r:embed="rId3"/>
          <a:stretch>
            <a:fillRect/>
          </a:stretch>
        </p:blipFill>
        <p:spPr>
          <a:xfrm>
            <a:off x="3579875" y="502920"/>
            <a:ext cx="5029200" cy="2514600"/>
          </a:xfrm>
          <a:prstGeom prst="rect">
            <a:avLst/>
          </a:prstGeom>
          <a:ln w="15875">
            <a:solidFill>
              <a:srgbClr val="FFC92E"/>
            </a:solidFill>
          </a:ln>
          <a:effectLst/>
        </p:spPr>
      </p:pic>
      <p:sp>
        <p:nvSpPr>
          <p:cNvPr id="4" name="TextBox 3"/>
          <p:cNvSpPr txBox="1"/>
          <p:nvPr/>
        </p:nvSpPr>
        <p:spPr>
          <a:xfrm>
            <a:off x="640080" y="3246120"/>
            <a:ext cx="10908792" cy="1828800"/>
          </a:xfrm>
          <a:prstGeom prst="rect">
            <a:avLst/>
          </a:prstGeom>
          <a:noFill/>
        </p:spPr>
        <p:txBody>
          <a:bodyPr wrap="square" anchor="t" lIns="0" rIns="0" tIns="0" bIns="0">
            <a:spAutoFit/>
          </a:bodyPr>
          <a:lstStyle/>
          <a:p>
            <a:pPr algn="ctr">
              <a:lnSpc>
                <a:spcPct val="104000"/>
              </a:lnSpc>
            </a:pPr>
            <a:r>
              <a:rPr sz="5400" b="0" i="0">
                <a:solidFill>
                  <a:srgbClr val="FFFFFF"/>
                </a:solidFill>
                <a:latin typeface="Montserrat Black"/>
              </a:rPr>
              <a:t>THANK YOU</a:t>
            </a:r>
          </a:p>
          <a:p>
            <a:pPr algn="ctr">
              <a:lnSpc>
                <a:spcPct val="104000"/>
              </a:lnSpc>
            </a:pPr>
            <a:r>
              <a:rPr sz="5400" b="0" i="0">
                <a:solidFill>
                  <a:srgbClr val="FFFFFF"/>
                </a:solidFill>
                <a:latin typeface="Montserrat Black"/>
              </a:rPr>
              <a:t>FOR PLAYING</a:t>
            </a:r>
          </a:p>
        </p:txBody>
      </p:sp>
      <p:sp>
        <p:nvSpPr>
          <p:cNvPr id="5" name="TextBox 4"/>
          <p:cNvSpPr txBox="1"/>
          <p:nvPr/>
        </p:nvSpPr>
        <p:spPr>
          <a:xfrm>
            <a:off x="1371600" y="5257800"/>
            <a:ext cx="9445752" cy="457200"/>
          </a:xfrm>
          <a:prstGeom prst="rect">
            <a:avLst/>
          </a:prstGeom>
          <a:noFill/>
        </p:spPr>
        <p:txBody>
          <a:bodyPr wrap="square" anchor="t" lIns="0" rIns="0" tIns="0" bIns="0">
            <a:spAutoFit/>
          </a:bodyPr>
          <a:lstStyle/>
          <a:p>
            <a:pPr algn="ctr"/>
            <a:r>
              <a:rPr sz="1900" b="1" i="0">
                <a:solidFill>
                  <a:srgbClr val="FFC92E"/>
                </a:solidFill>
                <a:latin typeface="Montserrat"/>
              </a:rPr>
              <a:t>Time to count the points</a:t>
            </a:r>
          </a:p>
        </p:txBody>
      </p:sp>
      <p:sp>
        <p:nvSpPr>
          <p:cNvPr id="6" name="Rectangle 5"/>
          <p:cNvSpPr/>
          <p:nvPr/>
        </p:nvSpPr>
        <p:spPr>
          <a:xfrm>
            <a:off x="4472787" y="5943600"/>
            <a:ext cx="960120" cy="128016"/>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15787" y="5943600"/>
            <a:ext cx="960120" cy="128016"/>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58787" y="5943600"/>
            <a:ext cx="960120" cy="128016"/>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